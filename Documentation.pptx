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Aptos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sp>
        <p:nvSpPr>
          <p:cNvPr id="2" name="TextBox 2"/>
          <p:cNvSpPr txBox="1"/>
          <p:nvPr/>
        </p:nvSpPr>
        <p:spPr>
          <a:xfrm>
            <a:off x="1189577" y="1624289"/>
            <a:ext cx="16014659" cy="952500"/>
          </a:xfrm>
          <a:prstGeom prst="rect">
            <a:avLst/>
          </a:prstGeom>
        </p:spPr>
        <p:txBody>
          <a:bodyPr lIns="0" tIns="0" rIns="0" bIns="0" rtlCol="0" anchor="t">
            <a:spAutoFit/>
          </a:bodyPr>
          <a:lstStyle/>
          <a:p>
            <a:pPr algn="l">
              <a:lnSpc>
                <a:spcPts val="7565"/>
              </a:lnSpc>
            </a:pPr>
            <a:r>
              <a:rPr lang="en-US" sz="6304" b="1">
                <a:solidFill>
                  <a:srgbClr val="EEF1F7"/>
                </a:solidFill>
                <a:latin typeface="Aptos Bold"/>
                <a:ea typeface="Aptos Bold"/>
                <a:cs typeface="Aptos Bold"/>
                <a:sym typeface="Aptos Bold"/>
              </a:rPr>
              <a:t>Grid Puzzle Assignment</a:t>
            </a:r>
          </a:p>
        </p:txBody>
      </p:sp>
      <p:sp>
        <p:nvSpPr>
          <p:cNvPr id="3" name="TextBox 3"/>
          <p:cNvSpPr txBox="1"/>
          <p:nvPr/>
        </p:nvSpPr>
        <p:spPr>
          <a:xfrm>
            <a:off x="1230754" y="3271504"/>
            <a:ext cx="15191051" cy="869432"/>
          </a:xfrm>
          <a:prstGeom prst="rect">
            <a:avLst/>
          </a:prstGeom>
        </p:spPr>
        <p:txBody>
          <a:bodyPr lIns="0" tIns="0" rIns="0" bIns="0" rtlCol="0" anchor="t">
            <a:spAutoFit/>
          </a:bodyPr>
          <a:lstStyle/>
          <a:p>
            <a:pPr algn="l">
              <a:lnSpc>
                <a:spcPts val="3602"/>
              </a:lnSpc>
            </a:pPr>
            <a:r>
              <a:rPr lang="en-US" sz="3002">
                <a:solidFill>
                  <a:srgbClr val="5CAEFF"/>
                </a:solidFill>
                <a:latin typeface="Aptos"/>
                <a:ea typeface="Aptos"/>
                <a:cs typeface="Aptos"/>
                <a:sym typeface="Aptos"/>
              </a:rPr>
              <a:t>Technical Documentation • Architecture • Algorithms • Data Flow</a:t>
            </a:r>
          </a:p>
        </p:txBody>
      </p:sp>
      <p:grpSp>
        <p:nvGrpSpPr>
          <p:cNvPr id="4" name="Group 4"/>
          <p:cNvGrpSpPr/>
          <p:nvPr/>
        </p:nvGrpSpPr>
        <p:grpSpPr>
          <a:xfrm>
            <a:off x="4653943" y="4836262"/>
            <a:ext cx="7563993" cy="2759640"/>
            <a:chOff x="0" y="0"/>
            <a:chExt cx="10085324" cy="3679520"/>
          </a:xfrm>
        </p:grpSpPr>
        <p:sp>
          <p:nvSpPr>
            <p:cNvPr id="5" name="Freeform 5"/>
            <p:cNvSpPr/>
            <p:nvPr/>
          </p:nvSpPr>
          <p:spPr>
            <a:xfrm>
              <a:off x="0" y="0"/>
              <a:ext cx="10085324" cy="3679571"/>
            </a:xfrm>
            <a:custGeom>
              <a:avLst/>
              <a:gdLst/>
              <a:ahLst/>
              <a:cxnLst/>
              <a:rect l="l" t="t" r="r" b="b"/>
              <a:pathLst>
                <a:path w="10085324" h="3679571">
                  <a:moveTo>
                    <a:pt x="0" y="613283"/>
                  </a:moveTo>
                  <a:cubicBezTo>
                    <a:pt x="0" y="274574"/>
                    <a:pt x="274574" y="0"/>
                    <a:pt x="613283" y="0"/>
                  </a:cubicBezTo>
                  <a:lnTo>
                    <a:pt x="9472041" y="0"/>
                  </a:lnTo>
                  <a:cubicBezTo>
                    <a:pt x="9810750" y="0"/>
                    <a:pt x="10085324" y="274574"/>
                    <a:pt x="10085324" y="613283"/>
                  </a:cubicBezTo>
                  <a:lnTo>
                    <a:pt x="10085324" y="3066288"/>
                  </a:lnTo>
                  <a:cubicBezTo>
                    <a:pt x="10085324" y="3404997"/>
                    <a:pt x="9810750" y="3679571"/>
                    <a:pt x="9472041" y="3679571"/>
                  </a:cubicBezTo>
                  <a:lnTo>
                    <a:pt x="613283" y="3679571"/>
                  </a:lnTo>
                  <a:cubicBezTo>
                    <a:pt x="274574" y="3679571"/>
                    <a:pt x="0" y="3404997"/>
                    <a:pt x="0" y="3066288"/>
                  </a:cubicBezTo>
                  <a:close/>
                </a:path>
              </a:pathLst>
            </a:custGeom>
            <a:solidFill>
              <a:srgbClr val="1E222D"/>
            </a:solidFill>
            <a:ln w="14299" cap="sq">
              <a:solidFill>
                <a:srgbClr val="272C3A"/>
              </a:solidFill>
              <a:prstDash val="solid"/>
              <a:miter/>
            </a:ln>
          </p:spPr>
          <p:txBody>
            <a:bodyPr/>
            <a:lstStyle/>
            <a:p>
              <a:endParaRPr lang="en-IN"/>
            </a:p>
          </p:txBody>
        </p:sp>
      </p:grpSp>
      <p:sp>
        <p:nvSpPr>
          <p:cNvPr id="6" name="TextBox 6"/>
          <p:cNvSpPr txBox="1"/>
          <p:nvPr/>
        </p:nvSpPr>
        <p:spPr>
          <a:xfrm>
            <a:off x="5054517" y="5095027"/>
            <a:ext cx="6762845" cy="457629"/>
          </a:xfrm>
          <a:prstGeom prst="rect">
            <a:avLst/>
          </a:prstGeom>
        </p:spPr>
        <p:txBody>
          <a:bodyPr lIns="0" tIns="0" rIns="0" bIns="0" rtlCol="0" anchor="t">
            <a:spAutoFit/>
          </a:bodyPr>
          <a:lstStyle/>
          <a:p>
            <a:pPr algn="l">
              <a:lnSpc>
                <a:spcPts val="2702"/>
              </a:lnSpc>
            </a:pPr>
            <a:r>
              <a:rPr lang="en-US" sz="2251" b="1">
                <a:solidFill>
                  <a:srgbClr val="66CD96"/>
                </a:solidFill>
                <a:latin typeface="Aptos Bold"/>
                <a:ea typeface="Aptos Bold"/>
                <a:cs typeface="Aptos Bold"/>
                <a:sym typeface="Aptos Bold"/>
              </a:rPr>
              <a:t>Documentation scope</a:t>
            </a:r>
          </a:p>
        </p:txBody>
      </p:sp>
      <p:sp>
        <p:nvSpPr>
          <p:cNvPr id="7" name="TextBox 7"/>
          <p:cNvSpPr txBox="1"/>
          <p:nvPr/>
        </p:nvSpPr>
        <p:spPr>
          <a:xfrm>
            <a:off x="5054517" y="5781361"/>
            <a:ext cx="6762845" cy="1555766"/>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Core grid model, input, rendering, history/undo, level generation, generated solution hint system, game flow, screens, popups, services, persistence, and engineering trade-offs.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sp>
        <p:nvSpPr>
          <p:cNvPr id="2" name="TextBox 2"/>
          <p:cNvSpPr txBox="1"/>
          <p:nvPr/>
        </p:nvSpPr>
        <p:spPr>
          <a:xfrm>
            <a:off x="983675" y="526151"/>
            <a:ext cx="16289188" cy="638175"/>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1. Assignment Alignment</a:t>
            </a:r>
          </a:p>
        </p:txBody>
      </p:sp>
      <p:sp>
        <p:nvSpPr>
          <p:cNvPr id="3" name="TextBox 3"/>
          <p:cNvSpPr txBox="1"/>
          <p:nvPr/>
        </p:nvSpPr>
        <p:spPr>
          <a:xfrm>
            <a:off x="1011126" y="1436322"/>
            <a:ext cx="16151924" cy="323850"/>
          </a:xfrm>
          <a:prstGeom prst="rect">
            <a:avLst/>
          </a:prstGeom>
        </p:spPr>
        <p:txBody>
          <a:bodyPr lIns="0" tIns="0" rIns="0" bIns="0" rtlCol="0" anchor="t">
            <a:spAutoFit/>
          </a:bodyPr>
          <a:lstStyle/>
          <a:p>
            <a:pPr algn="l">
              <a:lnSpc>
                <a:spcPts val="2520"/>
              </a:lnSpc>
            </a:pPr>
            <a:r>
              <a:rPr lang="en-US" sz="2100">
                <a:solidFill>
                  <a:srgbClr val="A7AFBF"/>
                </a:solidFill>
                <a:latin typeface="Aptos"/>
                <a:ea typeface="Aptos"/>
                <a:cs typeface="Aptos"/>
                <a:sym typeface="Aptos"/>
              </a:rPr>
              <a:t>What the implementation is designed to satisfy</a:t>
            </a:r>
          </a:p>
        </p:txBody>
      </p:sp>
      <p:sp>
        <p:nvSpPr>
          <p:cNvPr id="4" name="TextBox 4"/>
          <p:cNvSpPr txBox="1"/>
          <p:nvPr/>
        </p:nvSpPr>
        <p:spPr>
          <a:xfrm>
            <a:off x="1189577" y="2036093"/>
            <a:ext cx="15877384" cy="6634658"/>
          </a:xfrm>
          <a:prstGeom prst="rect">
            <a:avLst/>
          </a:prstGeom>
        </p:spPr>
        <p:txBody>
          <a:bodyPr lIns="0" tIns="0" rIns="0" bIns="0" rtlCol="0" anchor="t">
            <a:spAutoFit/>
          </a:bodyPr>
          <a:lstStyle/>
          <a:p>
            <a:pPr algn="l">
              <a:lnSpc>
                <a:spcPts val="3062"/>
              </a:lnSpc>
            </a:pPr>
            <a:r>
              <a:rPr lang="en-US" sz="2551">
                <a:solidFill>
                  <a:srgbClr val="EEF1F7"/>
                </a:solidFill>
                <a:latin typeface="Aptos"/>
                <a:ea typeface="Aptos"/>
                <a:cs typeface="Aptos"/>
                <a:sym typeface="Aptos"/>
              </a:rPr>
              <a:t>• N × M logical grid is separated from the visual GridView.</a:t>
            </a:r>
          </a:p>
          <a:p>
            <a:pPr algn="l">
              <a:lnSpc>
                <a:spcPts val="3062"/>
              </a:lnSpc>
            </a:pPr>
            <a:r>
              <a:rPr lang="en-US" sz="2551">
                <a:solidFill>
                  <a:srgbClr val="EEF1F7"/>
                </a:solidFill>
                <a:latin typeface="Aptos"/>
                <a:ea typeface="Aptos"/>
                <a:cs typeface="Aptos"/>
                <a:sym typeface="Aptos"/>
              </a:rPr>
              <a:t>• Swipe input is converted into four discrete commands: Up, Down, Left, Right.</a:t>
            </a:r>
          </a:p>
          <a:p>
            <a:pPr algn="l">
              <a:lnSpc>
                <a:spcPts val="3062"/>
              </a:lnSpc>
            </a:pPr>
            <a:r>
              <a:rPr lang="en-US" sz="2551">
                <a:solidFill>
                  <a:srgbClr val="EEF1F7"/>
                </a:solidFill>
                <a:latin typeface="Aptos"/>
                <a:ea typeface="Aptos"/>
                <a:cs typeface="Aptos"/>
                <a:sym typeface="Aptos"/>
              </a:rPr>
              <a:t>• Every successful move is recorded so Undo can reverse it.</a:t>
            </a:r>
          </a:p>
          <a:p>
            <a:pPr algn="l">
              <a:lnSpc>
                <a:spcPts val="3062"/>
              </a:lnSpc>
            </a:pPr>
            <a:r>
              <a:rPr lang="en-US" sz="2551">
                <a:solidFill>
                  <a:srgbClr val="EEF1F7"/>
                </a:solidFill>
                <a:latin typeface="Aptos"/>
                <a:ea typeface="Aptos"/>
                <a:cs typeface="Aptos"/>
                <a:sym typeface="Aptos"/>
              </a:rPr>
              <a:t>• Move limits and solved/lose states are handled by PuzzleGameManager.</a:t>
            </a:r>
          </a:p>
          <a:p>
            <a:pPr algn="l">
              <a:lnSpc>
                <a:spcPts val="3062"/>
              </a:lnSpc>
            </a:pPr>
            <a:r>
              <a:rPr lang="en-US" sz="2551">
                <a:solidFill>
                  <a:srgbClr val="EEF1F7"/>
                </a:solidFill>
                <a:latin typeface="Aptos"/>
                <a:ea typeface="Aptos"/>
                <a:cs typeface="Aptos"/>
                <a:sym typeface="Aptos"/>
              </a:rPr>
              <a:t>• Game state and UI presentation are separated through GameFlowController, ScreenManager and PopupManager.</a:t>
            </a:r>
          </a:p>
          <a:p>
            <a:pPr algn="l">
              <a:lnSpc>
                <a:spcPts val="3062"/>
              </a:lnSpc>
            </a:pPr>
            <a:r>
              <a:rPr lang="en-US" sz="2551">
                <a:solidFill>
                  <a:srgbClr val="EEF1F7"/>
                </a:solidFill>
                <a:latin typeface="Aptos"/>
                <a:ea typeface="Aptos"/>
                <a:cs typeface="Aptos"/>
                <a:sym typeface="Aptos"/>
              </a:rPr>
              <a:t>• Technical diagrams and functional data flow are included in this document and the README.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sp>
        <p:nvSpPr>
          <p:cNvPr id="2" name="TextBox 2"/>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2. High-Level Architecture</a:t>
            </a:r>
          </a:p>
        </p:txBody>
      </p:sp>
      <p:grpSp>
        <p:nvGrpSpPr>
          <p:cNvPr id="3" name="Group 3"/>
          <p:cNvGrpSpPr/>
          <p:nvPr/>
        </p:nvGrpSpPr>
        <p:grpSpPr>
          <a:xfrm>
            <a:off x="1090984" y="2738199"/>
            <a:ext cx="2759640" cy="1249709"/>
            <a:chOff x="0" y="0"/>
            <a:chExt cx="3679520" cy="1666278"/>
          </a:xfrm>
        </p:grpSpPr>
        <p:sp>
          <p:nvSpPr>
            <p:cNvPr id="4" name="Freeform 4"/>
            <p:cNvSpPr/>
            <p:nvPr/>
          </p:nvSpPr>
          <p:spPr>
            <a:xfrm>
              <a:off x="0" y="0"/>
              <a:ext cx="3679571" cy="1666367"/>
            </a:xfrm>
            <a:custGeom>
              <a:avLst/>
              <a:gdLst/>
              <a:ahLst/>
              <a:cxnLst/>
              <a:rect l="l" t="t" r="r" b="b"/>
              <a:pathLst>
                <a:path w="3679571" h="1666367">
                  <a:moveTo>
                    <a:pt x="0" y="277749"/>
                  </a:moveTo>
                  <a:cubicBezTo>
                    <a:pt x="0" y="124333"/>
                    <a:pt x="124333" y="0"/>
                    <a:pt x="277749" y="0"/>
                  </a:cubicBezTo>
                  <a:lnTo>
                    <a:pt x="3401822" y="0"/>
                  </a:lnTo>
                  <a:cubicBezTo>
                    <a:pt x="3555238" y="0"/>
                    <a:pt x="3679571" y="124333"/>
                    <a:pt x="3679571" y="277749"/>
                  </a:cubicBezTo>
                  <a:lnTo>
                    <a:pt x="3679571" y="1388618"/>
                  </a:lnTo>
                  <a:cubicBezTo>
                    <a:pt x="3679571" y="1542034"/>
                    <a:pt x="3555238" y="1666367"/>
                    <a:pt x="3401822" y="1666367"/>
                  </a:cubicBezTo>
                  <a:lnTo>
                    <a:pt x="277749" y="1666367"/>
                  </a:lnTo>
                  <a:cubicBezTo>
                    <a:pt x="124333" y="1666240"/>
                    <a:pt x="0" y="1541907"/>
                    <a:pt x="0" y="1388491"/>
                  </a:cubicBezTo>
                  <a:close/>
                </a:path>
              </a:pathLst>
            </a:custGeom>
            <a:solidFill>
              <a:srgbClr val="1E222D"/>
            </a:solidFill>
            <a:ln w="14299" cap="sq">
              <a:solidFill>
                <a:srgbClr val="5CAEFF"/>
              </a:solidFill>
              <a:prstDash val="solid"/>
              <a:miter/>
            </a:ln>
          </p:spPr>
          <p:txBody>
            <a:bodyPr/>
            <a:lstStyle/>
            <a:p>
              <a:endParaRPr lang="en-IN"/>
            </a:p>
          </p:txBody>
        </p:sp>
      </p:grpSp>
      <p:grpSp>
        <p:nvGrpSpPr>
          <p:cNvPr id="5" name="Group 5"/>
          <p:cNvGrpSpPr/>
          <p:nvPr/>
        </p:nvGrpSpPr>
        <p:grpSpPr>
          <a:xfrm>
            <a:off x="1207951" y="2813980"/>
            <a:ext cx="2525716" cy="1098137"/>
            <a:chOff x="0" y="0"/>
            <a:chExt cx="3367621" cy="1464183"/>
          </a:xfrm>
        </p:grpSpPr>
        <p:sp>
          <p:nvSpPr>
            <p:cNvPr id="6" name="Freeform 6"/>
            <p:cNvSpPr/>
            <p:nvPr/>
          </p:nvSpPr>
          <p:spPr>
            <a:xfrm>
              <a:off x="0" y="0"/>
              <a:ext cx="3367623" cy="1464184"/>
            </a:xfrm>
            <a:custGeom>
              <a:avLst/>
              <a:gdLst/>
              <a:ahLst/>
              <a:cxnLst/>
              <a:rect l="l" t="t" r="r" b="b"/>
              <a:pathLst>
                <a:path w="3367623" h="1464184">
                  <a:moveTo>
                    <a:pt x="0" y="0"/>
                  </a:moveTo>
                  <a:lnTo>
                    <a:pt x="3367623" y="0"/>
                  </a:lnTo>
                  <a:lnTo>
                    <a:pt x="3367623" y="1464184"/>
                  </a:lnTo>
                  <a:lnTo>
                    <a:pt x="0" y="1464184"/>
                  </a:lnTo>
                  <a:close/>
                </a:path>
              </a:pathLst>
            </a:custGeom>
            <a:blipFill>
              <a:blip r:embed="rId2">
                <a:alphaModFix amt="0"/>
              </a:blip>
              <a:stretch>
                <a:fillRect l="-5784" r="-5784"/>
              </a:stretch>
            </a:blipFill>
          </p:spPr>
          <p:txBody>
            <a:bodyPr/>
            <a:lstStyle/>
            <a:p>
              <a:endParaRPr lang="en-IN"/>
            </a:p>
          </p:txBody>
        </p:sp>
        <p:sp>
          <p:nvSpPr>
            <p:cNvPr id="7" name="TextBox 7"/>
            <p:cNvSpPr txBox="1"/>
            <p:nvPr/>
          </p:nvSpPr>
          <p:spPr>
            <a:xfrm>
              <a:off x="0" y="0"/>
              <a:ext cx="3367621" cy="1464183"/>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Screens / UI</a:t>
              </a:r>
            </a:p>
          </p:txBody>
        </p:sp>
      </p:grpSp>
      <p:grpSp>
        <p:nvGrpSpPr>
          <p:cNvPr id="8" name="Group 8"/>
          <p:cNvGrpSpPr/>
          <p:nvPr/>
        </p:nvGrpSpPr>
        <p:grpSpPr>
          <a:xfrm>
            <a:off x="4385405" y="2738199"/>
            <a:ext cx="2759640" cy="1249709"/>
            <a:chOff x="0" y="0"/>
            <a:chExt cx="3679520" cy="1666278"/>
          </a:xfrm>
        </p:grpSpPr>
        <p:sp>
          <p:nvSpPr>
            <p:cNvPr id="9" name="Freeform 9"/>
            <p:cNvSpPr/>
            <p:nvPr/>
          </p:nvSpPr>
          <p:spPr>
            <a:xfrm>
              <a:off x="0" y="0"/>
              <a:ext cx="3679571" cy="1666367"/>
            </a:xfrm>
            <a:custGeom>
              <a:avLst/>
              <a:gdLst/>
              <a:ahLst/>
              <a:cxnLst/>
              <a:rect l="l" t="t" r="r" b="b"/>
              <a:pathLst>
                <a:path w="3679571" h="1666367">
                  <a:moveTo>
                    <a:pt x="0" y="277749"/>
                  </a:moveTo>
                  <a:cubicBezTo>
                    <a:pt x="0" y="124333"/>
                    <a:pt x="124333" y="0"/>
                    <a:pt x="277749" y="0"/>
                  </a:cubicBezTo>
                  <a:lnTo>
                    <a:pt x="3401822" y="0"/>
                  </a:lnTo>
                  <a:cubicBezTo>
                    <a:pt x="3555238" y="0"/>
                    <a:pt x="3679571" y="124333"/>
                    <a:pt x="3679571" y="277749"/>
                  </a:cubicBezTo>
                  <a:lnTo>
                    <a:pt x="3679571" y="1388618"/>
                  </a:lnTo>
                  <a:cubicBezTo>
                    <a:pt x="3679571" y="1542034"/>
                    <a:pt x="3555238" y="1666367"/>
                    <a:pt x="3401822" y="1666367"/>
                  </a:cubicBezTo>
                  <a:lnTo>
                    <a:pt x="277749" y="1666367"/>
                  </a:lnTo>
                  <a:cubicBezTo>
                    <a:pt x="124333" y="1666240"/>
                    <a:pt x="0" y="1541907"/>
                    <a:pt x="0" y="1388491"/>
                  </a:cubicBezTo>
                  <a:close/>
                </a:path>
              </a:pathLst>
            </a:custGeom>
            <a:solidFill>
              <a:srgbClr val="1E222D"/>
            </a:solidFill>
            <a:ln w="14299" cap="sq">
              <a:solidFill>
                <a:srgbClr val="66CD96"/>
              </a:solidFill>
              <a:prstDash val="solid"/>
              <a:miter/>
            </a:ln>
          </p:spPr>
          <p:txBody>
            <a:bodyPr/>
            <a:lstStyle/>
            <a:p>
              <a:endParaRPr lang="en-IN"/>
            </a:p>
          </p:txBody>
        </p:sp>
      </p:grpSp>
      <p:grpSp>
        <p:nvGrpSpPr>
          <p:cNvPr id="10" name="Group 10"/>
          <p:cNvGrpSpPr/>
          <p:nvPr/>
        </p:nvGrpSpPr>
        <p:grpSpPr>
          <a:xfrm>
            <a:off x="4502363" y="2813980"/>
            <a:ext cx="2525716" cy="1098137"/>
            <a:chOff x="0" y="0"/>
            <a:chExt cx="3367621" cy="1464183"/>
          </a:xfrm>
        </p:grpSpPr>
        <p:sp>
          <p:nvSpPr>
            <p:cNvPr id="11" name="Freeform 11"/>
            <p:cNvSpPr/>
            <p:nvPr/>
          </p:nvSpPr>
          <p:spPr>
            <a:xfrm>
              <a:off x="0" y="0"/>
              <a:ext cx="3367623" cy="1464184"/>
            </a:xfrm>
            <a:custGeom>
              <a:avLst/>
              <a:gdLst/>
              <a:ahLst/>
              <a:cxnLst/>
              <a:rect l="l" t="t" r="r" b="b"/>
              <a:pathLst>
                <a:path w="3367623" h="1464184">
                  <a:moveTo>
                    <a:pt x="0" y="0"/>
                  </a:moveTo>
                  <a:lnTo>
                    <a:pt x="3367623" y="0"/>
                  </a:lnTo>
                  <a:lnTo>
                    <a:pt x="3367623" y="1464184"/>
                  </a:lnTo>
                  <a:lnTo>
                    <a:pt x="0" y="1464184"/>
                  </a:lnTo>
                  <a:close/>
                </a:path>
              </a:pathLst>
            </a:custGeom>
            <a:blipFill>
              <a:blip r:embed="rId2">
                <a:alphaModFix amt="0"/>
              </a:blip>
              <a:stretch>
                <a:fillRect l="-5784" r="-5784"/>
              </a:stretch>
            </a:blipFill>
          </p:spPr>
          <p:txBody>
            <a:bodyPr/>
            <a:lstStyle/>
            <a:p>
              <a:endParaRPr lang="en-IN"/>
            </a:p>
          </p:txBody>
        </p:sp>
        <p:sp>
          <p:nvSpPr>
            <p:cNvPr id="12" name="TextBox 12"/>
            <p:cNvSpPr txBox="1"/>
            <p:nvPr/>
          </p:nvSpPr>
          <p:spPr>
            <a:xfrm>
              <a:off x="0" y="0"/>
              <a:ext cx="3367621" cy="1464183"/>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Game Flow</a:t>
              </a:r>
            </a:p>
          </p:txBody>
        </p:sp>
      </p:grpSp>
      <p:grpSp>
        <p:nvGrpSpPr>
          <p:cNvPr id="13" name="Group 13"/>
          <p:cNvGrpSpPr/>
          <p:nvPr/>
        </p:nvGrpSpPr>
        <p:grpSpPr>
          <a:xfrm>
            <a:off x="7679817" y="2738199"/>
            <a:ext cx="2759640" cy="1249709"/>
            <a:chOff x="0" y="0"/>
            <a:chExt cx="3679520" cy="1666278"/>
          </a:xfrm>
        </p:grpSpPr>
        <p:sp>
          <p:nvSpPr>
            <p:cNvPr id="14" name="Freeform 14"/>
            <p:cNvSpPr/>
            <p:nvPr/>
          </p:nvSpPr>
          <p:spPr>
            <a:xfrm>
              <a:off x="0" y="0"/>
              <a:ext cx="3679571" cy="1666367"/>
            </a:xfrm>
            <a:custGeom>
              <a:avLst/>
              <a:gdLst/>
              <a:ahLst/>
              <a:cxnLst/>
              <a:rect l="l" t="t" r="r" b="b"/>
              <a:pathLst>
                <a:path w="3679571" h="1666367">
                  <a:moveTo>
                    <a:pt x="0" y="277749"/>
                  </a:moveTo>
                  <a:cubicBezTo>
                    <a:pt x="0" y="124333"/>
                    <a:pt x="124333" y="0"/>
                    <a:pt x="277749" y="0"/>
                  </a:cubicBezTo>
                  <a:lnTo>
                    <a:pt x="3401822" y="0"/>
                  </a:lnTo>
                  <a:cubicBezTo>
                    <a:pt x="3555238" y="0"/>
                    <a:pt x="3679571" y="124333"/>
                    <a:pt x="3679571" y="277749"/>
                  </a:cubicBezTo>
                  <a:lnTo>
                    <a:pt x="3679571" y="1388618"/>
                  </a:lnTo>
                  <a:cubicBezTo>
                    <a:pt x="3679571" y="1542034"/>
                    <a:pt x="3555238" y="1666367"/>
                    <a:pt x="3401822" y="1666367"/>
                  </a:cubicBezTo>
                  <a:lnTo>
                    <a:pt x="277749" y="1666367"/>
                  </a:lnTo>
                  <a:cubicBezTo>
                    <a:pt x="124333" y="1666240"/>
                    <a:pt x="0" y="1541907"/>
                    <a:pt x="0" y="1388491"/>
                  </a:cubicBezTo>
                  <a:close/>
                </a:path>
              </a:pathLst>
            </a:custGeom>
            <a:solidFill>
              <a:srgbClr val="1E222D"/>
            </a:solidFill>
            <a:ln w="14299" cap="sq">
              <a:solidFill>
                <a:srgbClr val="FFB15C"/>
              </a:solidFill>
              <a:prstDash val="solid"/>
              <a:miter/>
            </a:ln>
          </p:spPr>
          <p:txBody>
            <a:bodyPr/>
            <a:lstStyle/>
            <a:p>
              <a:endParaRPr lang="en-IN"/>
            </a:p>
          </p:txBody>
        </p:sp>
      </p:grpSp>
      <p:grpSp>
        <p:nvGrpSpPr>
          <p:cNvPr id="15" name="Group 15"/>
          <p:cNvGrpSpPr/>
          <p:nvPr/>
        </p:nvGrpSpPr>
        <p:grpSpPr>
          <a:xfrm>
            <a:off x="7796774" y="2813980"/>
            <a:ext cx="2525716" cy="1098137"/>
            <a:chOff x="0" y="0"/>
            <a:chExt cx="3367621" cy="1464183"/>
          </a:xfrm>
        </p:grpSpPr>
        <p:sp>
          <p:nvSpPr>
            <p:cNvPr id="16" name="Freeform 16"/>
            <p:cNvSpPr/>
            <p:nvPr/>
          </p:nvSpPr>
          <p:spPr>
            <a:xfrm>
              <a:off x="0" y="0"/>
              <a:ext cx="3367623" cy="1464184"/>
            </a:xfrm>
            <a:custGeom>
              <a:avLst/>
              <a:gdLst/>
              <a:ahLst/>
              <a:cxnLst/>
              <a:rect l="l" t="t" r="r" b="b"/>
              <a:pathLst>
                <a:path w="3367623" h="1464184">
                  <a:moveTo>
                    <a:pt x="0" y="0"/>
                  </a:moveTo>
                  <a:lnTo>
                    <a:pt x="3367623" y="0"/>
                  </a:lnTo>
                  <a:lnTo>
                    <a:pt x="3367623" y="1464184"/>
                  </a:lnTo>
                  <a:lnTo>
                    <a:pt x="0" y="1464184"/>
                  </a:lnTo>
                  <a:close/>
                </a:path>
              </a:pathLst>
            </a:custGeom>
            <a:blipFill>
              <a:blip r:embed="rId2">
                <a:alphaModFix amt="0"/>
              </a:blip>
              <a:stretch>
                <a:fillRect l="-5784" r="-5784"/>
              </a:stretch>
            </a:blipFill>
          </p:spPr>
          <p:txBody>
            <a:bodyPr/>
            <a:lstStyle/>
            <a:p>
              <a:endParaRPr lang="en-IN"/>
            </a:p>
          </p:txBody>
        </p:sp>
        <p:sp>
          <p:nvSpPr>
            <p:cNvPr id="17" name="TextBox 17"/>
            <p:cNvSpPr txBox="1"/>
            <p:nvPr/>
          </p:nvSpPr>
          <p:spPr>
            <a:xfrm>
              <a:off x="0" y="0"/>
              <a:ext cx="3367621" cy="1464183"/>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Gameplay</a:t>
              </a:r>
            </a:p>
          </p:txBody>
        </p:sp>
      </p:grpSp>
      <p:grpSp>
        <p:nvGrpSpPr>
          <p:cNvPr id="18" name="Group 18"/>
          <p:cNvGrpSpPr/>
          <p:nvPr/>
        </p:nvGrpSpPr>
        <p:grpSpPr>
          <a:xfrm>
            <a:off x="10974229" y="2738199"/>
            <a:ext cx="2759640" cy="1249709"/>
            <a:chOff x="0" y="0"/>
            <a:chExt cx="3679520" cy="1666278"/>
          </a:xfrm>
        </p:grpSpPr>
        <p:sp>
          <p:nvSpPr>
            <p:cNvPr id="19" name="Freeform 19"/>
            <p:cNvSpPr/>
            <p:nvPr/>
          </p:nvSpPr>
          <p:spPr>
            <a:xfrm>
              <a:off x="0" y="0"/>
              <a:ext cx="3679571" cy="1666367"/>
            </a:xfrm>
            <a:custGeom>
              <a:avLst/>
              <a:gdLst/>
              <a:ahLst/>
              <a:cxnLst/>
              <a:rect l="l" t="t" r="r" b="b"/>
              <a:pathLst>
                <a:path w="3679571" h="1666367">
                  <a:moveTo>
                    <a:pt x="0" y="277749"/>
                  </a:moveTo>
                  <a:cubicBezTo>
                    <a:pt x="0" y="124333"/>
                    <a:pt x="124333" y="0"/>
                    <a:pt x="277749" y="0"/>
                  </a:cubicBezTo>
                  <a:lnTo>
                    <a:pt x="3401822" y="0"/>
                  </a:lnTo>
                  <a:cubicBezTo>
                    <a:pt x="3555238" y="0"/>
                    <a:pt x="3679571" y="124333"/>
                    <a:pt x="3679571" y="277749"/>
                  </a:cubicBezTo>
                  <a:lnTo>
                    <a:pt x="3679571" y="1388618"/>
                  </a:lnTo>
                  <a:cubicBezTo>
                    <a:pt x="3679571" y="1542034"/>
                    <a:pt x="3555238" y="1666367"/>
                    <a:pt x="3401822" y="1666367"/>
                  </a:cubicBezTo>
                  <a:lnTo>
                    <a:pt x="277749" y="1666367"/>
                  </a:lnTo>
                  <a:cubicBezTo>
                    <a:pt x="124333" y="1666240"/>
                    <a:pt x="0" y="1541907"/>
                    <a:pt x="0" y="1388491"/>
                  </a:cubicBezTo>
                  <a:close/>
                </a:path>
              </a:pathLst>
            </a:custGeom>
            <a:solidFill>
              <a:srgbClr val="1E222D"/>
            </a:solidFill>
            <a:ln w="14299" cap="sq">
              <a:solidFill>
                <a:srgbClr val="B189FF"/>
              </a:solidFill>
              <a:prstDash val="solid"/>
              <a:miter/>
            </a:ln>
          </p:spPr>
          <p:txBody>
            <a:bodyPr/>
            <a:lstStyle/>
            <a:p>
              <a:endParaRPr lang="en-IN"/>
            </a:p>
          </p:txBody>
        </p:sp>
      </p:grpSp>
      <p:grpSp>
        <p:nvGrpSpPr>
          <p:cNvPr id="20" name="Group 20"/>
          <p:cNvGrpSpPr/>
          <p:nvPr/>
        </p:nvGrpSpPr>
        <p:grpSpPr>
          <a:xfrm>
            <a:off x="11091196" y="2813980"/>
            <a:ext cx="2525716" cy="1098137"/>
            <a:chOff x="0" y="0"/>
            <a:chExt cx="3367621" cy="1464183"/>
          </a:xfrm>
        </p:grpSpPr>
        <p:sp>
          <p:nvSpPr>
            <p:cNvPr id="21" name="Freeform 21"/>
            <p:cNvSpPr/>
            <p:nvPr/>
          </p:nvSpPr>
          <p:spPr>
            <a:xfrm>
              <a:off x="0" y="0"/>
              <a:ext cx="3367623" cy="1464184"/>
            </a:xfrm>
            <a:custGeom>
              <a:avLst/>
              <a:gdLst/>
              <a:ahLst/>
              <a:cxnLst/>
              <a:rect l="l" t="t" r="r" b="b"/>
              <a:pathLst>
                <a:path w="3367623" h="1464184">
                  <a:moveTo>
                    <a:pt x="0" y="0"/>
                  </a:moveTo>
                  <a:lnTo>
                    <a:pt x="3367623" y="0"/>
                  </a:lnTo>
                  <a:lnTo>
                    <a:pt x="3367623" y="1464184"/>
                  </a:lnTo>
                  <a:lnTo>
                    <a:pt x="0" y="1464184"/>
                  </a:lnTo>
                  <a:close/>
                </a:path>
              </a:pathLst>
            </a:custGeom>
            <a:blipFill>
              <a:blip r:embed="rId2">
                <a:alphaModFix amt="0"/>
              </a:blip>
              <a:stretch>
                <a:fillRect l="-5784" r="-5784"/>
              </a:stretch>
            </a:blipFill>
          </p:spPr>
          <p:txBody>
            <a:bodyPr/>
            <a:lstStyle/>
            <a:p>
              <a:endParaRPr lang="en-IN"/>
            </a:p>
          </p:txBody>
        </p:sp>
        <p:sp>
          <p:nvSpPr>
            <p:cNvPr id="22" name="TextBox 22"/>
            <p:cNvSpPr txBox="1"/>
            <p:nvPr/>
          </p:nvSpPr>
          <p:spPr>
            <a:xfrm>
              <a:off x="0" y="0"/>
              <a:ext cx="3367621" cy="1464183"/>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Core Grid</a:t>
              </a:r>
            </a:p>
          </p:txBody>
        </p:sp>
      </p:grpSp>
      <p:grpSp>
        <p:nvGrpSpPr>
          <p:cNvPr id="23" name="Group 23"/>
          <p:cNvGrpSpPr/>
          <p:nvPr/>
        </p:nvGrpSpPr>
        <p:grpSpPr>
          <a:xfrm>
            <a:off x="14268640" y="2738199"/>
            <a:ext cx="2759640" cy="1249709"/>
            <a:chOff x="0" y="0"/>
            <a:chExt cx="3679520" cy="1666278"/>
          </a:xfrm>
        </p:grpSpPr>
        <p:sp>
          <p:nvSpPr>
            <p:cNvPr id="24" name="Freeform 24"/>
            <p:cNvSpPr/>
            <p:nvPr/>
          </p:nvSpPr>
          <p:spPr>
            <a:xfrm>
              <a:off x="0" y="0"/>
              <a:ext cx="3679571" cy="1666367"/>
            </a:xfrm>
            <a:custGeom>
              <a:avLst/>
              <a:gdLst/>
              <a:ahLst/>
              <a:cxnLst/>
              <a:rect l="l" t="t" r="r" b="b"/>
              <a:pathLst>
                <a:path w="3679571" h="1666367">
                  <a:moveTo>
                    <a:pt x="0" y="277749"/>
                  </a:moveTo>
                  <a:cubicBezTo>
                    <a:pt x="0" y="124333"/>
                    <a:pt x="124333" y="0"/>
                    <a:pt x="277749" y="0"/>
                  </a:cubicBezTo>
                  <a:lnTo>
                    <a:pt x="3401822" y="0"/>
                  </a:lnTo>
                  <a:cubicBezTo>
                    <a:pt x="3555238" y="0"/>
                    <a:pt x="3679571" y="124333"/>
                    <a:pt x="3679571" y="277749"/>
                  </a:cubicBezTo>
                  <a:lnTo>
                    <a:pt x="3679571" y="1388618"/>
                  </a:lnTo>
                  <a:cubicBezTo>
                    <a:pt x="3679571" y="1542034"/>
                    <a:pt x="3555238" y="1666367"/>
                    <a:pt x="3401822" y="1666367"/>
                  </a:cubicBezTo>
                  <a:lnTo>
                    <a:pt x="277749" y="1666367"/>
                  </a:lnTo>
                  <a:cubicBezTo>
                    <a:pt x="124333" y="1666240"/>
                    <a:pt x="0" y="1541907"/>
                    <a:pt x="0" y="1388491"/>
                  </a:cubicBezTo>
                  <a:close/>
                </a:path>
              </a:pathLst>
            </a:custGeom>
            <a:solidFill>
              <a:srgbClr val="1E222D"/>
            </a:solidFill>
            <a:ln w="14299" cap="sq">
              <a:solidFill>
                <a:srgbClr val="F47070"/>
              </a:solidFill>
              <a:prstDash val="solid"/>
              <a:miter/>
            </a:ln>
          </p:spPr>
          <p:txBody>
            <a:bodyPr/>
            <a:lstStyle/>
            <a:p>
              <a:endParaRPr lang="en-IN"/>
            </a:p>
          </p:txBody>
        </p:sp>
      </p:grpSp>
      <p:grpSp>
        <p:nvGrpSpPr>
          <p:cNvPr id="25" name="Group 25"/>
          <p:cNvGrpSpPr/>
          <p:nvPr/>
        </p:nvGrpSpPr>
        <p:grpSpPr>
          <a:xfrm>
            <a:off x="14385607" y="2813980"/>
            <a:ext cx="2525716" cy="1098137"/>
            <a:chOff x="0" y="0"/>
            <a:chExt cx="3367621" cy="1464183"/>
          </a:xfrm>
        </p:grpSpPr>
        <p:sp>
          <p:nvSpPr>
            <p:cNvPr id="26" name="Freeform 26"/>
            <p:cNvSpPr/>
            <p:nvPr/>
          </p:nvSpPr>
          <p:spPr>
            <a:xfrm>
              <a:off x="0" y="0"/>
              <a:ext cx="3367623" cy="1464184"/>
            </a:xfrm>
            <a:custGeom>
              <a:avLst/>
              <a:gdLst/>
              <a:ahLst/>
              <a:cxnLst/>
              <a:rect l="l" t="t" r="r" b="b"/>
              <a:pathLst>
                <a:path w="3367623" h="1464184">
                  <a:moveTo>
                    <a:pt x="0" y="0"/>
                  </a:moveTo>
                  <a:lnTo>
                    <a:pt x="3367623" y="0"/>
                  </a:lnTo>
                  <a:lnTo>
                    <a:pt x="3367623" y="1464184"/>
                  </a:lnTo>
                  <a:lnTo>
                    <a:pt x="0" y="1464184"/>
                  </a:lnTo>
                  <a:close/>
                </a:path>
              </a:pathLst>
            </a:custGeom>
            <a:blipFill>
              <a:blip r:embed="rId2">
                <a:alphaModFix amt="0"/>
              </a:blip>
              <a:stretch>
                <a:fillRect l="-5784" r="-5784"/>
              </a:stretch>
            </a:blipFill>
          </p:spPr>
          <p:txBody>
            <a:bodyPr/>
            <a:lstStyle/>
            <a:p>
              <a:endParaRPr lang="en-IN"/>
            </a:p>
          </p:txBody>
        </p:sp>
        <p:sp>
          <p:nvSpPr>
            <p:cNvPr id="27" name="TextBox 27"/>
            <p:cNvSpPr txBox="1"/>
            <p:nvPr/>
          </p:nvSpPr>
          <p:spPr>
            <a:xfrm>
              <a:off x="0" y="0"/>
              <a:ext cx="3367621" cy="1464183"/>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Services</a:t>
              </a:r>
            </a:p>
          </p:txBody>
        </p:sp>
      </p:grpSp>
      <p:sp>
        <p:nvSpPr>
          <p:cNvPr id="28" name="AutoShape 28"/>
          <p:cNvSpPr/>
          <p:nvPr/>
        </p:nvSpPr>
        <p:spPr>
          <a:xfrm rot="222900">
            <a:off x="3823802" y="3353524"/>
            <a:ext cx="588435" cy="0"/>
          </a:xfrm>
          <a:prstGeom prst="line">
            <a:avLst/>
          </a:prstGeom>
          <a:ln w="19050" cap="rnd">
            <a:solidFill>
              <a:srgbClr val="5CAEFF"/>
            </a:solidFill>
            <a:prstDash val="solid"/>
            <a:headEnd type="none" w="sm" len="sm"/>
            <a:tailEnd type="none" w="sm" len="sm"/>
          </a:ln>
        </p:spPr>
        <p:txBody>
          <a:bodyPr/>
          <a:lstStyle/>
          <a:p>
            <a:endParaRPr/>
          </a:p>
        </p:txBody>
      </p:sp>
      <p:sp>
        <p:nvSpPr>
          <p:cNvPr id="29" name="AutoShape 29"/>
          <p:cNvSpPr/>
          <p:nvPr/>
        </p:nvSpPr>
        <p:spPr>
          <a:xfrm rot="222900">
            <a:off x="7118213" y="3353524"/>
            <a:ext cx="588435" cy="0"/>
          </a:xfrm>
          <a:prstGeom prst="line">
            <a:avLst/>
          </a:prstGeom>
          <a:ln w="19050" cap="rnd">
            <a:solidFill>
              <a:srgbClr val="5CAEFF"/>
            </a:solidFill>
            <a:prstDash val="solid"/>
            <a:headEnd type="none" w="sm" len="sm"/>
            <a:tailEnd type="none" w="sm" len="sm"/>
          </a:ln>
        </p:spPr>
        <p:txBody>
          <a:bodyPr/>
          <a:lstStyle/>
          <a:p>
            <a:endParaRPr/>
          </a:p>
        </p:txBody>
      </p:sp>
      <p:sp>
        <p:nvSpPr>
          <p:cNvPr id="30" name="AutoShape 30"/>
          <p:cNvSpPr/>
          <p:nvPr/>
        </p:nvSpPr>
        <p:spPr>
          <a:xfrm rot="222900">
            <a:off x="10412625" y="3353524"/>
            <a:ext cx="588435" cy="0"/>
          </a:xfrm>
          <a:prstGeom prst="line">
            <a:avLst/>
          </a:prstGeom>
          <a:ln w="19050" cap="rnd">
            <a:solidFill>
              <a:srgbClr val="5CAEFF"/>
            </a:solidFill>
            <a:prstDash val="solid"/>
            <a:headEnd type="none" w="sm" len="sm"/>
            <a:tailEnd type="none" w="sm" len="sm"/>
          </a:ln>
        </p:spPr>
        <p:txBody>
          <a:bodyPr/>
          <a:lstStyle/>
          <a:p>
            <a:endParaRPr/>
          </a:p>
        </p:txBody>
      </p:sp>
      <p:sp>
        <p:nvSpPr>
          <p:cNvPr id="31" name="AutoShape 31"/>
          <p:cNvSpPr/>
          <p:nvPr/>
        </p:nvSpPr>
        <p:spPr>
          <a:xfrm rot="222900">
            <a:off x="13707037" y="3353524"/>
            <a:ext cx="588435" cy="0"/>
          </a:xfrm>
          <a:prstGeom prst="line">
            <a:avLst/>
          </a:prstGeom>
          <a:ln w="19050" cap="rnd">
            <a:solidFill>
              <a:srgbClr val="5CAEFF"/>
            </a:solidFill>
            <a:prstDash val="solid"/>
            <a:headEnd type="none" w="sm" len="sm"/>
            <a:tailEnd type="none" w="sm" len="sm"/>
          </a:ln>
        </p:spPr>
        <p:txBody>
          <a:bodyPr/>
          <a:lstStyle/>
          <a:p>
            <a:endParaRPr/>
          </a:p>
        </p:txBody>
      </p:sp>
      <p:grpSp>
        <p:nvGrpSpPr>
          <p:cNvPr id="32" name="Group 32"/>
          <p:cNvGrpSpPr/>
          <p:nvPr/>
        </p:nvGrpSpPr>
        <p:grpSpPr>
          <a:xfrm>
            <a:off x="1365523" y="4865837"/>
            <a:ext cx="4544120" cy="2485111"/>
            <a:chOff x="0" y="0"/>
            <a:chExt cx="6058827" cy="3313481"/>
          </a:xfrm>
        </p:grpSpPr>
        <p:sp>
          <p:nvSpPr>
            <p:cNvPr id="33" name="Freeform 33"/>
            <p:cNvSpPr/>
            <p:nvPr/>
          </p:nvSpPr>
          <p:spPr>
            <a:xfrm>
              <a:off x="0" y="0"/>
              <a:ext cx="6058662" cy="3313430"/>
            </a:xfrm>
            <a:custGeom>
              <a:avLst/>
              <a:gdLst/>
              <a:ahLst/>
              <a:cxnLst/>
              <a:rect l="l" t="t" r="r" b="b"/>
              <a:pathLst>
                <a:path w="6058662" h="3313430">
                  <a:moveTo>
                    <a:pt x="0" y="552196"/>
                  </a:moveTo>
                  <a:cubicBezTo>
                    <a:pt x="0" y="247269"/>
                    <a:pt x="247269" y="0"/>
                    <a:pt x="552196" y="0"/>
                  </a:cubicBezTo>
                  <a:lnTo>
                    <a:pt x="5506466" y="0"/>
                  </a:lnTo>
                  <a:cubicBezTo>
                    <a:pt x="5811520" y="0"/>
                    <a:pt x="6058662" y="247269"/>
                    <a:pt x="6058662" y="552196"/>
                  </a:cubicBezTo>
                  <a:lnTo>
                    <a:pt x="6058662" y="2761234"/>
                  </a:lnTo>
                  <a:cubicBezTo>
                    <a:pt x="6058662" y="3066288"/>
                    <a:pt x="5811393" y="3313430"/>
                    <a:pt x="5506466" y="3313430"/>
                  </a:cubicBezTo>
                  <a:lnTo>
                    <a:pt x="552196" y="3313430"/>
                  </a:lnTo>
                  <a:cubicBezTo>
                    <a:pt x="247269" y="3313430"/>
                    <a:pt x="0" y="3066288"/>
                    <a:pt x="0" y="2761234"/>
                  </a:cubicBezTo>
                  <a:close/>
                </a:path>
              </a:pathLst>
            </a:custGeom>
            <a:solidFill>
              <a:srgbClr val="1E222D"/>
            </a:solidFill>
            <a:ln w="14299" cap="sq">
              <a:solidFill>
                <a:srgbClr val="272C3A"/>
              </a:solidFill>
              <a:prstDash val="solid"/>
              <a:miter/>
            </a:ln>
          </p:spPr>
          <p:txBody>
            <a:bodyPr/>
            <a:lstStyle/>
            <a:p>
              <a:endParaRPr lang="en-IN"/>
            </a:p>
          </p:txBody>
        </p:sp>
      </p:grpSp>
      <p:sp>
        <p:nvSpPr>
          <p:cNvPr id="34" name="TextBox 34"/>
          <p:cNvSpPr txBox="1"/>
          <p:nvPr/>
        </p:nvSpPr>
        <p:spPr>
          <a:xfrm>
            <a:off x="1766097" y="5124602"/>
            <a:ext cx="3742963" cy="457629"/>
          </a:xfrm>
          <a:prstGeom prst="rect">
            <a:avLst/>
          </a:prstGeom>
        </p:spPr>
        <p:txBody>
          <a:bodyPr lIns="0" tIns="0" rIns="0" bIns="0" rtlCol="0" anchor="t">
            <a:spAutoFit/>
          </a:bodyPr>
          <a:lstStyle/>
          <a:p>
            <a:pPr algn="l">
              <a:lnSpc>
                <a:spcPts val="2702"/>
              </a:lnSpc>
            </a:pPr>
            <a:r>
              <a:rPr lang="en-US" sz="2251" b="1">
                <a:solidFill>
                  <a:srgbClr val="B189FF"/>
                </a:solidFill>
                <a:latin typeface="Aptos Bold"/>
                <a:ea typeface="Aptos Bold"/>
                <a:cs typeface="Aptos Bold"/>
                <a:sym typeface="Aptos Bold"/>
              </a:rPr>
              <a:t>Core principle</a:t>
            </a:r>
          </a:p>
        </p:txBody>
      </p:sp>
      <p:sp>
        <p:nvSpPr>
          <p:cNvPr id="35" name="TextBox 35"/>
          <p:cNvSpPr txBox="1"/>
          <p:nvPr/>
        </p:nvSpPr>
        <p:spPr>
          <a:xfrm>
            <a:off x="1766097" y="5810945"/>
            <a:ext cx="3742963" cy="1281236"/>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Gameplay code asks the model to perform logical operations. Rendering code visualizes the result. The model does not know about Unity GameObjects.</a:t>
            </a:r>
          </a:p>
        </p:txBody>
      </p:sp>
      <p:grpSp>
        <p:nvGrpSpPr>
          <p:cNvPr id="36" name="Group 36"/>
          <p:cNvGrpSpPr/>
          <p:nvPr/>
        </p:nvGrpSpPr>
        <p:grpSpPr>
          <a:xfrm>
            <a:off x="6856209" y="4865837"/>
            <a:ext cx="4544120" cy="2485111"/>
            <a:chOff x="0" y="0"/>
            <a:chExt cx="6058827" cy="3313481"/>
          </a:xfrm>
        </p:grpSpPr>
        <p:sp>
          <p:nvSpPr>
            <p:cNvPr id="37" name="Freeform 37"/>
            <p:cNvSpPr/>
            <p:nvPr/>
          </p:nvSpPr>
          <p:spPr>
            <a:xfrm>
              <a:off x="0" y="0"/>
              <a:ext cx="6058662" cy="3313430"/>
            </a:xfrm>
            <a:custGeom>
              <a:avLst/>
              <a:gdLst/>
              <a:ahLst/>
              <a:cxnLst/>
              <a:rect l="l" t="t" r="r" b="b"/>
              <a:pathLst>
                <a:path w="6058662" h="3313430">
                  <a:moveTo>
                    <a:pt x="0" y="552196"/>
                  </a:moveTo>
                  <a:cubicBezTo>
                    <a:pt x="0" y="247269"/>
                    <a:pt x="247269" y="0"/>
                    <a:pt x="552196" y="0"/>
                  </a:cubicBezTo>
                  <a:lnTo>
                    <a:pt x="5506466" y="0"/>
                  </a:lnTo>
                  <a:cubicBezTo>
                    <a:pt x="5811520" y="0"/>
                    <a:pt x="6058662" y="247269"/>
                    <a:pt x="6058662" y="552196"/>
                  </a:cubicBezTo>
                  <a:lnTo>
                    <a:pt x="6058662" y="2761234"/>
                  </a:lnTo>
                  <a:cubicBezTo>
                    <a:pt x="6058662" y="3066288"/>
                    <a:pt x="5811393" y="3313430"/>
                    <a:pt x="5506466" y="3313430"/>
                  </a:cubicBezTo>
                  <a:lnTo>
                    <a:pt x="552196" y="3313430"/>
                  </a:lnTo>
                  <a:cubicBezTo>
                    <a:pt x="247269" y="3313430"/>
                    <a:pt x="0" y="3066288"/>
                    <a:pt x="0" y="2761234"/>
                  </a:cubicBezTo>
                  <a:close/>
                </a:path>
              </a:pathLst>
            </a:custGeom>
            <a:solidFill>
              <a:srgbClr val="1E222D"/>
            </a:solidFill>
            <a:ln w="14299" cap="sq">
              <a:solidFill>
                <a:srgbClr val="272C3A"/>
              </a:solidFill>
              <a:prstDash val="solid"/>
              <a:miter/>
            </a:ln>
          </p:spPr>
          <p:txBody>
            <a:bodyPr/>
            <a:lstStyle/>
            <a:p>
              <a:endParaRPr lang="en-IN"/>
            </a:p>
          </p:txBody>
        </p:sp>
      </p:grpSp>
      <p:sp>
        <p:nvSpPr>
          <p:cNvPr id="38" name="TextBox 38"/>
          <p:cNvSpPr txBox="1"/>
          <p:nvPr/>
        </p:nvSpPr>
        <p:spPr>
          <a:xfrm>
            <a:off x="7256793" y="5124602"/>
            <a:ext cx="3742963" cy="457629"/>
          </a:xfrm>
          <a:prstGeom prst="rect">
            <a:avLst/>
          </a:prstGeom>
        </p:spPr>
        <p:txBody>
          <a:bodyPr lIns="0" tIns="0" rIns="0" bIns="0" rtlCol="0" anchor="t">
            <a:spAutoFit/>
          </a:bodyPr>
          <a:lstStyle/>
          <a:p>
            <a:pPr algn="l">
              <a:lnSpc>
                <a:spcPts val="2702"/>
              </a:lnSpc>
            </a:pPr>
            <a:r>
              <a:rPr lang="en-US" sz="2251" b="1">
                <a:solidFill>
                  <a:srgbClr val="66CD96"/>
                </a:solidFill>
                <a:latin typeface="Aptos Bold"/>
                <a:ea typeface="Aptos Bold"/>
                <a:cs typeface="Aptos Bold"/>
                <a:sym typeface="Aptos Bold"/>
              </a:rPr>
              <a:t>Composition</a:t>
            </a:r>
          </a:p>
        </p:txBody>
      </p:sp>
      <p:sp>
        <p:nvSpPr>
          <p:cNvPr id="39" name="TextBox 39"/>
          <p:cNvSpPr txBox="1"/>
          <p:nvPr/>
        </p:nvSpPr>
        <p:spPr>
          <a:xfrm>
            <a:off x="7256793" y="5810945"/>
            <a:ext cx="3742963" cy="1281236"/>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ServiceRegistry supplies interfaces such as IGameFlowController, ILevelService, ISaveService and IHintService.</a:t>
            </a:r>
          </a:p>
        </p:txBody>
      </p:sp>
      <p:grpSp>
        <p:nvGrpSpPr>
          <p:cNvPr id="40" name="Group 40"/>
          <p:cNvGrpSpPr/>
          <p:nvPr/>
        </p:nvGrpSpPr>
        <p:grpSpPr>
          <a:xfrm>
            <a:off x="12346905" y="4865837"/>
            <a:ext cx="4544120" cy="2485111"/>
            <a:chOff x="0" y="0"/>
            <a:chExt cx="6058827" cy="3313481"/>
          </a:xfrm>
        </p:grpSpPr>
        <p:sp>
          <p:nvSpPr>
            <p:cNvPr id="41" name="Freeform 41"/>
            <p:cNvSpPr/>
            <p:nvPr/>
          </p:nvSpPr>
          <p:spPr>
            <a:xfrm>
              <a:off x="0" y="0"/>
              <a:ext cx="6058662" cy="3313430"/>
            </a:xfrm>
            <a:custGeom>
              <a:avLst/>
              <a:gdLst/>
              <a:ahLst/>
              <a:cxnLst/>
              <a:rect l="l" t="t" r="r" b="b"/>
              <a:pathLst>
                <a:path w="6058662" h="3313430">
                  <a:moveTo>
                    <a:pt x="0" y="552196"/>
                  </a:moveTo>
                  <a:cubicBezTo>
                    <a:pt x="0" y="247269"/>
                    <a:pt x="247269" y="0"/>
                    <a:pt x="552196" y="0"/>
                  </a:cubicBezTo>
                  <a:lnTo>
                    <a:pt x="5506466" y="0"/>
                  </a:lnTo>
                  <a:cubicBezTo>
                    <a:pt x="5811520" y="0"/>
                    <a:pt x="6058662" y="247269"/>
                    <a:pt x="6058662" y="552196"/>
                  </a:cubicBezTo>
                  <a:lnTo>
                    <a:pt x="6058662" y="2761234"/>
                  </a:lnTo>
                  <a:cubicBezTo>
                    <a:pt x="6058662" y="3066288"/>
                    <a:pt x="5811393" y="3313430"/>
                    <a:pt x="5506466" y="3313430"/>
                  </a:cubicBezTo>
                  <a:lnTo>
                    <a:pt x="552196" y="3313430"/>
                  </a:lnTo>
                  <a:cubicBezTo>
                    <a:pt x="247269" y="3313430"/>
                    <a:pt x="0" y="3066288"/>
                    <a:pt x="0" y="2761234"/>
                  </a:cubicBezTo>
                  <a:close/>
                </a:path>
              </a:pathLst>
            </a:custGeom>
            <a:solidFill>
              <a:srgbClr val="1E222D"/>
            </a:solidFill>
            <a:ln w="14299" cap="sq">
              <a:solidFill>
                <a:srgbClr val="272C3A"/>
              </a:solidFill>
              <a:prstDash val="solid"/>
              <a:miter/>
            </a:ln>
          </p:spPr>
          <p:txBody>
            <a:bodyPr/>
            <a:lstStyle/>
            <a:p>
              <a:endParaRPr lang="en-IN"/>
            </a:p>
          </p:txBody>
        </p:sp>
      </p:grpSp>
      <p:sp>
        <p:nvSpPr>
          <p:cNvPr id="42" name="TextBox 42"/>
          <p:cNvSpPr txBox="1"/>
          <p:nvPr/>
        </p:nvSpPr>
        <p:spPr>
          <a:xfrm>
            <a:off x="12747479" y="5124602"/>
            <a:ext cx="3742963" cy="457629"/>
          </a:xfrm>
          <a:prstGeom prst="rect">
            <a:avLst/>
          </a:prstGeom>
        </p:spPr>
        <p:txBody>
          <a:bodyPr lIns="0" tIns="0" rIns="0" bIns="0" rtlCol="0" anchor="t">
            <a:spAutoFit/>
          </a:bodyPr>
          <a:lstStyle/>
          <a:p>
            <a:pPr algn="l">
              <a:lnSpc>
                <a:spcPts val="2702"/>
              </a:lnSpc>
            </a:pPr>
            <a:r>
              <a:rPr lang="en-US" sz="2251" b="1">
                <a:solidFill>
                  <a:srgbClr val="5CAEFF"/>
                </a:solidFill>
                <a:latin typeface="Aptos Bold"/>
                <a:ea typeface="Aptos Bold"/>
                <a:cs typeface="Aptos Bold"/>
                <a:sym typeface="Aptos Bold"/>
              </a:rPr>
              <a:t>UI lifecycle</a:t>
            </a:r>
          </a:p>
        </p:txBody>
      </p:sp>
      <p:sp>
        <p:nvSpPr>
          <p:cNvPr id="43" name="TextBox 43"/>
          <p:cNvSpPr txBox="1"/>
          <p:nvPr/>
        </p:nvSpPr>
        <p:spPr>
          <a:xfrm>
            <a:off x="12747479" y="5810945"/>
            <a:ext cx="3742963" cy="1281236"/>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ScreenManager handles screens. PopupManager handles queued popups. Flow states coordinate when they appear.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sp>
        <p:nvSpPr>
          <p:cNvPr id="2" name="TextBox 2"/>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3. Functional Code Flow</a:t>
            </a:r>
          </a:p>
        </p:txBody>
      </p:sp>
      <p:sp>
        <p:nvSpPr>
          <p:cNvPr id="3" name="TextBox 3"/>
          <p:cNvSpPr txBox="1"/>
          <p:nvPr/>
        </p:nvSpPr>
        <p:spPr>
          <a:xfrm>
            <a:off x="1011126" y="1436322"/>
            <a:ext cx="16151924" cy="323850"/>
          </a:xfrm>
          <a:prstGeom prst="rect">
            <a:avLst/>
          </a:prstGeom>
        </p:spPr>
        <p:txBody>
          <a:bodyPr lIns="0" tIns="0" rIns="0" bIns="0" rtlCol="0" anchor="t">
            <a:spAutoFit/>
          </a:bodyPr>
          <a:lstStyle/>
          <a:p>
            <a:pPr algn="l">
              <a:lnSpc>
                <a:spcPts val="2520"/>
              </a:lnSpc>
            </a:pPr>
            <a:r>
              <a:rPr lang="en-US" sz="2100">
                <a:solidFill>
                  <a:srgbClr val="A7AFBF"/>
                </a:solidFill>
                <a:latin typeface="Aptos"/>
                <a:ea typeface="Aptos"/>
                <a:cs typeface="Aptos"/>
                <a:sym typeface="Aptos"/>
              </a:rPr>
              <a:t>User action → logical state → presentation</a:t>
            </a:r>
          </a:p>
        </p:txBody>
      </p:sp>
      <p:grpSp>
        <p:nvGrpSpPr>
          <p:cNvPr id="4" name="Group 4"/>
          <p:cNvGrpSpPr/>
          <p:nvPr/>
        </p:nvGrpSpPr>
        <p:grpSpPr>
          <a:xfrm>
            <a:off x="816454" y="3218631"/>
            <a:ext cx="2347846" cy="1181071"/>
            <a:chOff x="0" y="0"/>
            <a:chExt cx="3130461" cy="1574762"/>
          </a:xfrm>
        </p:grpSpPr>
        <p:sp>
          <p:nvSpPr>
            <p:cNvPr id="5" name="Freeform 5"/>
            <p:cNvSpPr/>
            <p:nvPr/>
          </p:nvSpPr>
          <p:spPr>
            <a:xfrm>
              <a:off x="0" y="0"/>
              <a:ext cx="3130550" cy="1574800"/>
            </a:xfrm>
            <a:custGeom>
              <a:avLst/>
              <a:gdLst/>
              <a:ahLst/>
              <a:cxnLst/>
              <a:rect l="l" t="t" r="r" b="b"/>
              <a:pathLst>
                <a:path w="3130550" h="1574800">
                  <a:moveTo>
                    <a:pt x="0" y="262509"/>
                  </a:moveTo>
                  <a:cubicBezTo>
                    <a:pt x="0" y="117475"/>
                    <a:pt x="117475" y="0"/>
                    <a:pt x="262509" y="0"/>
                  </a:cubicBezTo>
                  <a:lnTo>
                    <a:pt x="2868041" y="0"/>
                  </a:lnTo>
                  <a:cubicBezTo>
                    <a:pt x="3012948" y="0"/>
                    <a:pt x="3130550" y="117475"/>
                    <a:pt x="3130550" y="262509"/>
                  </a:cubicBezTo>
                  <a:lnTo>
                    <a:pt x="3130550" y="1312291"/>
                  </a:lnTo>
                  <a:cubicBezTo>
                    <a:pt x="3130550" y="1457198"/>
                    <a:pt x="3013075" y="1574800"/>
                    <a:pt x="2868041" y="1574800"/>
                  </a:cubicBezTo>
                  <a:lnTo>
                    <a:pt x="262509" y="1574800"/>
                  </a:lnTo>
                  <a:cubicBezTo>
                    <a:pt x="117475" y="1574800"/>
                    <a:pt x="0" y="1457198"/>
                    <a:pt x="0" y="1312291"/>
                  </a:cubicBezTo>
                  <a:close/>
                </a:path>
              </a:pathLst>
            </a:custGeom>
            <a:solidFill>
              <a:srgbClr val="1E222D"/>
            </a:solidFill>
            <a:ln w="14299" cap="sq">
              <a:solidFill>
                <a:srgbClr val="5CAEFF"/>
              </a:solidFill>
              <a:prstDash val="solid"/>
              <a:miter/>
            </a:ln>
          </p:spPr>
          <p:txBody>
            <a:bodyPr/>
            <a:lstStyle/>
            <a:p>
              <a:endParaRPr lang="en-IN"/>
            </a:p>
          </p:txBody>
        </p:sp>
      </p:grpSp>
      <p:grpSp>
        <p:nvGrpSpPr>
          <p:cNvPr id="6" name="Group 6"/>
          <p:cNvGrpSpPr/>
          <p:nvPr/>
        </p:nvGrpSpPr>
        <p:grpSpPr>
          <a:xfrm>
            <a:off x="933421" y="3294412"/>
            <a:ext cx="2113912" cy="1029500"/>
            <a:chOff x="0" y="0"/>
            <a:chExt cx="2818549" cy="1372667"/>
          </a:xfrm>
        </p:grpSpPr>
        <p:sp>
          <p:nvSpPr>
            <p:cNvPr id="7" name="Freeform 7"/>
            <p:cNvSpPr/>
            <p:nvPr/>
          </p:nvSpPr>
          <p:spPr>
            <a:xfrm>
              <a:off x="0" y="0"/>
              <a:ext cx="2818554" cy="1372672"/>
            </a:xfrm>
            <a:custGeom>
              <a:avLst/>
              <a:gdLst/>
              <a:ahLst/>
              <a:cxnLst/>
              <a:rect l="l" t="t" r="r" b="b"/>
              <a:pathLst>
                <a:path w="2818554" h="1372672">
                  <a:moveTo>
                    <a:pt x="0" y="0"/>
                  </a:moveTo>
                  <a:lnTo>
                    <a:pt x="2818554" y="0"/>
                  </a:lnTo>
                  <a:lnTo>
                    <a:pt x="2818554" y="1372672"/>
                  </a:lnTo>
                  <a:lnTo>
                    <a:pt x="0" y="1372672"/>
                  </a:lnTo>
                  <a:close/>
                </a:path>
              </a:pathLst>
            </a:custGeom>
            <a:blipFill>
              <a:blip r:embed="rId2">
                <a:alphaModFix amt="0"/>
              </a:blip>
              <a:stretch>
                <a:fillRect l="-12485" r="-12485"/>
              </a:stretch>
            </a:blipFill>
          </p:spPr>
          <p:txBody>
            <a:bodyPr/>
            <a:lstStyle/>
            <a:p>
              <a:endParaRPr lang="en-IN"/>
            </a:p>
          </p:txBody>
        </p:sp>
        <p:sp>
          <p:nvSpPr>
            <p:cNvPr id="8" name="TextBox 8"/>
            <p:cNvSpPr txBox="1"/>
            <p:nvPr/>
          </p:nvSpPr>
          <p:spPr>
            <a:xfrm>
              <a:off x="0" y="0"/>
              <a:ext cx="2818549" cy="1372667"/>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Swipe / Button</a:t>
              </a:r>
            </a:p>
          </p:txBody>
        </p:sp>
      </p:grpSp>
      <p:grpSp>
        <p:nvGrpSpPr>
          <p:cNvPr id="9" name="Group 9"/>
          <p:cNvGrpSpPr/>
          <p:nvPr/>
        </p:nvGrpSpPr>
        <p:grpSpPr>
          <a:xfrm>
            <a:off x="3493170" y="3218631"/>
            <a:ext cx="2347846" cy="1181071"/>
            <a:chOff x="0" y="0"/>
            <a:chExt cx="3130461" cy="1574762"/>
          </a:xfrm>
        </p:grpSpPr>
        <p:sp>
          <p:nvSpPr>
            <p:cNvPr id="10" name="Freeform 10"/>
            <p:cNvSpPr/>
            <p:nvPr/>
          </p:nvSpPr>
          <p:spPr>
            <a:xfrm>
              <a:off x="0" y="0"/>
              <a:ext cx="3130550" cy="1574800"/>
            </a:xfrm>
            <a:custGeom>
              <a:avLst/>
              <a:gdLst/>
              <a:ahLst/>
              <a:cxnLst/>
              <a:rect l="l" t="t" r="r" b="b"/>
              <a:pathLst>
                <a:path w="3130550" h="1574800">
                  <a:moveTo>
                    <a:pt x="0" y="262509"/>
                  </a:moveTo>
                  <a:cubicBezTo>
                    <a:pt x="0" y="117475"/>
                    <a:pt x="117475" y="0"/>
                    <a:pt x="262509" y="0"/>
                  </a:cubicBezTo>
                  <a:lnTo>
                    <a:pt x="2868041" y="0"/>
                  </a:lnTo>
                  <a:cubicBezTo>
                    <a:pt x="3012948" y="0"/>
                    <a:pt x="3130550" y="117475"/>
                    <a:pt x="3130550" y="262509"/>
                  </a:cubicBezTo>
                  <a:lnTo>
                    <a:pt x="3130550" y="1312291"/>
                  </a:lnTo>
                  <a:cubicBezTo>
                    <a:pt x="3130550" y="1457198"/>
                    <a:pt x="3013075" y="1574800"/>
                    <a:pt x="2868041" y="1574800"/>
                  </a:cubicBezTo>
                  <a:lnTo>
                    <a:pt x="262509" y="1574800"/>
                  </a:lnTo>
                  <a:cubicBezTo>
                    <a:pt x="117475" y="1574800"/>
                    <a:pt x="0" y="1457198"/>
                    <a:pt x="0" y="1312291"/>
                  </a:cubicBezTo>
                  <a:close/>
                </a:path>
              </a:pathLst>
            </a:custGeom>
            <a:solidFill>
              <a:srgbClr val="1E222D"/>
            </a:solidFill>
            <a:ln w="14299" cap="sq">
              <a:solidFill>
                <a:srgbClr val="5CAEFF"/>
              </a:solidFill>
              <a:prstDash val="solid"/>
              <a:miter/>
            </a:ln>
          </p:spPr>
          <p:txBody>
            <a:bodyPr/>
            <a:lstStyle/>
            <a:p>
              <a:endParaRPr lang="en-IN"/>
            </a:p>
          </p:txBody>
        </p:sp>
      </p:grpSp>
      <p:grpSp>
        <p:nvGrpSpPr>
          <p:cNvPr id="11" name="Group 11"/>
          <p:cNvGrpSpPr/>
          <p:nvPr/>
        </p:nvGrpSpPr>
        <p:grpSpPr>
          <a:xfrm>
            <a:off x="3610127" y="3294412"/>
            <a:ext cx="2113912" cy="1029500"/>
            <a:chOff x="0" y="0"/>
            <a:chExt cx="2818549" cy="1372667"/>
          </a:xfrm>
        </p:grpSpPr>
        <p:sp>
          <p:nvSpPr>
            <p:cNvPr id="12" name="Freeform 12"/>
            <p:cNvSpPr/>
            <p:nvPr/>
          </p:nvSpPr>
          <p:spPr>
            <a:xfrm>
              <a:off x="0" y="0"/>
              <a:ext cx="2818554" cy="1372672"/>
            </a:xfrm>
            <a:custGeom>
              <a:avLst/>
              <a:gdLst/>
              <a:ahLst/>
              <a:cxnLst/>
              <a:rect l="l" t="t" r="r" b="b"/>
              <a:pathLst>
                <a:path w="2818554" h="1372672">
                  <a:moveTo>
                    <a:pt x="0" y="0"/>
                  </a:moveTo>
                  <a:lnTo>
                    <a:pt x="2818554" y="0"/>
                  </a:lnTo>
                  <a:lnTo>
                    <a:pt x="2818554" y="1372672"/>
                  </a:lnTo>
                  <a:lnTo>
                    <a:pt x="0" y="1372672"/>
                  </a:lnTo>
                  <a:close/>
                </a:path>
              </a:pathLst>
            </a:custGeom>
            <a:blipFill>
              <a:blip r:embed="rId2">
                <a:alphaModFix amt="0"/>
              </a:blip>
              <a:stretch>
                <a:fillRect l="-12485" r="-12485"/>
              </a:stretch>
            </a:blipFill>
          </p:spPr>
          <p:txBody>
            <a:bodyPr/>
            <a:lstStyle/>
            <a:p>
              <a:endParaRPr lang="en-IN"/>
            </a:p>
          </p:txBody>
        </p:sp>
        <p:sp>
          <p:nvSpPr>
            <p:cNvPr id="13" name="TextBox 13"/>
            <p:cNvSpPr txBox="1"/>
            <p:nvPr/>
          </p:nvSpPr>
          <p:spPr>
            <a:xfrm>
              <a:off x="0" y="0"/>
              <a:ext cx="2818549" cy="1372667"/>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GridCellView</a:t>
              </a:r>
            </a:p>
          </p:txBody>
        </p:sp>
      </p:grpSp>
      <p:grpSp>
        <p:nvGrpSpPr>
          <p:cNvPr id="14" name="Group 14"/>
          <p:cNvGrpSpPr/>
          <p:nvPr/>
        </p:nvGrpSpPr>
        <p:grpSpPr>
          <a:xfrm>
            <a:off x="6169876" y="3218631"/>
            <a:ext cx="2347846" cy="1181071"/>
            <a:chOff x="0" y="0"/>
            <a:chExt cx="3130461" cy="1574762"/>
          </a:xfrm>
        </p:grpSpPr>
        <p:sp>
          <p:nvSpPr>
            <p:cNvPr id="15" name="Freeform 15"/>
            <p:cNvSpPr/>
            <p:nvPr/>
          </p:nvSpPr>
          <p:spPr>
            <a:xfrm>
              <a:off x="0" y="0"/>
              <a:ext cx="3130550" cy="1574800"/>
            </a:xfrm>
            <a:custGeom>
              <a:avLst/>
              <a:gdLst/>
              <a:ahLst/>
              <a:cxnLst/>
              <a:rect l="l" t="t" r="r" b="b"/>
              <a:pathLst>
                <a:path w="3130550" h="1574800">
                  <a:moveTo>
                    <a:pt x="0" y="262509"/>
                  </a:moveTo>
                  <a:cubicBezTo>
                    <a:pt x="0" y="117475"/>
                    <a:pt x="117475" y="0"/>
                    <a:pt x="262509" y="0"/>
                  </a:cubicBezTo>
                  <a:lnTo>
                    <a:pt x="2868041" y="0"/>
                  </a:lnTo>
                  <a:cubicBezTo>
                    <a:pt x="3012948" y="0"/>
                    <a:pt x="3130550" y="117475"/>
                    <a:pt x="3130550" y="262509"/>
                  </a:cubicBezTo>
                  <a:lnTo>
                    <a:pt x="3130550" y="1312291"/>
                  </a:lnTo>
                  <a:cubicBezTo>
                    <a:pt x="3130550" y="1457198"/>
                    <a:pt x="3013075" y="1574800"/>
                    <a:pt x="2868041" y="1574800"/>
                  </a:cubicBezTo>
                  <a:lnTo>
                    <a:pt x="262509" y="1574800"/>
                  </a:lnTo>
                  <a:cubicBezTo>
                    <a:pt x="117475" y="1574800"/>
                    <a:pt x="0" y="1457198"/>
                    <a:pt x="0" y="1312291"/>
                  </a:cubicBezTo>
                  <a:close/>
                </a:path>
              </a:pathLst>
            </a:custGeom>
            <a:solidFill>
              <a:srgbClr val="1E222D"/>
            </a:solidFill>
            <a:ln w="14299" cap="sq">
              <a:solidFill>
                <a:srgbClr val="5CAEFF"/>
              </a:solidFill>
              <a:prstDash val="solid"/>
              <a:miter/>
            </a:ln>
          </p:spPr>
          <p:txBody>
            <a:bodyPr/>
            <a:lstStyle/>
            <a:p>
              <a:endParaRPr lang="en-IN"/>
            </a:p>
          </p:txBody>
        </p:sp>
      </p:grpSp>
      <p:grpSp>
        <p:nvGrpSpPr>
          <p:cNvPr id="16" name="Group 16"/>
          <p:cNvGrpSpPr/>
          <p:nvPr/>
        </p:nvGrpSpPr>
        <p:grpSpPr>
          <a:xfrm>
            <a:off x="6286843" y="3294412"/>
            <a:ext cx="2113912" cy="1029500"/>
            <a:chOff x="0" y="0"/>
            <a:chExt cx="2818549" cy="1372667"/>
          </a:xfrm>
        </p:grpSpPr>
        <p:sp>
          <p:nvSpPr>
            <p:cNvPr id="17" name="Freeform 17"/>
            <p:cNvSpPr/>
            <p:nvPr/>
          </p:nvSpPr>
          <p:spPr>
            <a:xfrm>
              <a:off x="0" y="0"/>
              <a:ext cx="2818554" cy="1372672"/>
            </a:xfrm>
            <a:custGeom>
              <a:avLst/>
              <a:gdLst/>
              <a:ahLst/>
              <a:cxnLst/>
              <a:rect l="l" t="t" r="r" b="b"/>
              <a:pathLst>
                <a:path w="2818554" h="1372672">
                  <a:moveTo>
                    <a:pt x="0" y="0"/>
                  </a:moveTo>
                  <a:lnTo>
                    <a:pt x="2818554" y="0"/>
                  </a:lnTo>
                  <a:lnTo>
                    <a:pt x="2818554" y="1372672"/>
                  </a:lnTo>
                  <a:lnTo>
                    <a:pt x="0" y="1372672"/>
                  </a:lnTo>
                  <a:close/>
                </a:path>
              </a:pathLst>
            </a:custGeom>
            <a:blipFill>
              <a:blip r:embed="rId2">
                <a:alphaModFix amt="0"/>
              </a:blip>
              <a:stretch>
                <a:fillRect l="-12485" r="-12485"/>
              </a:stretch>
            </a:blipFill>
          </p:spPr>
          <p:txBody>
            <a:bodyPr/>
            <a:lstStyle/>
            <a:p>
              <a:endParaRPr lang="en-IN"/>
            </a:p>
          </p:txBody>
        </p:sp>
        <p:sp>
          <p:nvSpPr>
            <p:cNvPr id="18" name="TextBox 18"/>
            <p:cNvSpPr txBox="1"/>
            <p:nvPr/>
          </p:nvSpPr>
          <p:spPr>
            <a:xfrm>
              <a:off x="0" y="0"/>
              <a:ext cx="2818549" cy="1372667"/>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GridView</a:t>
              </a:r>
            </a:p>
          </p:txBody>
        </p:sp>
      </p:grpSp>
      <p:grpSp>
        <p:nvGrpSpPr>
          <p:cNvPr id="19" name="Group 19"/>
          <p:cNvGrpSpPr/>
          <p:nvPr/>
        </p:nvGrpSpPr>
        <p:grpSpPr>
          <a:xfrm>
            <a:off x="8846591" y="3218631"/>
            <a:ext cx="2896914" cy="1181071"/>
            <a:chOff x="0" y="0"/>
            <a:chExt cx="3862553" cy="1574762"/>
          </a:xfrm>
        </p:grpSpPr>
        <p:sp>
          <p:nvSpPr>
            <p:cNvPr id="20" name="Freeform 20"/>
            <p:cNvSpPr/>
            <p:nvPr/>
          </p:nvSpPr>
          <p:spPr>
            <a:xfrm>
              <a:off x="0" y="0"/>
              <a:ext cx="3862578" cy="1574800"/>
            </a:xfrm>
            <a:custGeom>
              <a:avLst/>
              <a:gdLst/>
              <a:ahLst/>
              <a:cxnLst/>
              <a:rect l="l" t="t" r="r" b="b"/>
              <a:pathLst>
                <a:path w="3862578" h="1574800">
                  <a:moveTo>
                    <a:pt x="0" y="262509"/>
                  </a:moveTo>
                  <a:cubicBezTo>
                    <a:pt x="0" y="117475"/>
                    <a:pt x="117475" y="0"/>
                    <a:pt x="262509" y="0"/>
                  </a:cubicBezTo>
                  <a:lnTo>
                    <a:pt x="3600069" y="0"/>
                  </a:lnTo>
                  <a:cubicBezTo>
                    <a:pt x="3744976" y="0"/>
                    <a:pt x="3862578" y="117475"/>
                    <a:pt x="3862578" y="262509"/>
                  </a:cubicBezTo>
                  <a:lnTo>
                    <a:pt x="3862578" y="1312291"/>
                  </a:lnTo>
                  <a:cubicBezTo>
                    <a:pt x="3862578" y="1457198"/>
                    <a:pt x="3745103" y="1574800"/>
                    <a:pt x="3600069" y="1574800"/>
                  </a:cubicBezTo>
                  <a:lnTo>
                    <a:pt x="262509" y="1574800"/>
                  </a:lnTo>
                  <a:cubicBezTo>
                    <a:pt x="117475" y="1574800"/>
                    <a:pt x="0" y="1457198"/>
                    <a:pt x="0" y="1312291"/>
                  </a:cubicBezTo>
                  <a:close/>
                </a:path>
              </a:pathLst>
            </a:custGeom>
            <a:solidFill>
              <a:srgbClr val="1E222D"/>
            </a:solidFill>
            <a:ln w="14299" cap="sq">
              <a:solidFill>
                <a:srgbClr val="FFB15C"/>
              </a:solidFill>
              <a:prstDash val="solid"/>
              <a:miter/>
            </a:ln>
          </p:spPr>
          <p:txBody>
            <a:bodyPr/>
            <a:lstStyle/>
            <a:p>
              <a:endParaRPr lang="en-IN"/>
            </a:p>
          </p:txBody>
        </p:sp>
      </p:grpSp>
      <p:grpSp>
        <p:nvGrpSpPr>
          <p:cNvPr id="21" name="Group 21"/>
          <p:cNvGrpSpPr/>
          <p:nvPr/>
        </p:nvGrpSpPr>
        <p:grpSpPr>
          <a:xfrm>
            <a:off x="8963549" y="3294412"/>
            <a:ext cx="2662980" cy="1029500"/>
            <a:chOff x="0" y="0"/>
            <a:chExt cx="3550641" cy="1372667"/>
          </a:xfrm>
        </p:grpSpPr>
        <p:sp>
          <p:nvSpPr>
            <p:cNvPr id="22" name="Freeform 22"/>
            <p:cNvSpPr/>
            <p:nvPr/>
          </p:nvSpPr>
          <p:spPr>
            <a:xfrm>
              <a:off x="0" y="0"/>
              <a:ext cx="3550646" cy="1372672"/>
            </a:xfrm>
            <a:custGeom>
              <a:avLst/>
              <a:gdLst/>
              <a:ahLst/>
              <a:cxnLst/>
              <a:rect l="l" t="t" r="r" b="b"/>
              <a:pathLst>
                <a:path w="3550646" h="1372672">
                  <a:moveTo>
                    <a:pt x="0" y="0"/>
                  </a:moveTo>
                  <a:lnTo>
                    <a:pt x="3550646" y="0"/>
                  </a:lnTo>
                  <a:lnTo>
                    <a:pt x="3550646" y="1372672"/>
                  </a:lnTo>
                  <a:lnTo>
                    <a:pt x="0" y="1372672"/>
                  </a:lnTo>
                  <a:close/>
                </a:path>
              </a:pathLst>
            </a:custGeom>
            <a:blipFill>
              <a:blip r:embed="rId2">
                <a:alphaModFix amt="0"/>
              </a:blip>
              <a:stretch>
                <a:fillRect t="-401" b="-401"/>
              </a:stretch>
            </a:blipFill>
          </p:spPr>
          <p:txBody>
            <a:bodyPr/>
            <a:lstStyle/>
            <a:p>
              <a:endParaRPr lang="en-IN"/>
            </a:p>
          </p:txBody>
        </p:sp>
        <p:sp>
          <p:nvSpPr>
            <p:cNvPr id="23" name="TextBox 23"/>
            <p:cNvSpPr txBox="1"/>
            <p:nvPr/>
          </p:nvSpPr>
          <p:spPr>
            <a:xfrm>
              <a:off x="0" y="0"/>
              <a:ext cx="3550641" cy="1372667"/>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PuzzleGameManager</a:t>
              </a:r>
            </a:p>
          </p:txBody>
        </p:sp>
      </p:grpSp>
      <p:grpSp>
        <p:nvGrpSpPr>
          <p:cNvPr id="24" name="Group 24"/>
          <p:cNvGrpSpPr/>
          <p:nvPr/>
        </p:nvGrpSpPr>
        <p:grpSpPr>
          <a:xfrm>
            <a:off x="12072366" y="3218631"/>
            <a:ext cx="2347846" cy="1181071"/>
            <a:chOff x="0" y="0"/>
            <a:chExt cx="3130461" cy="1574762"/>
          </a:xfrm>
        </p:grpSpPr>
        <p:sp>
          <p:nvSpPr>
            <p:cNvPr id="25" name="Freeform 25"/>
            <p:cNvSpPr/>
            <p:nvPr/>
          </p:nvSpPr>
          <p:spPr>
            <a:xfrm>
              <a:off x="0" y="0"/>
              <a:ext cx="3130550" cy="1574800"/>
            </a:xfrm>
            <a:custGeom>
              <a:avLst/>
              <a:gdLst/>
              <a:ahLst/>
              <a:cxnLst/>
              <a:rect l="l" t="t" r="r" b="b"/>
              <a:pathLst>
                <a:path w="3130550" h="1574800">
                  <a:moveTo>
                    <a:pt x="0" y="262509"/>
                  </a:moveTo>
                  <a:cubicBezTo>
                    <a:pt x="0" y="117475"/>
                    <a:pt x="117475" y="0"/>
                    <a:pt x="262509" y="0"/>
                  </a:cubicBezTo>
                  <a:lnTo>
                    <a:pt x="2868041" y="0"/>
                  </a:lnTo>
                  <a:cubicBezTo>
                    <a:pt x="3012948" y="0"/>
                    <a:pt x="3130550" y="117475"/>
                    <a:pt x="3130550" y="262509"/>
                  </a:cubicBezTo>
                  <a:lnTo>
                    <a:pt x="3130550" y="1312291"/>
                  </a:lnTo>
                  <a:cubicBezTo>
                    <a:pt x="3130550" y="1457198"/>
                    <a:pt x="3013075" y="1574800"/>
                    <a:pt x="2868041" y="1574800"/>
                  </a:cubicBezTo>
                  <a:lnTo>
                    <a:pt x="262509" y="1574800"/>
                  </a:lnTo>
                  <a:cubicBezTo>
                    <a:pt x="117475" y="1574800"/>
                    <a:pt x="0" y="1457198"/>
                    <a:pt x="0" y="1312291"/>
                  </a:cubicBezTo>
                  <a:close/>
                </a:path>
              </a:pathLst>
            </a:custGeom>
            <a:solidFill>
              <a:srgbClr val="1E222D"/>
            </a:solidFill>
            <a:ln w="14299" cap="sq">
              <a:solidFill>
                <a:srgbClr val="B189FF"/>
              </a:solidFill>
              <a:prstDash val="solid"/>
              <a:miter/>
            </a:ln>
          </p:spPr>
          <p:txBody>
            <a:bodyPr/>
            <a:lstStyle/>
            <a:p>
              <a:endParaRPr lang="en-IN"/>
            </a:p>
          </p:txBody>
        </p:sp>
      </p:grpSp>
      <p:grpSp>
        <p:nvGrpSpPr>
          <p:cNvPr id="26" name="Group 26"/>
          <p:cNvGrpSpPr/>
          <p:nvPr/>
        </p:nvGrpSpPr>
        <p:grpSpPr>
          <a:xfrm>
            <a:off x="12189333" y="3294412"/>
            <a:ext cx="2113912" cy="1029500"/>
            <a:chOff x="0" y="0"/>
            <a:chExt cx="2818549" cy="1372667"/>
          </a:xfrm>
        </p:grpSpPr>
        <p:sp>
          <p:nvSpPr>
            <p:cNvPr id="27" name="Freeform 27"/>
            <p:cNvSpPr/>
            <p:nvPr/>
          </p:nvSpPr>
          <p:spPr>
            <a:xfrm>
              <a:off x="0" y="0"/>
              <a:ext cx="2818554" cy="1372672"/>
            </a:xfrm>
            <a:custGeom>
              <a:avLst/>
              <a:gdLst/>
              <a:ahLst/>
              <a:cxnLst/>
              <a:rect l="l" t="t" r="r" b="b"/>
              <a:pathLst>
                <a:path w="2818554" h="1372672">
                  <a:moveTo>
                    <a:pt x="0" y="0"/>
                  </a:moveTo>
                  <a:lnTo>
                    <a:pt x="2818554" y="0"/>
                  </a:lnTo>
                  <a:lnTo>
                    <a:pt x="2818554" y="1372672"/>
                  </a:lnTo>
                  <a:lnTo>
                    <a:pt x="0" y="1372672"/>
                  </a:lnTo>
                  <a:close/>
                </a:path>
              </a:pathLst>
            </a:custGeom>
            <a:blipFill>
              <a:blip r:embed="rId2">
                <a:alphaModFix amt="0"/>
              </a:blip>
              <a:stretch>
                <a:fillRect l="-12485" r="-12485"/>
              </a:stretch>
            </a:blipFill>
          </p:spPr>
          <p:txBody>
            <a:bodyPr/>
            <a:lstStyle/>
            <a:p>
              <a:endParaRPr lang="en-IN"/>
            </a:p>
          </p:txBody>
        </p:sp>
        <p:sp>
          <p:nvSpPr>
            <p:cNvPr id="28" name="TextBox 28"/>
            <p:cNvSpPr txBox="1"/>
            <p:nvPr/>
          </p:nvSpPr>
          <p:spPr>
            <a:xfrm>
              <a:off x="0" y="0"/>
              <a:ext cx="2818549" cy="1372667"/>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GridModel</a:t>
              </a:r>
            </a:p>
          </p:txBody>
        </p:sp>
      </p:grpSp>
      <p:grpSp>
        <p:nvGrpSpPr>
          <p:cNvPr id="29" name="Group 29"/>
          <p:cNvGrpSpPr/>
          <p:nvPr/>
        </p:nvGrpSpPr>
        <p:grpSpPr>
          <a:xfrm>
            <a:off x="14749082" y="3218631"/>
            <a:ext cx="2759640" cy="1181071"/>
            <a:chOff x="0" y="0"/>
            <a:chExt cx="3679520" cy="1574762"/>
          </a:xfrm>
        </p:grpSpPr>
        <p:sp>
          <p:nvSpPr>
            <p:cNvPr id="30" name="Freeform 30"/>
            <p:cNvSpPr/>
            <p:nvPr/>
          </p:nvSpPr>
          <p:spPr>
            <a:xfrm>
              <a:off x="0" y="0"/>
              <a:ext cx="3679571" cy="1574800"/>
            </a:xfrm>
            <a:custGeom>
              <a:avLst/>
              <a:gdLst/>
              <a:ahLst/>
              <a:cxnLst/>
              <a:rect l="l" t="t" r="r" b="b"/>
              <a:pathLst>
                <a:path w="3679571" h="1574800">
                  <a:moveTo>
                    <a:pt x="0" y="262509"/>
                  </a:moveTo>
                  <a:cubicBezTo>
                    <a:pt x="0" y="117475"/>
                    <a:pt x="117475" y="0"/>
                    <a:pt x="262509" y="0"/>
                  </a:cubicBezTo>
                  <a:lnTo>
                    <a:pt x="3417062" y="0"/>
                  </a:lnTo>
                  <a:cubicBezTo>
                    <a:pt x="3561969" y="0"/>
                    <a:pt x="3679571" y="117475"/>
                    <a:pt x="3679571" y="262509"/>
                  </a:cubicBezTo>
                  <a:lnTo>
                    <a:pt x="3679571" y="1312291"/>
                  </a:lnTo>
                  <a:cubicBezTo>
                    <a:pt x="3679571" y="1457198"/>
                    <a:pt x="3562096" y="1574800"/>
                    <a:pt x="3417062" y="1574800"/>
                  </a:cubicBezTo>
                  <a:lnTo>
                    <a:pt x="262509" y="1574800"/>
                  </a:lnTo>
                  <a:cubicBezTo>
                    <a:pt x="117475" y="1574800"/>
                    <a:pt x="0" y="1457198"/>
                    <a:pt x="0" y="1312291"/>
                  </a:cubicBezTo>
                  <a:close/>
                </a:path>
              </a:pathLst>
            </a:custGeom>
            <a:solidFill>
              <a:srgbClr val="1E222D"/>
            </a:solidFill>
            <a:ln w="14299" cap="sq">
              <a:solidFill>
                <a:srgbClr val="66CD96"/>
              </a:solidFill>
              <a:prstDash val="solid"/>
              <a:miter/>
            </a:ln>
          </p:spPr>
          <p:txBody>
            <a:bodyPr/>
            <a:lstStyle/>
            <a:p>
              <a:endParaRPr lang="en-IN"/>
            </a:p>
          </p:txBody>
        </p:sp>
      </p:grpSp>
      <p:grpSp>
        <p:nvGrpSpPr>
          <p:cNvPr id="31" name="Group 31"/>
          <p:cNvGrpSpPr/>
          <p:nvPr/>
        </p:nvGrpSpPr>
        <p:grpSpPr>
          <a:xfrm>
            <a:off x="14866039" y="3294412"/>
            <a:ext cx="2525716" cy="1029500"/>
            <a:chOff x="0" y="0"/>
            <a:chExt cx="3367621" cy="1372667"/>
          </a:xfrm>
        </p:grpSpPr>
        <p:sp>
          <p:nvSpPr>
            <p:cNvPr id="32" name="Freeform 32"/>
            <p:cNvSpPr/>
            <p:nvPr/>
          </p:nvSpPr>
          <p:spPr>
            <a:xfrm>
              <a:off x="0" y="0"/>
              <a:ext cx="3367623" cy="1372672"/>
            </a:xfrm>
            <a:custGeom>
              <a:avLst/>
              <a:gdLst/>
              <a:ahLst/>
              <a:cxnLst/>
              <a:rect l="l" t="t" r="r" b="b"/>
              <a:pathLst>
                <a:path w="3367623" h="1372672">
                  <a:moveTo>
                    <a:pt x="0" y="0"/>
                  </a:moveTo>
                  <a:lnTo>
                    <a:pt x="3367623" y="0"/>
                  </a:lnTo>
                  <a:lnTo>
                    <a:pt x="3367623" y="1372672"/>
                  </a:lnTo>
                  <a:lnTo>
                    <a:pt x="0" y="1372672"/>
                  </a:lnTo>
                  <a:close/>
                </a:path>
              </a:pathLst>
            </a:custGeom>
            <a:blipFill>
              <a:blip r:embed="rId2">
                <a:alphaModFix amt="0"/>
              </a:blip>
              <a:stretch>
                <a:fillRect l="-2297" r="-2297"/>
              </a:stretch>
            </a:blipFill>
          </p:spPr>
          <p:txBody>
            <a:bodyPr/>
            <a:lstStyle/>
            <a:p>
              <a:endParaRPr lang="en-IN"/>
            </a:p>
          </p:txBody>
        </p:sp>
        <p:sp>
          <p:nvSpPr>
            <p:cNvPr id="33" name="TextBox 33"/>
            <p:cNvSpPr txBox="1"/>
            <p:nvPr/>
          </p:nvSpPr>
          <p:spPr>
            <a:xfrm>
              <a:off x="0" y="0"/>
              <a:ext cx="3367621" cy="1372667"/>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GridView.MoveTile</a:t>
              </a:r>
            </a:p>
          </p:txBody>
        </p:sp>
      </p:grpSp>
      <p:sp>
        <p:nvSpPr>
          <p:cNvPr id="34" name="AutoShape 34"/>
          <p:cNvSpPr/>
          <p:nvPr/>
        </p:nvSpPr>
        <p:spPr>
          <a:xfrm>
            <a:off x="3138078" y="3796963"/>
            <a:ext cx="411290" cy="38128"/>
          </a:xfrm>
          <a:prstGeom prst="line">
            <a:avLst/>
          </a:prstGeom>
          <a:ln w="19050" cap="rnd">
            <a:solidFill>
              <a:srgbClr val="5CAEFF"/>
            </a:solidFill>
            <a:prstDash val="solid"/>
            <a:headEnd type="none" w="sm" len="sm"/>
            <a:tailEnd type="none" w="sm" len="sm"/>
          </a:ln>
        </p:spPr>
        <p:txBody>
          <a:bodyPr/>
          <a:lstStyle/>
          <a:p>
            <a:endParaRPr/>
          </a:p>
        </p:txBody>
      </p:sp>
      <p:sp>
        <p:nvSpPr>
          <p:cNvPr id="35" name="AutoShape 35"/>
          <p:cNvSpPr/>
          <p:nvPr/>
        </p:nvSpPr>
        <p:spPr>
          <a:xfrm>
            <a:off x="5852923" y="3796972"/>
            <a:ext cx="316953" cy="132491"/>
          </a:xfrm>
          <a:prstGeom prst="line">
            <a:avLst/>
          </a:prstGeom>
          <a:ln w="19050" cap="rnd">
            <a:solidFill>
              <a:srgbClr val="5CAEFF"/>
            </a:solidFill>
            <a:prstDash val="solid"/>
            <a:headEnd type="none" w="sm" len="sm"/>
            <a:tailEnd type="none" w="sm" len="sm"/>
          </a:ln>
        </p:spPr>
        <p:txBody>
          <a:bodyPr/>
          <a:lstStyle/>
          <a:p>
            <a:endParaRPr/>
          </a:p>
        </p:txBody>
      </p:sp>
      <p:sp>
        <p:nvSpPr>
          <p:cNvPr id="36" name="AutoShape 36"/>
          <p:cNvSpPr/>
          <p:nvPr/>
        </p:nvSpPr>
        <p:spPr>
          <a:xfrm>
            <a:off x="8529641" y="3796967"/>
            <a:ext cx="304887" cy="81694"/>
          </a:xfrm>
          <a:prstGeom prst="line">
            <a:avLst/>
          </a:prstGeom>
          <a:ln w="19050" cap="rnd">
            <a:solidFill>
              <a:srgbClr val="5CAEFF"/>
            </a:solidFill>
            <a:prstDash val="solid"/>
            <a:headEnd type="none" w="sm" len="sm"/>
            <a:tailEnd type="none" w="sm" len="sm"/>
          </a:ln>
        </p:spPr>
        <p:txBody>
          <a:bodyPr/>
          <a:lstStyle/>
          <a:p>
            <a:endParaRPr/>
          </a:p>
        </p:txBody>
      </p:sp>
      <p:grpSp>
        <p:nvGrpSpPr>
          <p:cNvPr id="37" name="Group 37"/>
          <p:cNvGrpSpPr/>
          <p:nvPr/>
        </p:nvGrpSpPr>
        <p:grpSpPr>
          <a:xfrm>
            <a:off x="1365523" y="5483542"/>
            <a:ext cx="15525493" cy="2004670"/>
            <a:chOff x="0" y="0"/>
            <a:chExt cx="20700657" cy="2672893"/>
          </a:xfrm>
        </p:grpSpPr>
        <p:sp>
          <p:nvSpPr>
            <p:cNvPr id="38" name="Freeform 38"/>
            <p:cNvSpPr/>
            <p:nvPr/>
          </p:nvSpPr>
          <p:spPr>
            <a:xfrm>
              <a:off x="0" y="0"/>
              <a:ext cx="20700746" cy="2672969"/>
            </a:xfrm>
            <a:custGeom>
              <a:avLst/>
              <a:gdLst/>
              <a:ahLst/>
              <a:cxnLst/>
              <a:rect l="l" t="t" r="r" b="b"/>
              <a:pathLst>
                <a:path w="20700746" h="2672969">
                  <a:moveTo>
                    <a:pt x="0" y="445516"/>
                  </a:moveTo>
                  <a:cubicBezTo>
                    <a:pt x="0" y="199517"/>
                    <a:pt x="199517" y="0"/>
                    <a:pt x="445516" y="0"/>
                  </a:cubicBezTo>
                  <a:lnTo>
                    <a:pt x="20255230" y="0"/>
                  </a:lnTo>
                  <a:cubicBezTo>
                    <a:pt x="20501229" y="0"/>
                    <a:pt x="20700746" y="199517"/>
                    <a:pt x="20700746" y="445516"/>
                  </a:cubicBezTo>
                  <a:lnTo>
                    <a:pt x="20700746" y="2227453"/>
                  </a:lnTo>
                  <a:cubicBezTo>
                    <a:pt x="20700746" y="2473452"/>
                    <a:pt x="20501229" y="2672969"/>
                    <a:pt x="20255230" y="2672969"/>
                  </a:cubicBezTo>
                  <a:lnTo>
                    <a:pt x="445516" y="2672969"/>
                  </a:lnTo>
                  <a:cubicBezTo>
                    <a:pt x="199517" y="2672842"/>
                    <a:pt x="0" y="2473452"/>
                    <a:pt x="0" y="2227453"/>
                  </a:cubicBezTo>
                  <a:close/>
                </a:path>
              </a:pathLst>
            </a:custGeom>
            <a:solidFill>
              <a:srgbClr val="1E222D"/>
            </a:solidFill>
            <a:ln w="14299" cap="sq">
              <a:solidFill>
                <a:srgbClr val="272C3A"/>
              </a:solidFill>
              <a:prstDash val="solid"/>
              <a:miter/>
            </a:ln>
          </p:spPr>
          <p:txBody>
            <a:bodyPr/>
            <a:lstStyle/>
            <a:p>
              <a:endParaRPr lang="en-IN"/>
            </a:p>
          </p:txBody>
        </p:sp>
      </p:grpSp>
      <p:sp>
        <p:nvSpPr>
          <p:cNvPr id="39" name="TextBox 39"/>
          <p:cNvSpPr txBox="1"/>
          <p:nvPr/>
        </p:nvSpPr>
        <p:spPr>
          <a:xfrm>
            <a:off x="1766097" y="5742308"/>
            <a:ext cx="14724345" cy="457629"/>
          </a:xfrm>
          <a:prstGeom prst="rect">
            <a:avLst/>
          </a:prstGeom>
        </p:spPr>
        <p:txBody>
          <a:bodyPr lIns="0" tIns="0" rIns="0" bIns="0" rtlCol="0" anchor="t">
            <a:spAutoFit/>
          </a:bodyPr>
          <a:lstStyle/>
          <a:p>
            <a:pPr algn="l">
              <a:lnSpc>
                <a:spcPts val="2702"/>
              </a:lnSpc>
            </a:pPr>
            <a:r>
              <a:rPr lang="en-US" sz="2251" b="1" dirty="0">
                <a:solidFill>
                  <a:srgbClr val="FFB15C"/>
                </a:solidFill>
                <a:latin typeface="Aptos Bold"/>
                <a:ea typeface="Aptos Bold"/>
                <a:cs typeface="Aptos Bold"/>
                <a:sym typeface="Aptos Bold"/>
              </a:rPr>
              <a:t>State update</a:t>
            </a:r>
          </a:p>
        </p:txBody>
      </p:sp>
      <p:sp>
        <p:nvSpPr>
          <p:cNvPr id="40" name="TextBox 40"/>
          <p:cNvSpPr txBox="1"/>
          <p:nvPr/>
        </p:nvSpPr>
        <p:spPr>
          <a:xfrm>
            <a:off x="1724915" y="6307883"/>
            <a:ext cx="14724345" cy="577081"/>
          </a:xfrm>
          <a:prstGeom prst="rect">
            <a:avLst/>
          </a:prstGeom>
        </p:spPr>
        <p:txBody>
          <a:bodyPr lIns="0" tIns="0" rIns="0" bIns="0" rtlCol="0" anchor="t">
            <a:spAutoFit/>
          </a:bodyPr>
          <a:lstStyle/>
          <a:p>
            <a:pPr algn="l">
              <a:lnSpc>
                <a:spcPts val="2251"/>
              </a:lnSpc>
            </a:pPr>
            <a:r>
              <a:rPr dirty="0" err="1">
                <a:solidFill>
                  <a:schemeClr val="bg1"/>
                </a:solidFill>
              </a:rPr>
              <a:t>GridModel.TryMove</a:t>
            </a:r>
            <a:r>
              <a:rPr dirty="0">
                <a:solidFill>
                  <a:schemeClr val="bg1"/>
                </a:solidFill>
              </a:rPr>
              <a:t> validates the move and changes only the logical matrix. </a:t>
            </a:r>
            <a:r>
              <a:rPr dirty="0" err="1">
                <a:solidFill>
                  <a:schemeClr val="bg1"/>
                </a:solidFill>
              </a:rPr>
              <a:t>PuzzleGameManager</a:t>
            </a:r>
            <a:r>
              <a:rPr dirty="0">
                <a:solidFill>
                  <a:schemeClr val="bg1"/>
                </a:solidFill>
              </a:rPr>
              <a:t> creates and stores a </a:t>
            </a:r>
            <a:r>
              <a:rPr dirty="0" err="1">
                <a:solidFill>
                  <a:schemeClr val="bg1"/>
                </a:solidFill>
              </a:rPr>
              <a:t>BoardMove</a:t>
            </a:r>
            <a:r>
              <a:rPr dirty="0">
                <a:solidFill>
                  <a:schemeClr val="bg1"/>
                </a:solidFill>
              </a:rPr>
              <a:t>, registers it with </a:t>
            </a:r>
            <a:r>
              <a:rPr dirty="0" err="1">
                <a:solidFill>
                  <a:schemeClr val="bg1"/>
                </a:solidFill>
              </a:rPr>
              <a:t>IHintService</a:t>
            </a:r>
            <a:r>
              <a:rPr dirty="0">
                <a:solidFill>
                  <a:schemeClr val="bg1"/>
                </a:solidFill>
              </a:rPr>
              <a:t>, decrements remaining moves, then tells </a:t>
            </a:r>
            <a:r>
              <a:rPr dirty="0" err="1">
                <a:solidFill>
                  <a:schemeClr val="bg1"/>
                </a:solidFill>
              </a:rPr>
              <a:t>GridView</a:t>
            </a:r>
            <a:r>
              <a:rPr dirty="0">
                <a:solidFill>
                  <a:schemeClr val="bg1"/>
                </a:solidFill>
              </a:rPr>
              <a:t> to animate the tile.</a:t>
            </a:r>
          </a:p>
        </p:txBody>
      </p:sp>
      <p:sp>
        <p:nvSpPr>
          <p:cNvPr id="41" name="AutoShape 41"/>
          <p:cNvSpPr/>
          <p:nvPr/>
        </p:nvSpPr>
        <p:spPr>
          <a:xfrm>
            <a:off x="11714720" y="3806173"/>
            <a:ext cx="414993" cy="2994"/>
          </a:xfrm>
          <a:prstGeom prst="line">
            <a:avLst/>
          </a:prstGeom>
          <a:ln w="19050" cap="rnd">
            <a:solidFill>
              <a:srgbClr val="8E6944"/>
            </a:solidFill>
            <a:prstDash val="solid"/>
            <a:headEnd type="none" w="sm" len="sm"/>
            <a:tailEnd type="none" w="sm" len="sm"/>
          </a:ln>
        </p:spPr>
        <p:txBody>
          <a:bodyPr/>
          <a:lstStyle/>
          <a:p>
            <a:endParaRPr/>
          </a:p>
        </p:txBody>
      </p:sp>
      <p:sp>
        <p:nvSpPr>
          <p:cNvPr id="42" name="AutoShape 42"/>
          <p:cNvSpPr/>
          <p:nvPr/>
        </p:nvSpPr>
        <p:spPr>
          <a:xfrm>
            <a:off x="14382617" y="3796963"/>
            <a:ext cx="366464" cy="12203"/>
          </a:xfrm>
          <a:prstGeom prst="line">
            <a:avLst/>
          </a:prstGeom>
          <a:ln w="19050" cap="rnd">
            <a:solidFill>
              <a:srgbClr val="675596"/>
            </a:solidFill>
            <a:prstDash val="solid"/>
            <a:headEnd type="none" w="sm" len="sm"/>
            <a:tailEnd type="none" w="sm" len="sm"/>
          </a:ln>
        </p:spPr>
        <p:txBody>
          <a:bodyP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grpSp>
        <p:nvGrpSpPr>
          <p:cNvPr id="2" name="Group 2"/>
          <p:cNvGrpSpPr/>
          <p:nvPr/>
        </p:nvGrpSpPr>
        <p:grpSpPr>
          <a:xfrm>
            <a:off x="983675" y="8461953"/>
            <a:ext cx="16074561" cy="1386973"/>
            <a:chOff x="0" y="0"/>
            <a:chExt cx="21432749" cy="1849298"/>
          </a:xfrm>
        </p:grpSpPr>
        <p:sp>
          <p:nvSpPr>
            <p:cNvPr id="3" name="Freeform 3"/>
            <p:cNvSpPr/>
            <p:nvPr/>
          </p:nvSpPr>
          <p:spPr>
            <a:xfrm>
              <a:off x="0" y="0"/>
              <a:ext cx="21432774" cy="1849247"/>
            </a:xfrm>
            <a:custGeom>
              <a:avLst/>
              <a:gdLst/>
              <a:ahLst/>
              <a:cxnLst/>
              <a:rect l="l" t="t" r="r" b="b"/>
              <a:pathLst>
                <a:path w="21432774" h="1849247">
                  <a:moveTo>
                    <a:pt x="0" y="308229"/>
                  </a:moveTo>
                  <a:cubicBezTo>
                    <a:pt x="0" y="138049"/>
                    <a:pt x="138049" y="0"/>
                    <a:pt x="308229" y="0"/>
                  </a:cubicBezTo>
                  <a:lnTo>
                    <a:pt x="21124545" y="0"/>
                  </a:lnTo>
                  <a:cubicBezTo>
                    <a:pt x="21294725" y="0"/>
                    <a:pt x="21432774" y="138049"/>
                    <a:pt x="21432774" y="308229"/>
                  </a:cubicBezTo>
                  <a:lnTo>
                    <a:pt x="21432774" y="1541018"/>
                  </a:lnTo>
                  <a:cubicBezTo>
                    <a:pt x="21432774" y="1711198"/>
                    <a:pt x="21294725" y="1849247"/>
                    <a:pt x="21124545" y="1849247"/>
                  </a:cubicBezTo>
                  <a:lnTo>
                    <a:pt x="308229" y="1849247"/>
                  </a:lnTo>
                  <a:cubicBezTo>
                    <a:pt x="138049" y="1849247"/>
                    <a:pt x="0" y="1711325"/>
                    <a:pt x="0" y="1541018"/>
                  </a:cubicBezTo>
                  <a:close/>
                </a:path>
              </a:pathLst>
            </a:custGeom>
            <a:solidFill>
              <a:srgbClr val="1E222D"/>
            </a:solidFill>
            <a:ln w="14299" cap="sq">
              <a:solidFill>
                <a:srgbClr val="272C3A"/>
              </a:solidFill>
              <a:prstDash val="solid"/>
              <a:miter/>
            </a:ln>
          </p:spPr>
          <p:txBody>
            <a:bodyPr/>
            <a:lstStyle/>
            <a:p>
              <a:endParaRPr lang="en-IN"/>
            </a:p>
          </p:txBody>
        </p:sp>
      </p:grpSp>
      <p:sp>
        <p:nvSpPr>
          <p:cNvPr id="4" name="Freeform 4"/>
          <p:cNvSpPr/>
          <p:nvPr/>
        </p:nvSpPr>
        <p:spPr>
          <a:xfrm>
            <a:off x="1011126" y="1807797"/>
            <a:ext cx="4662488" cy="3602214"/>
          </a:xfrm>
          <a:custGeom>
            <a:avLst/>
            <a:gdLst/>
            <a:ahLst/>
            <a:cxnLst/>
            <a:rect l="l" t="t" r="r" b="b"/>
            <a:pathLst>
              <a:path w="4662488" h="3602214">
                <a:moveTo>
                  <a:pt x="0" y="0"/>
                </a:moveTo>
                <a:lnTo>
                  <a:pt x="4662489" y="0"/>
                </a:lnTo>
                <a:lnTo>
                  <a:pt x="4662489" y="3602214"/>
                </a:lnTo>
                <a:lnTo>
                  <a:pt x="0" y="3602214"/>
                </a:lnTo>
                <a:lnTo>
                  <a:pt x="0" y="0"/>
                </a:lnTo>
                <a:close/>
              </a:path>
            </a:pathLst>
          </a:custGeom>
          <a:blipFill>
            <a:blip r:embed="rId2"/>
            <a:stretch>
              <a:fillRect/>
            </a:stretch>
          </a:blipFill>
        </p:spPr>
        <p:txBody>
          <a:bodyPr/>
          <a:lstStyle/>
          <a:p>
            <a:endParaRPr/>
          </a:p>
        </p:txBody>
      </p:sp>
      <p:sp>
        <p:nvSpPr>
          <p:cNvPr id="5" name="Freeform 5"/>
          <p:cNvSpPr/>
          <p:nvPr/>
        </p:nvSpPr>
        <p:spPr>
          <a:xfrm>
            <a:off x="10280099" y="1807797"/>
            <a:ext cx="7061402" cy="3602214"/>
          </a:xfrm>
          <a:custGeom>
            <a:avLst/>
            <a:gdLst/>
            <a:ahLst/>
            <a:cxnLst/>
            <a:rect l="l" t="t" r="r" b="b"/>
            <a:pathLst>
              <a:path w="7061402" h="3602214">
                <a:moveTo>
                  <a:pt x="0" y="0"/>
                </a:moveTo>
                <a:lnTo>
                  <a:pt x="7061402" y="0"/>
                </a:lnTo>
                <a:lnTo>
                  <a:pt x="7061402" y="3602214"/>
                </a:lnTo>
                <a:lnTo>
                  <a:pt x="0" y="3602214"/>
                </a:lnTo>
                <a:lnTo>
                  <a:pt x="0" y="0"/>
                </a:lnTo>
                <a:close/>
              </a:path>
            </a:pathLst>
          </a:custGeom>
          <a:blipFill>
            <a:blip r:embed="rId3"/>
            <a:stretch>
              <a:fillRect l="-2127" r="-2127"/>
            </a:stretch>
          </a:blipFill>
        </p:spPr>
        <p:txBody>
          <a:bodyPr/>
          <a:lstStyle/>
          <a:p>
            <a:endParaRPr/>
          </a:p>
        </p:txBody>
      </p:sp>
      <p:sp>
        <p:nvSpPr>
          <p:cNvPr id="6" name="Freeform 6"/>
          <p:cNvSpPr/>
          <p:nvPr/>
        </p:nvSpPr>
        <p:spPr>
          <a:xfrm>
            <a:off x="5673615" y="1793163"/>
            <a:ext cx="4565769" cy="3616849"/>
          </a:xfrm>
          <a:custGeom>
            <a:avLst/>
            <a:gdLst/>
            <a:ahLst/>
            <a:cxnLst/>
            <a:rect l="l" t="t" r="r" b="b"/>
            <a:pathLst>
              <a:path w="4565769" h="3616849">
                <a:moveTo>
                  <a:pt x="0" y="0"/>
                </a:moveTo>
                <a:lnTo>
                  <a:pt x="4565769" y="0"/>
                </a:lnTo>
                <a:lnTo>
                  <a:pt x="4565769" y="3616848"/>
                </a:lnTo>
                <a:lnTo>
                  <a:pt x="0" y="3616848"/>
                </a:lnTo>
                <a:lnTo>
                  <a:pt x="0" y="0"/>
                </a:lnTo>
                <a:close/>
              </a:path>
            </a:pathLst>
          </a:custGeom>
          <a:blipFill>
            <a:blip r:embed="rId4"/>
            <a:stretch>
              <a:fillRect r="-27741"/>
            </a:stretch>
          </a:blipFill>
        </p:spPr>
        <p:txBody>
          <a:bodyPr/>
          <a:lstStyle/>
          <a:p>
            <a:endParaRPr/>
          </a:p>
        </p:txBody>
      </p:sp>
      <p:sp>
        <p:nvSpPr>
          <p:cNvPr id="7" name="TextBox 7"/>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4. GridModel — Responsibility</a:t>
            </a:r>
          </a:p>
        </p:txBody>
      </p:sp>
      <p:sp>
        <p:nvSpPr>
          <p:cNvPr id="8" name="TextBox 8"/>
          <p:cNvSpPr txBox="1"/>
          <p:nvPr/>
        </p:nvSpPr>
        <p:spPr>
          <a:xfrm>
            <a:off x="1011126" y="1436322"/>
            <a:ext cx="16151924" cy="323850"/>
          </a:xfrm>
          <a:prstGeom prst="rect">
            <a:avLst/>
          </a:prstGeom>
        </p:spPr>
        <p:txBody>
          <a:bodyPr lIns="0" tIns="0" rIns="0" bIns="0" rtlCol="0" anchor="t">
            <a:spAutoFit/>
          </a:bodyPr>
          <a:lstStyle/>
          <a:p>
            <a:pPr algn="l">
              <a:lnSpc>
                <a:spcPts val="2520"/>
              </a:lnSpc>
            </a:pPr>
            <a:r>
              <a:rPr lang="en-US" sz="2100">
                <a:solidFill>
                  <a:srgbClr val="A7AFBF"/>
                </a:solidFill>
                <a:latin typeface="Aptos"/>
                <a:ea typeface="Aptos"/>
                <a:cs typeface="Aptos"/>
                <a:sym typeface="Aptos"/>
              </a:rPr>
              <a:t>The logical board is the source of truth</a:t>
            </a:r>
          </a:p>
        </p:txBody>
      </p:sp>
      <p:sp>
        <p:nvSpPr>
          <p:cNvPr id="9" name="TextBox 9"/>
          <p:cNvSpPr txBox="1"/>
          <p:nvPr/>
        </p:nvSpPr>
        <p:spPr>
          <a:xfrm>
            <a:off x="1028700" y="5693919"/>
            <a:ext cx="7641355" cy="2743200"/>
          </a:xfrm>
          <a:prstGeom prst="rect">
            <a:avLst/>
          </a:prstGeom>
        </p:spPr>
        <p:txBody>
          <a:bodyPr lIns="0" tIns="0" rIns="0" bIns="0" rtlCol="0" anchor="t">
            <a:spAutoFit/>
          </a:bodyPr>
          <a:lstStyle/>
          <a:p>
            <a:pPr algn="l">
              <a:lnSpc>
                <a:spcPts val="2702"/>
              </a:lnSpc>
            </a:pPr>
            <a:r>
              <a:rPr lang="en-US" sz="2251">
                <a:solidFill>
                  <a:srgbClr val="EEF1F7"/>
                </a:solidFill>
                <a:latin typeface="Aptos"/>
                <a:ea typeface="Aptos"/>
                <a:cs typeface="Aptos"/>
                <a:sym typeface="Aptos"/>
              </a:rPr>
              <a:t>• Stores rows, columns, empty-space count and the integer matrix.</a:t>
            </a:r>
          </a:p>
          <a:p>
            <a:pPr algn="l">
              <a:lnSpc>
                <a:spcPts val="2702"/>
              </a:lnSpc>
            </a:pPr>
            <a:r>
              <a:rPr lang="en-US" sz="2251">
                <a:solidFill>
                  <a:srgbClr val="EEF1F7"/>
                </a:solidFill>
                <a:latin typeface="Aptos"/>
                <a:ea typeface="Aptos"/>
                <a:cs typeface="Aptos"/>
                <a:sym typeface="Aptos"/>
              </a:rPr>
              <a:t>• Uses EmptyCell = -1 to represent an empty slot.</a:t>
            </a:r>
          </a:p>
          <a:p>
            <a:pPr algn="l">
              <a:lnSpc>
                <a:spcPts val="2702"/>
              </a:lnSpc>
            </a:pPr>
            <a:r>
              <a:rPr lang="en-US" sz="2251">
                <a:solidFill>
                  <a:srgbClr val="EEF1F7"/>
                </a:solidFill>
                <a:latin typeface="Aptos"/>
                <a:ea typeface="Aptos"/>
                <a:cs typeface="Aptos"/>
                <a:sym typeface="Aptos"/>
              </a:rPr>
              <a:t>• Validates coordinates before accessing the matrix.</a:t>
            </a:r>
          </a:p>
          <a:p>
            <a:pPr algn="l">
              <a:lnSpc>
                <a:spcPts val="2702"/>
              </a:lnSpc>
            </a:pPr>
            <a:r>
              <a:rPr lang="en-US" sz="2251">
                <a:solidFill>
                  <a:srgbClr val="EEF1F7"/>
                </a:solidFill>
                <a:latin typeface="Aptos"/>
                <a:ea typeface="Aptos"/>
                <a:cs typeface="Aptos"/>
                <a:sym typeface="Aptos"/>
              </a:rPr>
              <a:t>• Performs moves without knowing anything about GameObjects or UI.</a:t>
            </a:r>
          </a:p>
          <a:p>
            <a:pPr algn="l">
              <a:lnSpc>
                <a:spcPts val="2702"/>
              </a:lnSpc>
            </a:pPr>
            <a:r>
              <a:rPr lang="en-US" sz="2251">
                <a:solidFill>
                  <a:srgbClr val="EEF1F7"/>
                </a:solidFill>
                <a:latin typeface="Aptos"/>
                <a:ea typeface="Aptos"/>
                <a:cs typeface="Aptos"/>
                <a:sym typeface="Aptos"/>
              </a:rPr>
              <a:t>• Tracks empty positions so move discovery does not need to scan the entire matrix every time.</a:t>
            </a:r>
          </a:p>
        </p:txBody>
      </p:sp>
      <p:sp>
        <p:nvSpPr>
          <p:cNvPr id="10" name="TextBox 10"/>
          <p:cNvSpPr txBox="1"/>
          <p:nvPr/>
        </p:nvSpPr>
        <p:spPr>
          <a:xfrm>
            <a:off x="1384259" y="8720719"/>
            <a:ext cx="15273414" cy="457629"/>
          </a:xfrm>
          <a:prstGeom prst="rect">
            <a:avLst/>
          </a:prstGeom>
        </p:spPr>
        <p:txBody>
          <a:bodyPr lIns="0" tIns="0" rIns="0" bIns="0" rtlCol="0" anchor="t">
            <a:spAutoFit/>
          </a:bodyPr>
          <a:lstStyle/>
          <a:p>
            <a:pPr algn="l">
              <a:lnSpc>
                <a:spcPts val="2702"/>
              </a:lnSpc>
            </a:pPr>
            <a:r>
              <a:rPr lang="en-US" sz="2251" b="1">
                <a:solidFill>
                  <a:srgbClr val="B189FF"/>
                </a:solidFill>
                <a:latin typeface="Aptos Bold"/>
                <a:ea typeface="Aptos Bold"/>
                <a:cs typeface="Aptos Bold"/>
                <a:sym typeface="Aptos Bold"/>
              </a:rPr>
              <a:t>Key functions</a:t>
            </a:r>
          </a:p>
        </p:txBody>
      </p:sp>
      <p:sp>
        <p:nvSpPr>
          <p:cNvPr id="11" name="TextBox 11"/>
          <p:cNvSpPr txBox="1"/>
          <p:nvPr/>
        </p:nvSpPr>
        <p:spPr>
          <a:xfrm>
            <a:off x="1384259" y="9178348"/>
            <a:ext cx="15273414" cy="183090"/>
          </a:xfrm>
          <a:prstGeom prst="rect">
            <a:avLst/>
          </a:prstGeom>
        </p:spPr>
        <p:txBody>
          <a:bodyPr lIns="0" tIns="0" rIns="0" bIns="0" rtlCol="0" anchor="t">
            <a:spAutoFit/>
          </a:bodyPr>
          <a:lstStyle/>
          <a:p>
            <a:pPr algn="l">
              <a:lnSpc>
                <a:spcPts val="2251"/>
              </a:lnSpc>
            </a:pPr>
            <a:r>
              <a:rPr lang="en-US" sz="1876" dirty="0" err="1">
                <a:solidFill>
                  <a:srgbClr val="EEF1F7"/>
                </a:solidFill>
                <a:latin typeface="Aptos"/>
                <a:ea typeface="Aptos"/>
                <a:cs typeface="Aptos"/>
                <a:sym typeface="Aptos"/>
              </a:rPr>
              <a:t>GetCell</a:t>
            </a:r>
            <a:r>
              <a:rPr lang="en-US" sz="1876" dirty="0">
                <a:solidFill>
                  <a:srgbClr val="EEF1F7"/>
                </a:solidFill>
                <a:latin typeface="Aptos"/>
                <a:ea typeface="Aptos"/>
                <a:cs typeface="Aptos"/>
                <a:sym typeface="Aptos"/>
              </a:rPr>
              <a:t> • </a:t>
            </a:r>
            <a:r>
              <a:rPr lang="en-US" sz="1876" dirty="0" err="1">
                <a:solidFill>
                  <a:srgbClr val="EEF1F7"/>
                </a:solidFill>
                <a:latin typeface="Aptos"/>
                <a:ea typeface="Aptos"/>
                <a:cs typeface="Aptos"/>
                <a:sym typeface="Aptos"/>
              </a:rPr>
              <a:t>TryMove</a:t>
            </a:r>
            <a:r>
              <a:rPr lang="en-US" sz="1876" dirty="0">
                <a:solidFill>
                  <a:srgbClr val="EEF1F7"/>
                </a:solidFill>
                <a:latin typeface="Aptos"/>
                <a:ea typeface="Aptos"/>
                <a:cs typeface="Aptos"/>
                <a:sym typeface="Aptos"/>
              </a:rPr>
              <a:t>(direction, ...) • </a:t>
            </a:r>
            <a:r>
              <a:rPr lang="en-US" sz="1876" dirty="0" err="1">
                <a:solidFill>
                  <a:srgbClr val="EEF1F7"/>
                </a:solidFill>
                <a:latin typeface="Aptos"/>
                <a:ea typeface="Aptos"/>
                <a:cs typeface="Aptos"/>
                <a:sym typeface="Aptos"/>
              </a:rPr>
              <a:t>TryMove</a:t>
            </a:r>
            <a:r>
              <a:rPr lang="en-US" sz="1876" dirty="0">
                <a:solidFill>
                  <a:srgbClr val="EEF1F7"/>
                </a:solidFill>
                <a:latin typeface="Aptos"/>
                <a:ea typeface="Aptos"/>
                <a:cs typeface="Aptos"/>
                <a:sym typeface="Aptos"/>
              </a:rPr>
              <a:t>(</a:t>
            </a:r>
            <a:r>
              <a:rPr lang="en-US" sz="1876" dirty="0" err="1">
                <a:solidFill>
                  <a:srgbClr val="EEF1F7"/>
                </a:solidFill>
                <a:latin typeface="Aptos"/>
                <a:ea typeface="Aptos"/>
                <a:cs typeface="Aptos"/>
                <a:sym typeface="Aptos"/>
              </a:rPr>
              <a:t>sourcePosition</a:t>
            </a:r>
            <a:r>
              <a:rPr lang="en-US" sz="1876" dirty="0">
                <a:solidFill>
                  <a:srgbClr val="EEF1F7"/>
                </a:solidFill>
                <a:latin typeface="Aptos"/>
                <a:ea typeface="Aptos"/>
                <a:cs typeface="Aptos"/>
                <a:sym typeface="Aptos"/>
              </a:rPr>
              <a:t>, direction, ...) • </a:t>
            </a:r>
            <a:r>
              <a:rPr lang="en-US" sz="1876" dirty="0" err="1">
                <a:solidFill>
                  <a:srgbClr val="EEF1F7"/>
                </a:solidFill>
                <a:latin typeface="Aptos"/>
                <a:ea typeface="Aptos"/>
                <a:cs typeface="Aptos"/>
                <a:sym typeface="Aptos"/>
              </a:rPr>
              <a:t>UndoMove</a:t>
            </a:r>
            <a:r>
              <a:rPr lang="en-US" sz="1876" dirty="0">
                <a:solidFill>
                  <a:srgbClr val="EEF1F7"/>
                </a:solidFill>
                <a:latin typeface="Aptos"/>
                <a:ea typeface="Aptos"/>
                <a:cs typeface="Aptos"/>
                <a:sym typeface="Aptos"/>
              </a:rPr>
              <a:t> • </a:t>
            </a:r>
            <a:r>
              <a:rPr lang="en-US" sz="1876" dirty="0" err="1">
                <a:solidFill>
                  <a:srgbClr val="EEF1F7"/>
                </a:solidFill>
                <a:latin typeface="Aptos"/>
                <a:ea typeface="Aptos"/>
                <a:cs typeface="Aptos"/>
                <a:sym typeface="Aptos"/>
              </a:rPr>
              <a:t>CanMove</a:t>
            </a:r>
            <a:r>
              <a:rPr lang="en-US" sz="1876" dirty="0">
                <a:solidFill>
                  <a:srgbClr val="EEF1F7"/>
                </a:solidFill>
                <a:latin typeface="Aptos"/>
                <a:ea typeface="Aptos"/>
                <a:cs typeface="Aptos"/>
                <a:sym typeface="Aptos"/>
              </a:rPr>
              <a:t> • </a:t>
            </a:r>
            <a:r>
              <a:rPr lang="en-US" sz="1876" dirty="0" err="1">
                <a:solidFill>
                  <a:srgbClr val="EEF1F7"/>
                </a:solidFill>
                <a:latin typeface="Aptos"/>
                <a:ea typeface="Aptos"/>
                <a:cs typeface="Aptos"/>
                <a:sym typeface="Aptos"/>
              </a:rPr>
              <a:t>IsSolved</a:t>
            </a:r>
            <a:r>
              <a:rPr lang="en-US" sz="1876" dirty="0">
                <a:solidFill>
                  <a:srgbClr val="EEF1F7"/>
                </a:solidFill>
                <a:latin typeface="Aptos"/>
                <a:ea typeface="Aptos"/>
                <a:cs typeface="Aptos"/>
                <a:sym typeface="Aptos"/>
              </a:rPr>
              <a:t> • InitializeSolved • </a:t>
            </a:r>
            <a:r>
              <a:rPr lang="en-US" sz="1876" dirty="0" err="1">
                <a:solidFill>
                  <a:srgbClr val="EEF1F7"/>
                </a:solidFill>
                <a:latin typeface="Aptos"/>
                <a:ea typeface="Aptos"/>
                <a:cs typeface="Aptos"/>
                <a:sym typeface="Aptos"/>
              </a:rPr>
              <a:t>ReplaceEmptyPosition</a:t>
            </a:r>
            <a:endParaRPr lang="en-US" sz="1876" dirty="0">
              <a:solidFill>
                <a:srgbClr val="EEF1F7"/>
              </a:solidFill>
              <a:latin typeface="Aptos"/>
              <a:ea typeface="Aptos"/>
              <a:cs typeface="Aptos"/>
              <a:sym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grpSp>
        <p:nvGrpSpPr>
          <p:cNvPr id="2" name="Group 2"/>
          <p:cNvGrpSpPr/>
          <p:nvPr/>
        </p:nvGrpSpPr>
        <p:grpSpPr>
          <a:xfrm>
            <a:off x="1022356" y="1983229"/>
            <a:ext cx="7838532" cy="5230454"/>
            <a:chOff x="0" y="0"/>
            <a:chExt cx="10451376" cy="6973938"/>
          </a:xfrm>
        </p:grpSpPr>
        <p:sp>
          <p:nvSpPr>
            <p:cNvPr id="3" name="Freeform 3"/>
            <p:cNvSpPr/>
            <p:nvPr/>
          </p:nvSpPr>
          <p:spPr>
            <a:xfrm>
              <a:off x="0" y="0"/>
              <a:ext cx="10451338" cy="6973951"/>
            </a:xfrm>
            <a:custGeom>
              <a:avLst/>
              <a:gdLst/>
              <a:ahLst/>
              <a:cxnLst/>
              <a:rect l="l" t="t" r="r" b="b"/>
              <a:pathLst>
                <a:path w="10451338" h="6973951">
                  <a:moveTo>
                    <a:pt x="0" y="1162304"/>
                  </a:moveTo>
                  <a:cubicBezTo>
                    <a:pt x="0" y="520446"/>
                    <a:pt x="520446" y="0"/>
                    <a:pt x="1162304" y="0"/>
                  </a:cubicBezTo>
                  <a:lnTo>
                    <a:pt x="9289035" y="0"/>
                  </a:lnTo>
                  <a:cubicBezTo>
                    <a:pt x="9931019" y="0"/>
                    <a:pt x="10451338" y="520446"/>
                    <a:pt x="10451338" y="1162304"/>
                  </a:cubicBezTo>
                  <a:lnTo>
                    <a:pt x="10451338" y="5811647"/>
                  </a:lnTo>
                  <a:cubicBezTo>
                    <a:pt x="10451338" y="6453632"/>
                    <a:pt x="9930892" y="6973951"/>
                    <a:pt x="9289035" y="6973951"/>
                  </a:cubicBezTo>
                  <a:lnTo>
                    <a:pt x="1162304" y="6973951"/>
                  </a:lnTo>
                  <a:cubicBezTo>
                    <a:pt x="520446" y="6973951"/>
                    <a:pt x="0" y="6453505"/>
                    <a:pt x="0" y="5811647"/>
                  </a:cubicBezTo>
                  <a:close/>
                </a:path>
              </a:pathLst>
            </a:custGeom>
            <a:solidFill>
              <a:srgbClr val="1E222D"/>
            </a:solidFill>
            <a:ln w="14299" cap="sq">
              <a:solidFill>
                <a:srgbClr val="272C3A"/>
              </a:solidFill>
              <a:prstDash val="solid"/>
              <a:miter/>
            </a:ln>
          </p:spPr>
          <p:txBody>
            <a:bodyPr/>
            <a:lstStyle/>
            <a:p>
              <a:endParaRPr lang="en-IN"/>
            </a:p>
          </p:txBody>
        </p:sp>
      </p:grpSp>
      <p:grpSp>
        <p:nvGrpSpPr>
          <p:cNvPr id="4" name="Group 4"/>
          <p:cNvGrpSpPr/>
          <p:nvPr/>
        </p:nvGrpSpPr>
        <p:grpSpPr>
          <a:xfrm>
            <a:off x="9372616" y="2129769"/>
            <a:ext cx="8217466" cy="4937374"/>
            <a:chOff x="0" y="0"/>
            <a:chExt cx="11607000" cy="6973938"/>
          </a:xfrm>
        </p:grpSpPr>
        <p:sp>
          <p:nvSpPr>
            <p:cNvPr id="5" name="Freeform 5"/>
            <p:cNvSpPr/>
            <p:nvPr/>
          </p:nvSpPr>
          <p:spPr>
            <a:xfrm>
              <a:off x="0" y="0"/>
              <a:ext cx="11607013" cy="6973951"/>
            </a:xfrm>
            <a:custGeom>
              <a:avLst/>
              <a:gdLst/>
              <a:ahLst/>
              <a:cxnLst/>
              <a:rect l="l" t="t" r="r" b="b"/>
              <a:pathLst>
                <a:path w="11607013" h="6973951">
                  <a:moveTo>
                    <a:pt x="0" y="0"/>
                  </a:moveTo>
                  <a:lnTo>
                    <a:pt x="11607013" y="0"/>
                  </a:lnTo>
                  <a:lnTo>
                    <a:pt x="11607013" y="6973951"/>
                  </a:lnTo>
                  <a:lnTo>
                    <a:pt x="0" y="6973951"/>
                  </a:lnTo>
                  <a:close/>
                </a:path>
              </a:pathLst>
            </a:custGeom>
            <a:blipFill>
              <a:blip r:embed="rId2"/>
              <a:stretch>
                <a:fillRect l="-356" r="-356"/>
              </a:stretch>
            </a:blipFill>
            <a:ln w="14299" cap="sq">
              <a:solidFill>
                <a:srgbClr val="5CAEFF"/>
              </a:solidFill>
              <a:prstDash val="solid"/>
              <a:miter/>
            </a:ln>
          </p:spPr>
          <p:txBody>
            <a:bodyPr/>
            <a:lstStyle/>
            <a:p>
              <a:endParaRPr lang="en-IN"/>
            </a:p>
          </p:txBody>
        </p:sp>
      </p:grpSp>
      <p:grpSp>
        <p:nvGrpSpPr>
          <p:cNvPr id="6" name="Group 6"/>
          <p:cNvGrpSpPr/>
          <p:nvPr/>
        </p:nvGrpSpPr>
        <p:grpSpPr>
          <a:xfrm>
            <a:off x="1022356" y="7611180"/>
            <a:ext cx="16143199" cy="1647120"/>
            <a:chOff x="0" y="0"/>
            <a:chExt cx="21524265" cy="2196160"/>
          </a:xfrm>
        </p:grpSpPr>
        <p:sp>
          <p:nvSpPr>
            <p:cNvPr id="7" name="Freeform 7"/>
            <p:cNvSpPr/>
            <p:nvPr/>
          </p:nvSpPr>
          <p:spPr>
            <a:xfrm>
              <a:off x="0" y="0"/>
              <a:ext cx="21524342" cy="2196198"/>
            </a:xfrm>
            <a:custGeom>
              <a:avLst/>
              <a:gdLst/>
              <a:ahLst/>
              <a:cxnLst/>
              <a:rect l="l" t="t" r="r" b="b"/>
              <a:pathLst>
                <a:path w="21524342" h="2196198">
                  <a:moveTo>
                    <a:pt x="0" y="366095"/>
                  </a:moveTo>
                  <a:cubicBezTo>
                    <a:pt x="0" y="163830"/>
                    <a:pt x="117475" y="0"/>
                    <a:pt x="262509" y="0"/>
                  </a:cubicBezTo>
                  <a:lnTo>
                    <a:pt x="21261832" y="0"/>
                  </a:lnTo>
                  <a:cubicBezTo>
                    <a:pt x="21406740" y="0"/>
                    <a:pt x="21524342" y="163830"/>
                    <a:pt x="21524342" y="366095"/>
                  </a:cubicBezTo>
                  <a:lnTo>
                    <a:pt x="21524342" y="1830119"/>
                  </a:lnTo>
                  <a:cubicBezTo>
                    <a:pt x="21524342" y="2032206"/>
                    <a:pt x="21406867" y="2196198"/>
                    <a:pt x="21261832" y="2196198"/>
                  </a:cubicBezTo>
                  <a:lnTo>
                    <a:pt x="262509" y="2196198"/>
                  </a:lnTo>
                  <a:cubicBezTo>
                    <a:pt x="117475" y="2196198"/>
                    <a:pt x="0" y="2032206"/>
                    <a:pt x="0" y="1830119"/>
                  </a:cubicBezTo>
                  <a:close/>
                </a:path>
              </a:pathLst>
            </a:custGeom>
            <a:solidFill>
              <a:srgbClr val="1E222D"/>
            </a:solidFill>
            <a:ln w="14299" cap="sq">
              <a:solidFill>
                <a:srgbClr val="272C3A"/>
              </a:solidFill>
              <a:prstDash val="solid"/>
              <a:miter/>
            </a:ln>
          </p:spPr>
          <p:txBody>
            <a:bodyPr/>
            <a:lstStyle/>
            <a:p>
              <a:endParaRPr lang="en-IN"/>
            </a:p>
          </p:txBody>
        </p:sp>
      </p:grpSp>
      <p:sp>
        <p:nvSpPr>
          <p:cNvPr id="8" name="TextBox 8"/>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5. Grid Movement — Simple Mathematics</a:t>
            </a:r>
          </a:p>
        </p:txBody>
      </p:sp>
      <p:sp>
        <p:nvSpPr>
          <p:cNvPr id="9" name="TextBox 9"/>
          <p:cNvSpPr txBox="1"/>
          <p:nvPr/>
        </p:nvSpPr>
        <p:spPr>
          <a:xfrm>
            <a:off x="1011126" y="1436322"/>
            <a:ext cx="16151924" cy="323850"/>
          </a:xfrm>
          <a:prstGeom prst="rect">
            <a:avLst/>
          </a:prstGeom>
        </p:spPr>
        <p:txBody>
          <a:bodyPr lIns="0" tIns="0" rIns="0" bIns="0" rtlCol="0" anchor="t">
            <a:spAutoFit/>
          </a:bodyPr>
          <a:lstStyle/>
          <a:p>
            <a:pPr algn="l">
              <a:lnSpc>
                <a:spcPts val="2520"/>
              </a:lnSpc>
            </a:pPr>
            <a:r>
              <a:rPr lang="en-US" sz="2100">
                <a:solidFill>
                  <a:srgbClr val="A7AFBF"/>
                </a:solidFill>
                <a:latin typeface="Aptos"/>
                <a:ea typeface="Aptos"/>
                <a:cs typeface="Aptos"/>
                <a:sym typeface="Aptos"/>
              </a:rPr>
              <a:t>Coordinates use Row / Column</a:t>
            </a:r>
          </a:p>
        </p:txBody>
      </p:sp>
      <p:sp>
        <p:nvSpPr>
          <p:cNvPr id="10" name="TextBox 10"/>
          <p:cNvSpPr txBox="1"/>
          <p:nvPr/>
        </p:nvSpPr>
        <p:spPr>
          <a:xfrm>
            <a:off x="1422930" y="2241994"/>
            <a:ext cx="7037375" cy="457629"/>
          </a:xfrm>
          <a:prstGeom prst="rect">
            <a:avLst/>
          </a:prstGeom>
        </p:spPr>
        <p:txBody>
          <a:bodyPr lIns="0" tIns="0" rIns="0" bIns="0" rtlCol="0" anchor="t">
            <a:spAutoFit/>
          </a:bodyPr>
          <a:lstStyle/>
          <a:p>
            <a:pPr algn="l">
              <a:lnSpc>
                <a:spcPts val="2702"/>
              </a:lnSpc>
            </a:pPr>
            <a:r>
              <a:rPr lang="en-US" sz="2251" b="1">
                <a:solidFill>
                  <a:srgbClr val="5CAEFF"/>
                </a:solidFill>
                <a:latin typeface="Aptos Bold"/>
                <a:ea typeface="Aptos Bold"/>
                <a:cs typeface="Aptos Bold"/>
                <a:sym typeface="Aptos Bold"/>
              </a:rPr>
              <a:t>Movement rule</a:t>
            </a:r>
          </a:p>
        </p:txBody>
      </p:sp>
      <p:sp>
        <p:nvSpPr>
          <p:cNvPr id="11" name="TextBox 11"/>
          <p:cNvSpPr txBox="1"/>
          <p:nvPr/>
        </p:nvSpPr>
        <p:spPr>
          <a:xfrm>
            <a:off x="1422930" y="2928328"/>
            <a:ext cx="7037375" cy="2286000"/>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For a tile at (r, c):</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Up    → (r − 1, c)</a:t>
            </a:r>
          </a:p>
          <a:p>
            <a:pPr algn="l">
              <a:lnSpc>
                <a:spcPts val="2251"/>
              </a:lnSpc>
            </a:pPr>
            <a:r>
              <a:rPr lang="en-US" sz="1876">
                <a:solidFill>
                  <a:srgbClr val="EEF1F7"/>
                </a:solidFill>
                <a:latin typeface="Aptos"/>
                <a:ea typeface="Aptos"/>
                <a:cs typeface="Aptos"/>
                <a:sym typeface="Aptos"/>
              </a:rPr>
              <a:t>Down  → (r + 1, c)</a:t>
            </a:r>
          </a:p>
          <a:p>
            <a:pPr algn="l">
              <a:lnSpc>
                <a:spcPts val="2251"/>
              </a:lnSpc>
            </a:pPr>
            <a:r>
              <a:rPr lang="en-US" sz="1876">
                <a:solidFill>
                  <a:srgbClr val="EEF1F7"/>
                </a:solidFill>
                <a:latin typeface="Aptos"/>
                <a:ea typeface="Aptos"/>
                <a:cs typeface="Aptos"/>
                <a:sym typeface="Aptos"/>
              </a:rPr>
              <a:t>Left  → (r, c − 1)</a:t>
            </a:r>
          </a:p>
          <a:p>
            <a:pPr algn="l">
              <a:lnSpc>
                <a:spcPts val="2251"/>
              </a:lnSpc>
            </a:pPr>
            <a:r>
              <a:rPr lang="en-US" sz="1876">
                <a:solidFill>
                  <a:srgbClr val="EEF1F7"/>
                </a:solidFill>
                <a:latin typeface="Aptos"/>
                <a:ea typeface="Aptos"/>
                <a:cs typeface="Aptos"/>
                <a:sym typeface="Aptos"/>
              </a:rPr>
              <a:t>Right → (r, c + 1)</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A move is valid only when the target is inside the grid and is empty.</a:t>
            </a:r>
          </a:p>
        </p:txBody>
      </p:sp>
      <p:sp>
        <p:nvSpPr>
          <p:cNvPr id="12" name="TextBox 12"/>
          <p:cNvSpPr txBox="1"/>
          <p:nvPr/>
        </p:nvSpPr>
        <p:spPr>
          <a:xfrm>
            <a:off x="1422930" y="7869955"/>
            <a:ext cx="15342041" cy="342900"/>
          </a:xfrm>
          <a:prstGeom prst="rect">
            <a:avLst/>
          </a:prstGeom>
        </p:spPr>
        <p:txBody>
          <a:bodyPr lIns="0" tIns="0" rIns="0" bIns="0" rtlCol="0" anchor="t">
            <a:spAutoFit/>
          </a:bodyPr>
          <a:lstStyle/>
          <a:p>
            <a:pPr algn="l">
              <a:lnSpc>
                <a:spcPts val="2702"/>
              </a:lnSpc>
            </a:pPr>
            <a:r>
              <a:rPr lang="en-US" sz="2251" b="1">
                <a:solidFill>
                  <a:srgbClr val="66CD96"/>
                </a:solidFill>
                <a:latin typeface="Aptos Bold"/>
                <a:ea typeface="Aptos Bold"/>
                <a:cs typeface="Aptos Bold"/>
                <a:sym typeface="Aptos Bold"/>
              </a:rPr>
              <a:t>Why this is simple</a:t>
            </a:r>
          </a:p>
        </p:txBody>
      </p:sp>
      <p:sp>
        <p:nvSpPr>
          <p:cNvPr id="13" name="TextBox 13"/>
          <p:cNvSpPr txBox="1"/>
          <p:nvPr/>
        </p:nvSpPr>
        <p:spPr>
          <a:xfrm>
            <a:off x="4941622" y="7852961"/>
            <a:ext cx="10512893" cy="1163559"/>
          </a:xfrm>
          <a:prstGeom prst="rect">
            <a:avLst/>
          </a:prstGeom>
        </p:spPr>
        <p:txBody>
          <a:bodyPr lIns="0" tIns="0" rIns="0" bIns="0" rtlCol="0" anchor="t">
            <a:spAutoFit/>
          </a:bodyPr>
          <a:lstStyle/>
          <a:p>
            <a:pPr algn="l">
              <a:lnSpc>
                <a:spcPts val="1884"/>
              </a:lnSpc>
              <a:spcBef>
                <a:spcPct val="0"/>
              </a:spcBef>
            </a:pPr>
            <a:r>
              <a:rPr lang="en-US" sz="1570">
                <a:solidFill>
                  <a:srgbClr val="EEF1F7"/>
                </a:solidFill>
                <a:latin typeface="Aptos"/>
                <a:ea typeface="Aptos"/>
                <a:cs typeface="Aptos"/>
                <a:sym typeface="Aptos"/>
              </a:rPr>
              <a:t>Movement only changes one coordinate by 1. The row or column is never changed by more than one step.</a:t>
            </a:r>
          </a:p>
          <a:p>
            <a:pPr algn="l">
              <a:lnSpc>
                <a:spcPts val="1884"/>
              </a:lnSpc>
              <a:spcBef>
                <a:spcPct val="0"/>
              </a:spcBef>
            </a:pPr>
            <a:r>
              <a:rPr lang="en-US" sz="1570">
                <a:solidFill>
                  <a:srgbClr val="EEF1F7"/>
                </a:solidFill>
                <a:latin typeface="Aptos"/>
                <a:ea typeface="Aptos"/>
                <a:cs typeface="Aptos"/>
                <a:sym typeface="Aptos"/>
              </a:rPr>
              <a:t>Example:</a:t>
            </a:r>
          </a:p>
          <a:p>
            <a:pPr algn="l">
              <a:lnSpc>
                <a:spcPts val="1884"/>
              </a:lnSpc>
              <a:spcBef>
                <a:spcPct val="0"/>
              </a:spcBef>
            </a:pPr>
            <a:r>
              <a:rPr lang="en-US" sz="1570">
                <a:solidFill>
                  <a:srgbClr val="EEF1F7"/>
                </a:solidFill>
                <a:latin typeface="Aptos"/>
                <a:ea typeface="Aptos"/>
                <a:cs typeface="Aptos"/>
                <a:sym typeface="Aptos"/>
              </a:rPr>
              <a:t> Tile at (2, 3) moving Right → (2, 4)</a:t>
            </a:r>
          </a:p>
          <a:p>
            <a:pPr algn="l">
              <a:lnSpc>
                <a:spcPts val="1884"/>
              </a:lnSpc>
              <a:spcBef>
                <a:spcPct val="0"/>
              </a:spcBef>
            </a:pPr>
            <a:r>
              <a:rPr lang="en-US" sz="1570">
                <a:solidFill>
                  <a:srgbClr val="EEF1F7"/>
                </a:solidFill>
                <a:latin typeface="Aptos"/>
                <a:ea typeface="Aptos"/>
                <a:cs typeface="Aptos"/>
                <a:sym typeface="Aptos"/>
              </a:rPr>
              <a:t> Tile at (2, 3) moving Up → (1, 3)</a:t>
            </a:r>
          </a:p>
          <a:p>
            <a:pPr algn="l">
              <a:lnSpc>
                <a:spcPts val="1884"/>
              </a:lnSpc>
              <a:spcBef>
                <a:spcPct val="0"/>
              </a:spcBef>
            </a:pPr>
            <a:r>
              <a:rPr lang="en-US" sz="1570">
                <a:solidFill>
                  <a:srgbClr val="EEF1F7"/>
                </a:solidFill>
                <a:latin typeface="Aptos"/>
                <a:ea typeface="Aptos"/>
                <a:cs typeface="Aptos"/>
                <a:sym typeface="Aptos"/>
              </a:rPr>
              <a:t>This keeps movement predictable and makes validation easy: inside the grid + target is empty = valid move.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grpSp>
        <p:nvGrpSpPr>
          <p:cNvPr id="2" name="Group 2"/>
          <p:cNvGrpSpPr/>
          <p:nvPr/>
        </p:nvGrpSpPr>
        <p:grpSpPr>
          <a:xfrm>
            <a:off x="1422930" y="2796955"/>
            <a:ext cx="7630088" cy="3285949"/>
            <a:chOff x="0" y="0"/>
            <a:chExt cx="15343741" cy="6607886"/>
          </a:xfrm>
        </p:grpSpPr>
        <p:sp>
          <p:nvSpPr>
            <p:cNvPr id="3" name="Freeform 3"/>
            <p:cNvSpPr/>
            <p:nvPr/>
          </p:nvSpPr>
          <p:spPr>
            <a:xfrm>
              <a:off x="0" y="0"/>
              <a:ext cx="15343704" cy="6607937"/>
            </a:xfrm>
            <a:custGeom>
              <a:avLst/>
              <a:gdLst/>
              <a:ahLst/>
              <a:cxnLst/>
              <a:rect l="l" t="t" r="r" b="b"/>
              <a:pathLst>
                <a:path w="15343704" h="6607937">
                  <a:moveTo>
                    <a:pt x="0" y="0"/>
                  </a:moveTo>
                  <a:lnTo>
                    <a:pt x="15343704" y="0"/>
                  </a:lnTo>
                  <a:lnTo>
                    <a:pt x="15343704" y="6607937"/>
                  </a:lnTo>
                  <a:lnTo>
                    <a:pt x="0" y="6607937"/>
                  </a:lnTo>
                  <a:close/>
                </a:path>
              </a:pathLst>
            </a:custGeom>
            <a:blipFill>
              <a:blip r:embed="rId2"/>
              <a:stretch>
                <a:fillRect l="-589" r="-589"/>
              </a:stretch>
            </a:blipFill>
            <a:ln w="14299" cap="sq">
              <a:solidFill>
                <a:srgbClr val="5CAEFF"/>
              </a:solidFill>
              <a:prstDash val="solid"/>
              <a:miter/>
            </a:ln>
          </p:spPr>
          <p:txBody>
            <a:bodyPr/>
            <a:lstStyle/>
            <a:p>
              <a:endParaRPr lang="en-IN"/>
            </a:p>
          </p:txBody>
        </p:sp>
      </p:grpSp>
      <p:grpSp>
        <p:nvGrpSpPr>
          <p:cNvPr id="4" name="Group 4"/>
          <p:cNvGrpSpPr/>
          <p:nvPr/>
        </p:nvGrpSpPr>
        <p:grpSpPr>
          <a:xfrm>
            <a:off x="9189758" y="1983229"/>
            <a:ext cx="7975797" cy="4955915"/>
            <a:chOff x="0" y="0"/>
            <a:chExt cx="10634396" cy="6607886"/>
          </a:xfrm>
        </p:grpSpPr>
        <p:sp>
          <p:nvSpPr>
            <p:cNvPr id="5" name="Freeform 5"/>
            <p:cNvSpPr/>
            <p:nvPr/>
          </p:nvSpPr>
          <p:spPr>
            <a:xfrm>
              <a:off x="0" y="0"/>
              <a:ext cx="10634345" cy="6607937"/>
            </a:xfrm>
            <a:custGeom>
              <a:avLst/>
              <a:gdLst/>
              <a:ahLst/>
              <a:cxnLst/>
              <a:rect l="l" t="t" r="r" b="b"/>
              <a:pathLst>
                <a:path w="10634345" h="6607937">
                  <a:moveTo>
                    <a:pt x="0" y="1101344"/>
                  </a:moveTo>
                  <a:cubicBezTo>
                    <a:pt x="0" y="493141"/>
                    <a:pt x="493141" y="0"/>
                    <a:pt x="1101344" y="0"/>
                  </a:cubicBezTo>
                  <a:lnTo>
                    <a:pt x="9533001" y="0"/>
                  </a:lnTo>
                  <a:cubicBezTo>
                    <a:pt x="10141204" y="0"/>
                    <a:pt x="10634345" y="493141"/>
                    <a:pt x="10634345" y="1101344"/>
                  </a:cubicBezTo>
                  <a:lnTo>
                    <a:pt x="10634345" y="5506593"/>
                  </a:lnTo>
                  <a:cubicBezTo>
                    <a:pt x="10634345" y="6114796"/>
                    <a:pt x="10141204" y="6607937"/>
                    <a:pt x="9533001" y="6607937"/>
                  </a:cubicBezTo>
                  <a:lnTo>
                    <a:pt x="1101344" y="6607937"/>
                  </a:lnTo>
                  <a:cubicBezTo>
                    <a:pt x="493141" y="6607937"/>
                    <a:pt x="0" y="6114796"/>
                    <a:pt x="0" y="5506593"/>
                  </a:cubicBezTo>
                  <a:close/>
                </a:path>
              </a:pathLst>
            </a:custGeom>
            <a:solidFill>
              <a:srgbClr val="1E222D"/>
            </a:solidFill>
            <a:ln w="14299" cap="sq">
              <a:solidFill>
                <a:srgbClr val="272C3A"/>
              </a:solidFill>
              <a:prstDash val="solid"/>
              <a:miter/>
            </a:ln>
          </p:spPr>
          <p:txBody>
            <a:bodyPr/>
            <a:lstStyle/>
            <a:p>
              <a:endParaRPr lang="en-IN"/>
            </a:p>
          </p:txBody>
        </p:sp>
      </p:grpSp>
      <p:grpSp>
        <p:nvGrpSpPr>
          <p:cNvPr id="6" name="Group 6"/>
          <p:cNvGrpSpPr/>
          <p:nvPr/>
        </p:nvGrpSpPr>
        <p:grpSpPr>
          <a:xfrm>
            <a:off x="1022356" y="7336650"/>
            <a:ext cx="16143199" cy="1386973"/>
            <a:chOff x="0" y="0"/>
            <a:chExt cx="21524265" cy="1849298"/>
          </a:xfrm>
        </p:grpSpPr>
        <p:sp>
          <p:nvSpPr>
            <p:cNvPr id="7" name="Freeform 7"/>
            <p:cNvSpPr/>
            <p:nvPr/>
          </p:nvSpPr>
          <p:spPr>
            <a:xfrm>
              <a:off x="0" y="0"/>
              <a:ext cx="21524215" cy="1849247"/>
            </a:xfrm>
            <a:custGeom>
              <a:avLst/>
              <a:gdLst/>
              <a:ahLst/>
              <a:cxnLst/>
              <a:rect l="l" t="t" r="r" b="b"/>
              <a:pathLst>
                <a:path w="21524215" h="1849247">
                  <a:moveTo>
                    <a:pt x="0" y="308229"/>
                  </a:moveTo>
                  <a:cubicBezTo>
                    <a:pt x="0" y="138049"/>
                    <a:pt x="138049" y="0"/>
                    <a:pt x="308229" y="0"/>
                  </a:cubicBezTo>
                  <a:lnTo>
                    <a:pt x="21215986" y="0"/>
                  </a:lnTo>
                  <a:cubicBezTo>
                    <a:pt x="21386166" y="0"/>
                    <a:pt x="21524215" y="138049"/>
                    <a:pt x="21524215" y="308229"/>
                  </a:cubicBezTo>
                  <a:lnTo>
                    <a:pt x="21524215" y="1541018"/>
                  </a:lnTo>
                  <a:cubicBezTo>
                    <a:pt x="21524215" y="1711198"/>
                    <a:pt x="21386166" y="1849247"/>
                    <a:pt x="21215986" y="1849247"/>
                  </a:cubicBezTo>
                  <a:lnTo>
                    <a:pt x="308229" y="1849247"/>
                  </a:lnTo>
                  <a:cubicBezTo>
                    <a:pt x="138049" y="1849247"/>
                    <a:pt x="0" y="1711325"/>
                    <a:pt x="0" y="1541018"/>
                  </a:cubicBezTo>
                  <a:close/>
                </a:path>
              </a:pathLst>
            </a:custGeom>
            <a:solidFill>
              <a:srgbClr val="1E222D"/>
            </a:solidFill>
            <a:ln w="14299" cap="sq">
              <a:solidFill>
                <a:srgbClr val="272C3A"/>
              </a:solidFill>
              <a:prstDash val="solid"/>
              <a:miter/>
            </a:ln>
          </p:spPr>
          <p:txBody>
            <a:bodyPr/>
            <a:lstStyle/>
            <a:p>
              <a:endParaRPr lang="en-IN"/>
            </a:p>
          </p:txBody>
        </p:sp>
      </p:grpSp>
      <p:sp>
        <p:nvSpPr>
          <p:cNvPr id="8" name="TextBox 8"/>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6. Grid Positioning — View Mathematics</a:t>
            </a:r>
          </a:p>
        </p:txBody>
      </p:sp>
      <p:sp>
        <p:nvSpPr>
          <p:cNvPr id="9" name="TextBox 9"/>
          <p:cNvSpPr txBox="1"/>
          <p:nvPr/>
        </p:nvSpPr>
        <p:spPr>
          <a:xfrm>
            <a:off x="1011126" y="1436322"/>
            <a:ext cx="16151924" cy="323850"/>
          </a:xfrm>
          <a:prstGeom prst="rect">
            <a:avLst/>
          </a:prstGeom>
        </p:spPr>
        <p:txBody>
          <a:bodyPr lIns="0" tIns="0" rIns="0" bIns="0" rtlCol="0" anchor="t">
            <a:spAutoFit/>
          </a:bodyPr>
          <a:lstStyle/>
          <a:p>
            <a:pPr algn="l">
              <a:lnSpc>
                <a:spcPts val="2520"/>
              </a:lnSpc>
            </a:pPr>
            <a:r>
              <a:rPr lang="en-US" sz="2100">
                <a:solidFill>
                  <a:srgbClr val="A7AFBF"/>
                </a:solidFill>
                <a:latin typeface="Aptos"/>
                <a:ea typeface="Aptos"/>
                <a:cs typeface="Aptos"/>
                <a:sym typeface="Aptos"/>
              </a:rPr>
              <a:t>Converting a logical cell to a centered UI position</a:t>
            </a:r>
          </a:p>
        </p:txBody>
      </p:sp>
      <p:sp>
        <p:nvSpPr>
          <p:cNvPr id="10" name="TextBox 10"/>
          <p:cNvSpPr txBox="1"/>
          <p:nvPr/>
        </p:nvSpPr>
        <p:spPr>
          <a:xfrm>
            <a:off x="9590332" y="2241994"/>
            <a:ext cx="7174640" cy="457629"/>
          </a:xfrm>
          <a:prstGeom prst="rect">
            <a:avLst/>
          </a:prstGeom>
        </p:spPr>
        <p:txBody>
          <a:bodyPr lIns="0" tIns="0" rIns="0" bIns="0" rtlCol="0" anchor="t">
            <a:spAutoFit/>
          </a:bodyPr>
          <a:lstStyle/>
          <a:p>
            <a:pPr algn="l">
              <a:lnSpc>
                <a:spcPts val="2702"/>
              </a:lnSpc>
            </a:pPr>
            <a:r>
              <a:rPr lang="en-US" sz="2251" b="1">
                <a:solidFill>
                  <a:srgbClr val="FFB15C"/>
                </a:solidFill>
                <a:latin typeface="Aptos Bold"/>
                <a:ea typeface="Aptos Bold"/>
                <a:cs typeface="Aptos Bold"/>
                <a:sym typeface="Aptos Bold"/>
              </a:rPr>
              <a:t>Formula</a:t>
            </a:r>
          </a:p>
        </p:txBody>
      </p:sp>
      <p:sp>
        <p:nvSpPr>
          <p:cNvPr id="11" name="TextBox 11"/>
          <p:cNvSpPr txBox="1"/>
          <p:nvPr/>
        </p:nvSpPr>
        <p:spPr>
          <a:xfrm>
            <a:off x="9590332" y="2928328"/>
            <a:ext cx="7174640" cy="3752040"/>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totalWidth  = columns × cellSize + (columns − 1) × spacing</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totalHeight = rows × cellSize + (rows − 1) × spacing</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startX = −(totalWidth − cellSize) / 2</a:t>
            </a:r>
          </a:p>
          <a:p>
            <a:pPr algn="l">
              <a:lnSpc>
                <a:spcPts val="2251"/>
              </a:lnSpc>
            </a:pPr>
            <a:r>
              <a:rPr lang="en-US" sz="1876">
                <a:solidFill>
                  <a:srgbClr val="EEF1F7"/>
                </a:solidFill>
                <a:latin typeface="Aptos"/>
                <a:ea typeface="Aptos"/>
                <a:cs typeface="Aptos"/>
                <a:sym typeface="Aptos"/>
              </a:rPr>
              <a:t>startY =  (totalHeight − cellSize) / 2</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x = startX + column × (cellSize + spacing)</a:t>
            </a:r>
          </a:p>
          <a:p>
            <a:pPr algn="l">
              <a:lnSpc>
                <a:spcPts val="2251"/>
              </a:lnSpc>
            </a:pPr>
            <a:r>
              <a:rPr lang="en-US" sz="1876">
                <a:solidFill>
                  <a:srgbClr val="EEF1F7"/>
                </a:solidFill>
                <a:latin typeface="Aptos"/>
                <a:ea typeface="Aptos"/>
                <a:cs typeface="Aptos"/>
                <a:sym typeface="Aptos"/>
              </a:rPr>
              <a:t>y = startY − row × (cellSize + spacing)</a:t>
            </a:r>
          </a:p>
        </p:txBody>
      </p:sp>
      <p:sp>
        <p:nvSpPr>
          <p:cNvPr id="12" name="TextBox 12"/>
          <p:cNvSpPr txBox="1"/>
          <p:nvPr/>
        </p:nvSpPr>
        <p:spPr>
          <a:xfrm>
            <a:off x="1422930" y="7595416"/>
            <a:ext cx="15342041" cy="457629"/>
          </a:xfrm>
          <a:prstGeom prst="rect">
            <a:avLst/>
          </a:prstGeom>
        </p:spPr>
        <p:txBody>
          <a:bodyPr lIns="0" tIns="0" rIns="0" bIns="0" rtlCol="0" anchor="t">
            <a:spAutoFit/>
          </a:bodyPr>
          <a:lstStyle/>
          <a:p>
            <a:pPr algn="l">
              <a:lnSpc>
                <a:spcPts val="2702"/>
              </a:lnSpc>
            </a:pPr>
            <a:r>
              <a:rPr lang="en-US" sz="2251" b="1">
                <a:solidFill>
                  <a:srgbClr val="66CD96"/>
                </a:solidFill>
                <a:latin typeface="Aptos Bold"/>
                <a:ea typeface="Aptos Bold"/>
                <a:cs typeface="Aptos Bold"/>
                <a:sym typeface="Aptos Bold"/>
              </a:rPr>
              <a:t>Simple explanation</a:t>
            </a:r>
          </a:p>
        </p:txBody>
      </p:sp>
      <p:sp>
        <p:nvSpPr>
          <p:cNvPr id="13" name="TextBox 13"/>
          <p:cNvSpPr txBox="1"/>
          <p:nvPr/>
        </p:nvSpPr>
        <p:spPr>
          <a:xfrm>
            <a:off x="1422930" y="8053045"/>
            <a:ext cx="15460942" cy="571500"/>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First calculate the complete board size. Then start at the top-left cell and move one cell-size-plus-spacing for every column/row. The half-size offset keeps the board centered.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grpSp>
        <p:nvGrpSpPr>
          <p:cNvPr id="2" name="Group 2"/>
          <p:cNvGrpSpPr/>
          <p:nvPr/>
        </p:nvGrpSpPr>
        <p:grpSpPr>
          <a:xfrm>
            <a:off x="9258386" y="1983229"/>
            <a:ext cx="7838532" cy="4955915"/>
            <a:chOff x="0" y="0"/>
            <a:chExt cx="10451376" cy="6607886"/>
          </a:xfrm>
        </p:grpSpPr>
        <p:sp>
          <p:nvSpPr>
            <p:cNvPr id="3" name="Freeform 3"/>
            <p:cNvSpPr/>
            <p:nvPr/>
          </p:nvSpPr>
          <p:spPr>
            <a:xfrm>
              <a:off x="0" y="0"/>
              <a:ext cx="10451338" cy="6607937"/>
            </a:xfrm>
            <a:custGeom>
              <a:avLst/>
              <a:gdLst/>
              <a:ahLst/>
              <a:cxnLst/>
              <a:rect l="l" t="t" r="r" b="b"/>
              <a:pathLst>
                <a:path w="10451338" h="6607937">
                  <a:moveTo>
                    <a:pt x="0" y="1101344"/>
                  </a:moveTo>
                  <a:cubicBezTo>
                    <a:pt x="0" y="493141"/>
                    <a:pt x="493141" y="0"/>
                    <a:pt x="1101344" y="0"/>
                  </a:cubicBezTo>
                  <a:lnTo>
                    <a:pt x="9349994" y="0"/>
                  </a:lnTo>
                  <a:cubicBezTo>
                    <a:pt x="9958197" y="0"/>
                    <a:pt x="10451338" y="493141"/>
                    <a:pt x="10451338" y="1101344"/>
                  </a:cubicBezTo>
                  <a:lnTo>
                    <a:pt x="10451338" y="5506593"/>
                  </a:lnTo>
                  <a:cubicBezTo>
                    <a:pt x="10451338" y="6114796"/>
                    <a:pt x="9958197" y="6607937"/>
                    <a:pt x="9349994" y="6607937"/>
                  </a:cubicBezTo>
                  <a:lnTo>
                    <a:pt x="1101344" y="6607937"/>
                  </a:lnTo>
                  <a:cubicBezTo>
                    <a:pt x="493141" y="6607937"/>
                    <a:pt x="0" y="6114796"/>
                    <a:pt x="0" y="5506593"/>
                  </a:cubicBezTo>
                  <a:close/>
                </a:path>
              </a:pathLst>
            </a:custGeom>
            <a:solidFill>
              <a:srgbClr val="1E222D"/>
            </a:solidFill>
            <a:ln w="14299" cap="sq">
              <a:solidFill>
                <a:srgbClr val="272C3A"/>
              </a:solidFill>
              <a:prstDash val="solid"/>
              <a:miter/>
            </a:ln>
          </p:spPr>
          <p:txBody>
            <a:bodyPr/>
            <a:lstStyle/>
            <a:p>
              <a:endParaRPr lang="en-IN"/>
            </a:p>
          </p:txBody>
        </p:sp>
      </p:grpSp>
      <p:grpSp>
        <p:nvGrpSpPr>
          <p:cNvPr id="4" name="Group 4"/>
          <p:cNvGrpSpPr/>
          <p:nvPr/>
        </p:nvGrpSpPr>
        <p:grpSpPr>
          <a:xfrm>
            <a:off x="983675" y="7871327"/>
            <a:ext cx="16143199" cy="1386973"/>
            <a:chOff x="0" y="0"/>
            <a:chExt cx="21524265" cy="1849298"/>
          </a:xfrm>
        </p:grpSpPr>
        <p:sp>
          <p:nvSpPr>
            <p:cNvPr id="5" name="Freeform 5"/>
            <p:cNvSpPr/>
            <p:nvPr/>
          </p:nvSpPr>
          <p:spPr>
            <a:xfrm>
              <a:off x="0" y="0"/>
              <a:ext cx="21524215" cy="1849247"/>
            </a:xfrm>
            <a:custGeom>
              <a:avLst/>
              <a:gdLst/>
              <a:ahLst/>
              <a:cxnLst/>
              <a:rect l="l" t="t" r="r" b="b"/>
              <a:pathLst>
                <a:path w="21524215" h="1849247">
                  <a:moveTo>
                    <a:pt x="0" y="308229"/>
                  </a:moveTo>
                  <a:cubicBezTo>
                    <a:pt x="0" y="138049"/>
                    <a:pt x="138049" y="0"/>
                    <a:pt x="308229" y="0"/>
                  </a:cubicBezTo>
                  <a:lnTo>
                    <a:pt x="21215986" y="0"/>
                  </a:lnTo>
                  <a:cubicBezTo>
                    <a:pt x="21386166" y="0"/>
                    <a:pt x="21524215" y="138049"/>
                    <a:pt x="21524215" y="308229"/>
                  </a:cubicBezTo>
                  <a:lnTo>
                    <a:pt x="21524215" y="1541018"/>
                  </a:lnTo>
                  <a:cubicBezTo>
                    <a:pt x="21524215" y="1711198"/>
                    <a:pt x="21386166" y="1849247"/>
                    <a:pt x="21215986" y="1849247"/>
                  </a:cubicBezTo>
                  <a:lnTo>
                    <a:pt x="308229" y="1849247"/>
                  </a:lnTo>
                  <a:cubicBezTo>
                    <a:pt x="138049" y="1849247"/>
                    <a:pt x="0" y="1711325"/>
                    <a:pt x="0" y="1541018"/>
                  </a:cubicBezTo>
                  <a:close/>
                </a:path>
              </a:pathLst>
            </a:custGeom>
            <a:solidFill>
              <a:srgbClr val="1E222D"/>
            </a:solidFill>
            <a:ln w="14299" cap="sq">
              <a:solidFill>
                <a:srgbClr val="272C3A"/>
              </a:solidFill>
              <a:prstDash val="solid"/>
              <a:miter/>
            </a:ln>
          </p:spPr>
          <p:txBody>
            <a:bodyPr/>
            <a:lstStyle/>
            <a:p>
              <a:endParaRPr lang="en-IN"/>
            </a:p>
          </p:txBody>
        </p:sp>
      </p:grpSp>
      <p:sp>
        <p:nvSpPr>
          <p:cNvPr id="6" name="Freeform 6"/>
          <p:cNvSpPr/>
          <p:nvPr/>
        </p:nvSpPr>
        <p:spPr>
          <a:xfrm>
            <a:off x="1028700" y="1835217"/>
            <a:ext cx="5352984" cy="2868651"/>
          </a:xfrm>
          <a:custGeom>
            <a:avLst/>
            <a:gdLst/>
            <a:ahLst/>
            <a:cxnLst/>
            <a:rect l="l" t="t" r="r" b="b"/>
            <a:pathLst>
              <a:path w="5352984" h="2868651">
                <a:moveTo>
                  <a:pt x="0" y="0"/>
                </a:moveTo>
                <a:lnTo>
                  <a:pt x="5352984" y="0"/>
                </a:lnTo>
                <a:lnTo>
                  <a:pt x="5352984" y="2868650"/>
                </a:lnTo>
                <a:lnTo>
                  <a:pt x="0" y="2868650"/>
                </a:lnTo>
                <a:lnTo>
                  <a:pt x="0" y="0"/>
                </a:lnTo>
                <a:close/>
              </a:path>
            </a:pathLst>
          </a:custGeom>
          <a:blipFill>
            <a:blip r:embed="rId2"/>
            <a:stretch>
              <a:fillRect/>
            </a:stretch>
          </a:blipFill>
        </p:spPr>
        <p:txBody>
          <a:bodyPr/>
          <a:lstStyle/>
          <a:p>
            <a:endParaRPr/>
          </a:p>
        </p:txBody>
      </p:sp>
      <p:sp>
        <p:nvSpPr>
          <p:cNvPr id="7" name="Freeform 7"/>
          <p:cNvSpPr/>
          <p:nvPr/>
        </p:nvSpPr>
        <p:spPr>
          <a:xfrm>
            <a:off x="3705192" y="4585612"/>
            <a:ext cx="4756401" cy="2751038"/>
          </a:xfrm>
          <a:custGeom>
            <a:avLst/>
            <a:gdLst/>
            <a:ahLst/>
            <a:cxnLst/>
            <a:rect l="l" t="t" r="r" b="b"/>
            <a:pathLst>
              <a:path w="4756401" h="2751038">
                <a:moveTo>
                  <a:pt x="0" y="0"/>
                </a:moveTo>
                <a:lnTo>
                  <a:pt x="4756401" y="0"/>
                </a:lnTo>
                <a:lnTo>
                  <a:pt x="4756401" y="2751038"/>
                </a:lnTo>
                <a:lnTo>
                  <a:pt x="0" y="2751038"/>
                </a:lnTo>
                <a:lnTo>
                  <a:pt x="0" y="0"/>
                </a:lnTo>
                <a:close/>
              </a:path>
            </a:pathLst>
          </a:custGeom>
          <a:blipFill>
            <a:blip r:embed="rId3"/>
            <a:stretch>
              <a:fillRect/>
            </a:stretch>
          </a:blipFill>
        </p:spPr>
        <p:txBody>
          <a:bodyPr/>
          <a:lstStyle/>
          <a:p>
            <a:endParaRPr/>
          </a:p>
        </p:txBody>
      </p:sp>
      <p:sp>
        <p:nvSpPr>
          <p:cNvPr id="8" name="TextBox 8"/>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7. Swipe Input</a:t>
            </a:r>
          </a:p>
        </p:txBody>
      </p:sp>
      <p:sp>
        <p:nvSpPr>
          <p:cNvPr id="9" name="TextBox 9"/>
          <p:cNvSpPr txBox="1"/>
          <p:nvPr/>
        </p:nvSpPr>
        <p:spPr>
          <a:xfrm>
            <a:off x="1011126" y="1436322"/>
            <a:ext cx="16151924" cy="323850"/>
          </a:xfrm>
          <a:prstGeom prst="rect">
            <a:avLst/>
          </a:prstGeom>
        </p:spPr>
        <p:txBody>
          <a:bodyPr lIns="0" tIns="0" rIns="0" bIns="0" rtlCol="0" anchor="t">
            <a:spAutoFit/>
          </a:bodyPr>
          <a:lstStyle/>
          <a:p>
            <a:pPr algn="l">
              <a:lnSpc>
                <a:spcPts val="2520"/>
              </a:lnSpc>
            </a:pPr>
            <a:r>
              <a:rPr lang="en-US" sz="2100">
                <a:solidFill>
                  <a:srgbClr val="A7AFBF"/>
                </a:solidFill>
                <a:latin typeface="Aptos"/>
                <a:ea typeface="Aptos"/>
                <a:cs typeface="Aptos"/>
                <a:sym typeface="Aptos"/>
              </a:rPr>
              <a:t>Pointer vector → dominant axis → discrete direction</a:t>
            </a:r>
          </a:p>
        </p:txBody>
      </p:sp>
      <p:sp>
        <p:nvSpPr>
          <p:cNvPr id="10" name="TextBox 10"/>
          <p:cNvSpPr txBox="1"/>
          <p:nvPr/>
        </p:nvSpPr>
        <p:spPr>
          <a:xfrm>
            <a:off x="9658969" y="2241994"/>
            <a:ext cx="7037375" cy="457629"/>
          </a:xfrm>
          <a:prstGeom prst="rect">
            <a:avLst/>
          </a:prstGeom>
        </p:spPr>
        <p:txBody>
          <a:bodyPr lIns="0" tIns="0" rIns="0" bIns="0" rtlCol="0" anchor="t">
            <a:spAutoFit/>
          </a:bodyPr>
          <a:lstStyle/>
          <a:p>
            <a:pPr algn="l">
              <a:lnSpc>
                <a:spcPts val="2702"/>
              </a:lnSpc>
            </a:pPr>
            <a:r>
              <a:rPr lang="en-US" sz="2251" b="1">
                <a:solidFill>
                  <a:srgbClr val="5CAEFF"/>
                </a:solidFill>
                <a:latin typeface="Aptos Bold"/>
                <a:ea typeface="Aptos Bold"/>
                <a:cs typeface="Aptos Bold"/>
                <a:sym typeface="Aptos Bold"/>
              </a:rPr>
              <a:t>Decision logic</a:t>
            </a:r>
          </a:p>
        </p:txBody>
      </p:sp>
      <p:sp>
        <p:nvSpPr>
          <p:cNvPr id="11" name="TextBox 11"/>
          <p:cNvSpPr txBox="1"/>
          <p:nvPr/>
        </p:nvSpPr>
        <p:spPr>
          <a:xfrm>
            <a:off x="9658969" y="2928328"/>
            <a:ext cx="7037375" cy="3752040"/>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1. Save pointer-down position.</a:t>
            </a:r>
          </a:p>
          <a:p>
            <a:pPr algn="l">
              <a:lnSpc>
                <a:spcPts val="2251"/>
              </a:lnSpc>
            </a:pPr>
            <a:r>
              <a:rPr lang="en-US" sz="1876">
                <a:solidFill>
                  <a:srgbClr val="EEF1F7"/>
                </a:solidFill>
                <a:latin typeface="Aptos"/>
                <a:ea typeface="Aptos"/>
                <a:cs typeface="Aptos"/>
                <a:sym typeface="Aptos"/>
              </a:rPr>
              <a:t>2. On release, calculate swipeDelta = release − press.</a:t>
            </a:r>
          </a:p>
          <a:p>
            <a:pPr algn="l">
              <a:lnSpc>
                <a:spcPts val="2251"/>
              </a:lnSpc>
            </a:pPr>
            <a:r>
              <a:rPr lang="en-US" sz="1876">
                <a:solidFill>
                  <a:srgbClr val="EEF1F7"/>
                </a:solidFill>
                <a:latin typeface="Aptos"/>
                <a:ea typeface="Aptos"/>
                <a:cs typeface="Aptos"/>
                <a:sym typeface="Aptos"/>
              </a:rPr>
              <a:t>3. Ignore tiny movement when magnitude &lt; 50.</a:t>
            </a:r>
          </a:p>
          <a:p>
            <a:pPr algn="l">
              <a:lnSpc>
                <a:spcPts val="2251"/>
              </a:lnSpc>
            </a:pPr>
            <a:r>
              <a:rPr lang="en-US" sz="1876">
                <a:solidFill>
                  <a:srgbClr val="EEF1F7"/>
                </a:solidFill>
                <a:latin typeface="Aptos"/>
                <a:ea typeface="Aptos"/>
                <a:cs typeface="Aptos"/>
                <a:sym typeface="Aptos"/>
              </a:rPr>
              <a:t>4. Compare |x| and |y|.</a:t>
            </a:r>
          </a:p>
          <a:p>
            <a:pPr algn="l">
              <a:lnSpc>
                <a:spcPts val="2251"/>
              </a:lnSpc>
            </a:pPr>
            <a:r>
              <a:rPr lang="en-US" sz="1876">
                <a:solidFill>
                  <a:srgbClr val="EEF1F7"/>
                </a:solidFill>
                <a:latin typeface="Aptos"/>
                <a:ea typeface="Aptos"/>
                <a:cs typeface="Aptos"/>
                <a:sym typeface="Aptos"/>
              </a:rPr>
              <a:t>5. Larger axis wins.</a:t>
            </a:r>
          </a:p>
          <a:p>
            <a:pPr algn="l">
              <a:lnSpc>
                <a:spcPts val="2251"/>
              </a:lnSpc>
            </a:pPr>
            <a:r>
              <a:rPr lang="en-US" sz="1876">
                <a:solidFill>
                  <a:srgbClr val="EEF1F7"/>
                </a:solidFill>
                <a:latin typeface="Aptos"/>
                <a:ea typeface="Aptos"/>
                <a:cs typeface="Aptos"/>
                <a:sym typeface="Aptos"/>
              </a:rPr>
              <a:t>6. Sign chooses left/right or up/down.</a:t>
            </a:r>
          </a:p>
        </p:txBody>
      </p:sp>
      <p:sp>
        <p:nvSpPr>
          <p:cNvPr id="12" name="TextBox 12"/>
          <p:cNvSpPr txBox="1"/>
          <p:nvPr/>
        </p:nvSpPr>
        <p:spPr>
          <a:xfrm>
            <a:off x="1384249" y="8130092"/>
            <a:ext cx="15342041" cy="457629"/>
          </a:xfrm>
          <a:prstGeom prst="rect">
            <a:avLst/>
          </a:prstGeom>
        </p:spPr>
        <p:txBody>
          <a:bodyPr lIns="0" tIns="0" rIns="0" bIns="0" rtlCol="0" anchor="t">
            <a:spAutoFit/>
          </a:bodyPr>
          <a:lstStyle/>
          <a:p>
            <a:pPr algn="l">
              <a:lnSpc>
                <a:spcPts val="2702"/>
              </a:lnSpc>
            </a:pPr>
            <a:r>
              <a:rPr lang="en-US" sz="2251" b="1">
                <a:solidFill>
                  <a:srgbClr val="66CD96"/>
                </a:solidFill>
                <a:latin typeface="Aptos Bold"/>
                <a:ea typeface="Aptos Bold"/>
                <a:cs typeface="Aptos Bold"/>
                <a:sym typeface="Aptos Bold"/>
              </a:rPr>
              <a:t>Why dominant-axis comparison works</a:t>
            </a:r>
          </a:p>
        </p:txBody>
      </p:sp>
      <p:sp>
        <p:nvSpPr>
          <p:cNvPr id="13" name="TextBox 13"/>
          <p:cNvSpPr txBox="1"/>
          <p:nvPr/>
        </p:nvSpPr>
        <p:spPr>
          <a:xfrm>
            <a:off x="1384249" y="8663921"/>
            <a:ext cx="15342041" cy="183090"/>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A diagonal swipe still becomes exactly one command. Example: x = 120, y = 40 → horizontal movement wins → Right.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grpSp>
        <p:nvGrpSpPr>
          <p:cNvPr id="2" name="Group 2"/>
          <p:cNvGrpSpPr/>
          <p:nvPr/>
        </p:nvGrpSpPr>
        <p:grpSpPr>
          <a:xfrm>
            <a:off x="9258386" y="1983229"/>
            <a:ext cx="7838532" cy="4818650"/>
            <a:chOff x="0" y="0"/>
            <a:chExt cx="10451376" cy="6424866"/>
          </a:xfrm>
        </p:grpSpPr>
        <p:sp>
          <p:nvSpPr>
            <p:cNvPr id="3" name="Freeform 3"/>
            <p:cNvSpPr/>
            <p:nvPr/>
          </p:nvSpPr>
          <p:spPr>
            <a:xfrm>
              <a:off x="0" y="0"/>
              <a:ext cx="10451465" cy="6424930"/>
            </a:xfrm>
            <a:custGeom>
              <a:avLst/>
              <a:gdLst/>
              <a:ahLst/>
              <a:cxnLst/>
              <a:rect l="l" t="t" r="r" b="b"/>
              <a:pathLst>
                <a:path w="10451465" h="6424930">
                  <a:moveTo>
                    <a:pt x="0" y="1070864"/>
                  </a:moveTo>
                  <a:cubicBezTo>
                    <a:pt x="0" y="479425"/>
                    <a:pt x="479425" y="0"/>
                    <a:pt x="1070864" y="0"/>
                  </a:cubicBezTo>
                  <a:lnTo>
                    <a:pt x="9380601" y="0"/>
                  </a:lnTo>
                  <a:cubicBezTo>
                    <a:pt x="9972040" y="0"/>
                    <a:pt x="10451465" y="479425"/>
                    <a:pt x="10451465" y="1070864"/>
                  </a:cubicBezTo>
                  <a:lnTo>
                    <a:pt x="10451465" y="5354066"/>
                  </a:lnTo>
                  <a:cubicBezTo>
                    <a:pt x="10451465" y="5945505"/>
                    <a:pt x="9972040" y="6424930"/>
                    <a:pt x="9380601" y="6424930"/>
                  </a:cubicBezTo>
                  <a:lnTo>
                    <a:pt x="1070864" y="6424930"/>
                  </a:lnTo>
                  <a:cubicBezTo>
                    <a:pt x="479425" y="6424930"/>
                    <a:pt x="0" y="5945378"/>
                    <a:pt x="0" y="5354066"/>
                  </a:cubicBezTo>
                  <a:close/>
                </a:path>
              </a:pathLst>
            </a:custGeom>
            <a:solidFill>
              <a:srgbClr val="1E222D"/>
            </a:solidFill>
            <a:ln w="14299" cap="sq">
              <a:solidFill>
                <a:srgbClr val="272C3A"/>
              </a:solidFill>
              <a:prstDash val="solid"/>
              <a:miter/>
            </a:ln>
          </p:spPr>
          <p:txBody>
            <a:bodyPr/>
            <a:lstStyle/>
            <a:p>
              <a:endParaRPr lang="en-IN"/>
            </a:p>
          </p:txBody>
        </p:sp>
      </p:grpSp>
      <p:grpSp>
        <p:nvGrpSpPr>
          <p:cNvPr id="4" name="Group 4"/>
          <p:cNvGrpSpPr/>
          <p:nvPr/>
        </p:nvGrpSpPr>
        <p:grpSpPr>
          <a:xfrm>
            <a:off x="1022356" y="7199386"/>
            <a:ext cx="16143199" cy="1524238"/>
            <a:chOff x="0" y="0"/>
            <a:chExt cx="21524265" cy="2032318"/>
          </a:xfrm>
        </p:grpSpPr>
        <p:sp>
          <p:nvSpPr>
            <p:cNvPr id="5" name="Freeform 5"/>
            <p:cNvSpPr/>
            <p:nvPr/>
          </p:nvSpPr>
          <p:spPr>
            <a:xfrm>
              <a:off x="0" y="0"/>
              <a:ext cx="21524215" cy="2032254"/>
            </a:xfrm>
            <a:custGeom>
              <a:avLst/>
              <a:gdLst/>
              <a:ahLst/>
              <a:cxnLst/>
              <a:rect l="l" t="t" r="r" b="b"/>
              <a:pathLst>
                <a:path w="21524215" h="2032254">
                  <a:moveTo>
                    <a:pt x="0" y="338709"/>
                  </a:moveTo>
                  <a:cubicBezTo>
                    <a:pt x="0" y="151638"/>
                    <a:pt x="151638" y="0"/>
                    <a:pt x="338709" y="0"/>
                  </a:cubicBezTo>
                  <a:lnTo>
                    <a:pt x="21185505" y="0"/>
                  </a:lnTo>
                  <a:cubicBezTo>
                    <a:pt x="21372576" y="0"/>
                    <a:pt x="21524215" y="151638"/>
                    <a:pt x="21524215" y="338709"/>
                  </a:cubicBezTo>
                  <a:lnTo>
                    <a:pt x="21524215" y="1693545"/>
                  </a:lnTo>
                  <a:cubicBezTo>
                    <a:pt x="21524215" y="1880616"/>
                    <a:pt x="21372576" y="2032254"/>
                    <a:pt x="21185505" y="2032254"/>
                  </a:cubicBezTo>
                  <a:lnTo>
                    <a:pt x="338709" y="2032254"/>
                  </a:lnTo>
                  <a:cubicBezTo>
                    <a:pt x="151638" y="2032381"/>
                    <a:pt x="0" y="1880616"/>
                    <a:pt x="0" y="1693545"/>
                  </a:cubicBezTo>
                  <a:close/>
                </a:path>
              </a:pathLst>
            </a:custGeom>
            <a:solidFill>
              <a:srgbClr val="1E222D"/>
            </a:solidFill>
            <a:ln w="14299" cap="sq">
              <a:solidFill>
                <a:srgbClr val="272C3A"/>
              </a:solidFill>
              <a:prstDash val="solid"/>
              <a:miter/>
            </a:ln>
          </p:spPr>
          <p:txBody>
            <a:bodyPr/>
            <a:lstStyle/>
            <a:p>
              <a:endParaRPr lang="en-IN"/>
            </a:p>
          </p:txBody>
        </p:sp>
      </p:grpSp>
      <p:sp>
        <p:nvSpPr>
          <p:cNvPr id="7" name="TextBox 7"/>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8. Board History &amp; Undo</a:t>
            </a:r>
          </a:p>
        </p:txBody>
      </p:sp>
      <p:sp>
        <p:nvSpPr>
          <p:cNvPr id="8" name="TextBox 8"/>
          <p:cNvSpPr txBox="1"/>
          <p:nvPr/>
        </p:nvSpPr>
        <p:spPr>
          <a:xfrm>
            <a:off x="1011126" y="1436322"/>
            <a:ext cx="16151924" cy="323850"/>
          </a:xfrm>
          <a:prstGeom prst="rect">
            <a:avLst/>
          </a:prstGeom>
        </p:spPr>
        <p:txBody>
          <a:bodyPr lIns="0" tIns="0" rIns="0" bIns="0" rtlCol="0" anchor="t">
            <a:spAutoFit/>
          </a:bodyPr>
          <a:lstStyle/>
          <a:p>
            <a:pPr algn="l">
              <a:lnSpc>
                <a:spcPts val="2520"/>
              </a:lnSpc>
            </a:pPr>
            <a:r>
              <a:rPr lang="en-US" sz="2100">
                <a:solidFill>
                  <a:srgbClr val="A7AFBF"/>
                </a:solidFill>
                <a:latin typeface="Aptos"/>
                <a:ea typeface="Aptos"/>
                <a:cs typeface="Aptos"/>
                <a:sym typeface="Aptos"/>
              </a:rPr>
              <a:t>Store the smallest useful piece of information</a:t>
            </a:r>
          </a:p>
        </p:txBody>
      </p:sp>
      <p:sp>
        <p:nvSpPr>
          <p:cNvPr id="9" name="TextBox 9"/>
          <p:cNvSpPr txBox="1"/>
          <p:nvPr/>
        </p:nvSpPr>
        <p:spPr>
          <a:xfrm>
            <a:off x="9658969" y="2241994"/>
            <a:ext cx="7037375" cy="457629"/>
          </a:xfrm>
          <a:prstGeom prst="rect">
            <a:avLst/>
          </a:prstGeom>
        </p:spPr>
        <p:txBody>
          <a:bodyPr lIns="0" tIns="0" rIns="0" bIns="0" rtlCol="0" anchor="t">
            <a:spAutoFit/>
          </a:bodyPr>
          <a:lstStyle/>
          <a:p>
            <a:pPr algn="l">
              <a:lnSpc>
                <a:spcPts val="2702"/>
              </a:lnSpc>
            </a:pPr>
            <a:r>
              <a:rPr lang="en-US" sz="2251" b="1">
                <a:solidFill>
                  <a:srgbClr val="B189FF"/>
                </a:solidFill>
                <a:latin typeface="Aptos Bold"/>
                <a:ea typeface="Aptos Bold"/>
                <a:cs typeface="Aptos Bold"/>
                <a:sym typeface="Aptos Bold"/>
              </a:rPr>
              <a:t>Stored state</a:t>
            </a:r>
          </a:p>
        </p:txBody>
      </p:sp>
      <p:sp>
        <p:nvSpPr>
          <p:cNvPr id="10" name="TextBox 10"/>
          <p:cNvSpPr txBox="1"/>
          <p:nvPr/>
        </p:nvSpPr>
        <p:spPr>
          <a:xfrm>
            <a:off x="9658969" y="2928328"/>
            <a:ext cx="7037375" cy="3614776"/>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BoardMove contains:</a:t>
            </a:r>
          </a:p>
          <a:p>
            <a:pPr algn="l">
              <a:lnSpc>
                <a:spcPts val="2251"/>
              </a:lnSpc>
            </a:pPr>
            <a:r>
              <a:rPr lang="en-US" sz="1876">
                <a:solidFill>
                  <a:srgbClr val="EEF1F7"/>
                </a:solidFill>
                <a:latin typeface="Aptos"/>
                <a:ea typeface="Aptos"/>
                <a:cs typeface="Aptos"/>
                <a:sym typeface="Aptos"/>
              </a:rPr>
              <a:t>• MovedValue</a:t>
            </a:r>
          </a:p>
          <a:p>
            <a:pPr algn="l">
              <a:lnSpc>
                <a:spcPts val="2251"/>
              </a:lnSpc>
            </a:pPr>
            <a:r>
              <a:rPr lang="en-US" sz="1876">
                <a:solidFill>
                  <a:srgbClr val="EEF1F7"/>
                </a:solidFill>
                <a:latin typeface="Aptos"/>
                <a:ea typeface="Aptos"/>
                <a:cs typeface="Aptos"/>
                <a:sym typeface="Aptos"/>
              </a:rPr>
              <a:t>• PreviousPosition</a:t>
            </a:r>
          </a:p>
          <a:p>
            <a:pPr algn="l">
              <a:lnSpc>
                <a:spcPts val="2251"/>
              </a:lnSpc>
            </a:pPr>
            <a:r>
              <a:rPr lang="en-US" sz="1876">
                <a:solidFill>
                  <a:srgbClr val="EEF1F7"/>
                </a:solidFill>
                <a:latin typeface="Aptos"/>
                <a:ea typeface="Aptos"/>
                <a:cs typeface="Aptos"/>
                <a:sym typeface="Aptos"/>
              </a:rPr>
              <a:t>• TargetPosition</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A Stack&lt;BoardMove&gt; gives LIFO behavior: the newest move is undone first.</a:t>
            </a:r>
          </a:p>
        </p:txBody>
      </p:sp>
      <p:sp>
        <p:nvSpPr>
          <p:cNvPr id="11" name="TextBox 11"/>
          <p:cNvSpPr txBox="1"/>
          <p:nvPr/>
        </p:nvSpPr>
        <p:spPr>
          <a:xfrm>
            <a:off x="1422930" y="7458151"/>
            <a:ext cx="15342041" cy="457629"/>
          </a:xfrm>
          <a:prstGeom prst="rect">
            <a:avLst/>
          </a:prstGeom>
        </p:spPr>
        <p:txBody>
          <a:bodyPr lIns="0" tIns="0" rIns="0" bIns="0" rtlCol="0" anchor="t">
            <a:spAutoFit/>
          </a:bodyPr>
          <a:lstStyle/>
          <a:p>
            <a:pPr algn="l">
              <a:lnSpc>
                <a:spcPts val="2702"/>
              </a:lnSpc>
            </a:pPr>
            <a:r>
              <a:rPr lang="en-US" sz="2251" b="1">
                <a:solidFill>
                  <a:srgbClr val="66CD96"/>
                </a:solidFill>
                <a:latin typeface="Aptos Bold"/>
                <a:ea typeface="Aptos Bold"/>
                <a:cs typeface="Aptos Bold"/>
                <a:sym typeface="Aptos Bold"/>
              </a:rPr>
              <a:t>Undo sequence</a:t>
            </a:r>
          </a:p>
        </p:txBody>
      </p:sp>
      <p:sp>
        <p:nvSpPr>
          <p:cNvPr id="12" name="TextBox 12"/>
          <p:cNvSpPr txBox="1"/>
          <p:nvPr/>
        </p:nvSpPr>
        <p:spPr>
          <a:xfrm>
            <a:off x="1422930" y="7970011"/>
            <a:ext cx="15342041" cy="282129"/>
          </a:xfrm>
          <a:prstGeom prst="rect">
            <a:avLst/>
          </a:prstGeom>
        </p:spPr>
        <p:txBody>
          <a:bodyPr lIns="0" tIns="0" rIns="0" bIns="0" rtlCol="0" anchor="t">
            <a:spAutoFit/>
          </a:bodyPr>
          <a:lstStyle/>
          <a:p>
            <a:pPr algn="l">
              <a:lnSpc>
                <a:spcPts val="2251"/>
              </a:lnSpc>
            </a:pPr>
            <a:r>
              <a:rPr dirty="0">
                <a:solidFill>
                  <a:schemeClr val="bg1"/>
                </a:solidFill>
              </a:rPr>
              <a:t>Undo() → Pop move → </a:t>
            </a:r>
            <a:r>
              <a:rPr dirty="0" err="1">
                <a:solidFill>
                  <a:schemeClr val="bg1"/>
                </a:solidFill>
              </a:rPr>
              <a:t>IHintService.RegisterUndo</a:t>
            </a:r>
            <a:r>
              <a:rPr dirty="0">
                <a:solidFill>
                  <a:schemeClr val="bg1"/>
                </a:solidFill>
              </a:rPr>
              <a:t>() → </a:t>
            </a:r>
            <a:r>
              <a:rPr dirty="0" err="1">
                <a:solidFill>
                  <a:schemeClr val="bg1"/>
                </a:solidFill>
              </a:rPr>
              <a:t>GridModel.UndoMove</a:t>
            </a:r>
            <a:r>
              <a:rPr dirty="0">
                <a:solidFill>
                  <a:schemeClr val="bg1"/>
                </a:solidFill>
              </a:rPr>
              <a:t>(move) → </a:t>
            </a:r>
            <a:r>
              <a:rPr dirty="0" err="1">
                <a:solidFill>
                  <a:schemeClr val="bg1"/>
                </a:solidFill>
              </a:rPr>
              <a:t>remainingMoves</a:t>
            </a:r>
            <a:r>
              <a:rPr dirty="0">
                <a:solidFill>
                  <a:schemeClr val="bg1"/>
                </a:solidFill>
              </a:rPr>
              <a:t>++ → animate tile back → refresh move counter.</a:t>
            </a:r>
          </a:p>
        </p:txBody>
      </p:sp>
      <p:pic>
        <p:nvPicPr>
          <p:cNvPr id="14" name="Picture 13">
            <a:extLst>
              <a:ext uri="{FF2B5EF4-FFF2-40B4-BE49-F238E27FC236}">
                <a16:creationId xmlns:a16="http://schemas.microsoft.com/office/drawing/2014/main" id="{4439BCB9-57BE-9808-66C5-EB3DF63FED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1969591"/>
            <a:ext cx="5020376" cy="50203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grpSp>
        <p:nvGrpSpPr>
          <p:cNvPr id="2" name="Group 2"/>
          <p:cNvGrpSpPr/>
          <p:nvPr/>
        </p:nvGrpSpPr>
        <p:grpSpPr>
          <a:xfrm>
            <a:off x="9258386" y="1983229"/>
            <a:ext cx="7838532" cy="4887287"/>
            <a:chOff x="0" y="0"/>
            <a:chExt cx="10451376" cy="6516383"/>
          </a:xfrm>
        </p:grpSpPr>
        <p:sp>
          <p:nvSpPr>
            <p:cNvPr id="3" name="Freeform 3"/>
            <p:cNvSpPr/>
            <p:nvPr/>
          </p:nvSpPr>
          <p:spPr>
            <a:xfrm>
              <a:off x="0" y="0"/>
              <a:ext cx="10451338" cy="6516370"/>
            </a:xfrm>
            <a:custGeom>
              <a:avLst/>
              <a:gdLst/>
              <a:ahLst/>
              <a:cxnLst/>
              <a:rect l="l" t="t" r="r" b="b"/>
              <a:pathLst>
                <a:path w="10451338" h="6516370">
                  <a:moveTo>
                    <a:pt x="0" y="1086104"/>
                  </a:moveTo>
                  <a:cubicBezTo>
                    <a:pt x="0" y="486283"/>
                    <a:pt x="486283" y="0"/>
                    <a:pt x="1086104" y="0"/>
                  </a:cubicBezTo>
                  <a:lnTo>
                    <a:pt x="9365234" y="0"/>
                  </a:lnTo>
                  <a:cubicBezTo>
                    <a:pt x="9965055" y="0"/>
                    <a:pt x="10451338" y="486283"/>
                    <a:pt x="10451338" y="1086104"/>
                  </a:cubicBezTo>
                  <a:lnTo>
                    <a:pt x="10451338" y="5430266"/>
                  </a:lnTo>
                  <a:cubicBezTo>
                    <a:pt x="10451338" y="6030087"/>
                    <a:pt x="9965055" y="6516370"/>
                    <a:pt x="9365234" y="6516370"/>
                  </a:cubicBezTo>
                  <a:lnTo>
                    <a:pt x="1086104" y="6516370"/>
                  </a:lnTo>
                  <a:cubicBezTo>
                    <a:pt x="486283" y="6516370"/>
                    <a:pt x="0" y="6030087"/>
                    <a:pt x="0" y="5430266"/>
                  </a:cubicBezTo>
                  <a:close/>
                </a:path>
              </a:pathLst>
            </a:custGeom>
            <a:solidFill>
              <a:srgbClr val="1E222D"/>
            </a:solidFill>
            <a:ln w="14299" cap="sq">
              <a:solidFill>
                <a:srgbClr val="272C3A"/>
              </a:solidFill>
              <a:prstDash val="solid"/>
              <a:miter/>
            </a:ln>
          </p:spPr>
          <p:txBody>
            <a:bodyPr/>
            <a:lstStyle/>
            <a:p>
              <a:endParaRPr lang="en-IN"/>
            </a:p>
          </p:txBody>
        </p:sp>
      </p:grpSp>
      <p:grpSp>
        <p:nvGrpSpPr>
          <p:cNvPr id="4" name="Group 4"/>
          <p:cNvGrpSpPr/>
          <p:nvPr/>
        </p:nvGrpSpPr>
        <p:grpSpPr>
          <a:xfrm>
            <a:off x="1022356" y="7268013"/>
            <a:ext cx="16143199" cy="1355514"/>
            <a:chOff x="0" y="0"/>
            <a:chExt cx="21524265" cy="1807352"/>
          </a:xfrm>
        </p:grpSpPr>
        <p:sp>
          <p:nvSpPr>
            <p:cNvPr id="5" name="Freeform 5"/>
            <p:cNvSpPr/>
            <p:nvPr/>
          </p:nvSpPr>
          <p:spPr>
            <a:xfrm>
              <a:off x="0" y="0"/>
              <a:ext cx="21524215" cy="1807303"/>
            </a:xfrm>
            <a:custGeom>
              <a:avLst/>
              <a:gdLst/>
              <a:ahLst/>
              <a:cxnLst/>
              <a:rect l="l" t="t" r="r" b="b"/>
              <a:pathLst>
                <a:path w="21524215" h="1807303">
                  <a:moveTo>
                    <a:pt x="0" y="301238"/>
                  </a:moveTo>
                  <a:cubicBezTo>
                    <a:pt x="0" y="134918"/>
                    <a:pt x="138049" y="0"/>
                    <a:pt x="308229" y="0"/>
                  </a:cubicBezTo>
                  <a:lnTo>
                    <a:pt x="21215986" y="0"/>
                  </a:lnTo>
                  <a:cubicBezTo>
                    <a:pt x="21386166" y="0"/>
                    <a:pt x="21524215" y="134918"/>
                    <a:pt x="21524215" y="301238"/>
                  </a:cubicBezTo>
                  <a:lnTo>
                    <a:pt x="21524215" y="1506065"/>
                  </a:lnTo>
                  <a:cubicBezTo>
                    <a:pt x="21524215" y="1672385"/>
                    <a:pt x="21386166" y="1807303"/>
                    <a:pt x="21215986" y="1807303"/>
                  </a:cubicBezTo>
                  <a:lnTo>
                    <a:pt x="308229" y="1807303"/>
                  </a:lnTo>
                  <a:cubicBezTo>
                    <a:pt x="138049" y="1807303"/>
                    <a:pt x="0" y="1672509"/>
                    <a:pt x="0" y="1506065"/>
                  </a:cubicBezTo>
                  <a:close/>
                </a:path>
              </a:pathLst>
            </a:custGeom>
            <a:solidFill>
              <a:srgbClr val="1E222D"/>
            </a:solidFill>
            <a:ln w="14299" cap="sq">
              <a:solidFill>
                <a:srgbClr val="272C3A"/>
              </a:solidFill>
              <a:prstDash val="solid"/>
              <a:miter/>
            </a:ln>
          </p:spPr>
          <p:txBody>
            <a:bodyPr/>
            <a:lstStyle/>
            <a:p>
              <a:endParaRPr lang="en-IN"/>
            </a:p>
          </p:txBody>
        </p:sp>
      </p:grpSp>
      <p:sp>
        <p:nvSpPr>
          <p:cNvPr id="6" name="Freeform 6"/>
          <p:cNvSpPr/>
          <p:nvPr/>
        </p:nvSpPr>
        <p:spPr>
          <a:xfrm>
            <a:off x="2778774" y="2039400"/>
            <a:ext cx="4792028" cy="4774944"/>
          </a:xfrm>
          <a:custGeom>
            <a:avLst/>
            <a:gdLst/>
            <a:ahLst/>
            <a:cxnLst/>
            <a:rect l="l" t="t" r="r" b="b"/>
            <a:pathLst>
              <a:path w="4792028" h="4774944">
                <a:moveTo>
                  <a:pt x="0" y="0"/>
                </a:moveTo>
                <a:lnTo>
                  <a:pt x="4792028" y="0"/>
                </a:lnTo>
                <a:lnTo>
                  <a:pt x="4792028" y="4774944"/>
                </a:lnTo>
                <a:lnTo>
                  <a:pt x="0" y="4774944"/>
                </a:lnTo>
                <a:lnTo>
                  <a:pt x="0" y="0"/>
                </a:lnTo>
                <a:close/>
              </a:path>
            </a:pathLst>
          </a:custGeom>
          <a:blipFill>
            <a:blip r:embed="rId2"/>
            <a:stretch>
              <a:fillRect/>
            </a:stretch>
          </a:blipFill>
        </p:spPr>
        <p:txBody>
          <a:bodyPr/>
          <a:lstStyle/>
          <a:p>
            <a:endParaRPr/>
          </a:p>
        </p:txBody>
      </p:sp>
      <p:sp>
        <p:nvSpPr>
          <p:cNvPr id="7" name="TextBox 7"/>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9. Level Generation</a:t>
            </a:r>
          </a:p>
        </p:txBody>
      </p:sp>
      <p:sp>
        <p:nvSpPr>
          <p:cNvPr id="8" name="TextBox 8"/>
          <p:cNvSpPr txBox="1"/>
          <p:nvPr/>
        </p:nvSpPr>
        <p:spPr>
          <a:xfrm>
            <a:off x="1011126" y="1436322"/>
            <a:ext cx="16151924" cy="323850"/>
          </a:xfrm>
          <a:prstGeom prst="rect">
            <a:avLst/>
          </a:prstGeom>
        </p:spPr>
        <p:txBody>
          <a:bodyPr lIns="0" tIns="0" rIns="0" bIns="0" rtlCol="0" anchor="t">
            <a:spAutoFit/>
          </a:bodyPr>
          <a:lstStyle/>
          <a:p>
            <a:pPr algn="l">
              <a:lnSpc>
                <a:spcPts val="2520"/>
              </a:lnSpc>
            </a:pPr>
            <a:r>
              <a:rPr lang="en-US" sz="2100">
                <a:solidFill>
                  <a:srgbClr val="A7AFBF"/>
                </a:solidFill>
                <a:latin typeface="Aptos"/>
                <a:ea typeface="Aptos"/>
                <a:cs typeface="Aptos"/>
                <a:sym typeface="Aptos"/>
              </a:rPr>
              <a:t>Shuffle a solved board by legal moves</a:t>
            </a:r>
          </a:p>
        </p:txBody>
      </p:sp>
      <p:sp>
        <p:nvSpPr>
          <p:cNvPr id="9" name="TextBox 9"/>
          <p:cNvSpPr txBox="1"/>
          <p:nvPr/>
        </p:nvSpPr>
        <p:spPr>
          <a:xfrm>
            <a:off x="9658969" y="2241994"/>
            <a:ext cx="7037375" cy="457629"/>
          </a:xfrm>
          <a:prstGeom prst="rect">
            <a:avLst/>
          </a:prstGeom>
        </p:spPr>
        <p:txBody>
          <a:bodyPr lIns="0" tIns="0" rIns="0" bIns="0" rtlCol="0" anchor="t">
            <a:spAutoFit/>
          </a:bodyPr>
          <a:lstStyle/>
          <a:p>
            <a:pPr algn="l">
              <a:lnSpc>
                <a:spcPts val="2702"/>
              </a:lnSpc>
            </a:pPr>
            <a:r>
              <a:rPr lang="en-US" sz="2251" b="1">
                <a:solidFill>
                  <a:srgbClr val="FFB15C"/>
                </a:solidFill>
                <a:latin typeface="Aptos Bold"/>
                <a:ea typeface="Aptos Bold"/>
                <a:cs typeface="Aptos Bold"/>
                <a:sym typeface="Aptos Bold"/>
              </a:rPr>
              <a:t>Algorithm</a:t>
            </a:r>
          </a:p>
        </p:txBody>
      </p:sp>
      <p:sp>
        <p:nvSpPr>
          <p:cNvPr id="10" name="TextBox 10"/>
          <p:cNvSpPr txBox="1"/>
          <p:nvPr/>
        </p:nvSpPr>
        <p:spPr>
          <a:xfrm>
            <a:off x="9658969" y="2928328"/>
            <a:ext cx="7037375" cy="2346796"/>
          </a:xfrm>
          <a:prstGeom prst="rect">
            <a:avLst/>
          </a:prstGeom>
        </p:spPr>
        <p:txBody>
          <a:bodyPr lIns="0" tIns="0" rIns="0" bIns="0" rtlCol="0" anchor="t">
            <a:spAutoFit/>
          </a:bodyPr>
          <a:lstStyle/>
          <a:p>
            <a:pPr algn="l">
              <a:lnSpc>
                <a:spcPts val="2251"/>
              </a:lnSpc>
            </a:pPr>
            <a:r>
              <a:rPr dirty="0">
                <a:solidFill>
                  <a:schemeClr val="bg1"/>
                </a:solidFill>
              </a:rPr>
              <a:t>Start from the solved board.</a:t>
            </a:r>
            <a:br>
              <a:rPr dirty="0">
                <a:solidFill>
                  <a:schemeClr val="bg1"/>
                </a:solidFill>
              </a:rPr>
            </a:br>
            <a:br>
              <a:rPr dirty="0">
                <a:solidFill>
                  <a:schemeClr val="bg1"/>
                </a:solidFill>
              </a:rPr>
            </a:br>
            <a:r>
              <a:rPr dirty="0">
                <a:solidFill>
                  <a:schemeClr val="bg1"/>
                </a:solidFill>
              </a:rPr>
              <a:t>Repeat </a:t>
            </a:r>
            <a:r>
              <a:rPr dirty="0" err="1">
                <a:solidFill>
                  <a:schemeClr val="bg1"/>
                </a:solidFill>
              </a:rPr>
              <a:t>moveCount</a:t>
            </a:r>
            <a:r>
              <a:rPr dirty="0">
                <a:solidFill>
                  <a:schemeClr val="bg1"/>
                </a:solidFill>
              </a:rPr>
              <a:t> times:</a:t>
            </a:r>
            <a:br>
              <a:rPr dirty="0">
                <a:solidFill>
                  <a:schemeClr val="bg1"/>
                </a:solidFill>
              </a:rPr>
            </a:br>
            <a:r>
              <a:rPr dirty="0">
                <a:solidFill>
                  <a:schemeClr val="bg1"/>
                </a:solidFill>
              </a:rPr>
              <a:t>1. Pick a random direction.</a:t>
            </a:r>
            <a:br>
              <a:rPr dirty="0">
                <a:solidFill>
                  <a:schemeClr val="bg1"/>
                </a:solidFill>
              </a:rPr>
            </a:br>
            <a:r>
              <a:rPr dirty="0">
                <a:solidFill>
                  <a:schemeClr val="bg1"/>
                </a:solidFill>
              </a:rPr>
              <a:t>2. Reject the direct opposite of the previous direction.</a:t>
            </a:r>
            <a:br>
              <a:rPr dirty="0">
                <a:solidFill>
                  <a:schemeClr val="bg1"/>
                </a:solidFill>
              </a:rPr>
            </a:br>
            <a:r>
              <a:rPr dirty="0">
                <a:solidFill>
                  <a:schemeClr val="bg1"/>
                </a:solidFill>
              </a:rPr>
              <a:t>3. Ask </a:t>
            </a:r>
            <a:r>
              <a:rPr dirty="0" err="1">
                <a:solidFill>
                  <a:schemeClr val="bg1"/>
                </a:solidFill>
              </a:rPr>
              <a:t>GridModel</a:t>
            </a:r>
            <a:r>
              <a:rPr dirty="0">
                <a:solidFill>
                  <a:schemeClr val="bg1"/>
                </a:solidFill>
              </a:rPr>
              <a:t> to perform the move.</a:t>
            </a:r>
            <a:br>
              <a:rPr dirty="0">
                <a:solidFill>
                  <a:schemeClr val="bg1"/>
                </a:solidFill>
              </a:rPr>
            </a:br>
            <a:r>
              <a:rPr dirty="0">
                <a:solidFill>
                  <a:schemeClr val="bg1"/>
                </a:solidFill>
              </a:rPr>
              <a:t>4. If illegal, retry the iteration.</a:t>
            </a:r>
            <a:br>
              <a:rPr dirty="0">
                <a:solidFill>
                  <a:schemeClr val="bg1"/>
                </a:solidFill>
              </a:rPr>
            </a:br>
            <a:r>
              <a:rPr dirty="0">
                <a:solidFill>
                  <a:schemeClr val="bg1"/>
                </a:solidFill>
              </a:rPr>
              <a:t>5. Record the accepted </a:t>
            </a:r>
            <a:r>
              <a:rPr dirty="0" err="1">
                <a:solidFill>
                  <a:schemeClr val="bg1"/>
                </a:solidFill>
              </a:rPr>
              <a:t>BoardMove</a:t>
            </a:r>
            <a:r>
              <a:rPr dirty="0">
                <a:solidFill>
                  <a:schemeClr val="bg1"/>
                </a:solidFill>
              </a:rPr>
              <a:t> in </a:t>
            </a:r>
            <a:r>
              <a:rPr dirty="0" err="1">
                <a:solidFill>
                  <a:schemeClr val="bg1"/>
                </a:solidFill>
              </a:rPr>
              <a:t>ShuffleMoves</a:t>
            </a:r>
            <a:r>
              <a:rPr dirty="0">
                <a:solidFill>
                  <a:schemeClr val="bg1"/>
                </a:solidFill>
              </a:rPr>
              <a:t>.</a:t>
            </a:r>
          </a:p>
        </p:txBody>
      </p:sp>
      <p:sp>
        <p:nvSpPr>
          <p:cNvPr id="11" name="TextBox 11"/>
          <p:cNvSpPr txBox="1"/>
          <p:nvPr/>
        </p:nvSpPr>
        <p:spPr>
          <a:xfrm>
            <a:off x="1422930" y="7526788"/>
            <a:ext cx="15342041" cy="342900"/>
          </a:xfrm>
          <a:prstGeom prst="rect">
            <a:avLst/>
          </a:prstGeom>
        </p:spPr>
        <p:txBody>
          <a:bodyPr lIns="0" tIns="0" rIns="0" bIns="0" rtlCol="0" anchor="t">
            <a:spAutoFit/>
          </a:bodyPr>
          <a:lstStyle/>
          <a:p>
            <a:pPr algn="l">
              <a:lnSpc>
                <a:spcPts val="2702"/>
              </a:lnSpc>
            </a:pPr>
            <a:r>
              <a:rPr lang="en-US" sz="2251" b="1">
                <a:solidFill>
                  <a:srgbClr val="66CD96"/>
                </a:solidFill>
                <a:latin typeface="Aptos Bold"/>
                <a:ea typeface="Aptos Bold"/>
                <a:cs typeface="Aptos Bold"/>
                <a:sym typeface="Aptos Bold"/>
              </a:rPr>
              <a:t>Important property</a:t>
            </a:r>
          </a:p>
        </p:txBody>
      </p:sp>
      <p:sp>
        <p:nvSpPr>
          <p:cNvPr id="12" name="TextBox 12"/>
          <p:cNvSpPr txBox="1"/>
          <p:nvPr/>
        </p:nvSpPr>
        <p:spPr>
          <a:xfrm>
            <a:off x="1422930" y="7917313"/>
            <a:ext cx="15673988" cy="538609"/>
          </a:xfrm>
          <a:prstGeom prst="rect">
            <a:avLst/>
          </a:prstGeom>
        </p:spPr>
        <p:txBody>
          <a:bodyPr lIns="0" tIns="0" rIns="0" bIns="0" rtlCol="0" anchor="t">
            <a:spAutoFit/>
          </a:bodyPr>
          <a:lstStyle/>
          <a:p>
            <a:pPr algn="l">
              <a:lnSpc>
                <a:spcPts val="2092"/>
              </a:lnSpc>
            </a:pPr>
            <a:r>
              <a:rPr dirty="0">
                <a:solidFill>
                  <a:schemeClr val="bg1"/>
                </a:solidFill>
              </a:rPr>
              <a:t>Every generated board is reachable from the solved state because the generator creates it exclusively through legal </a:t>
            </a:r>
            <a:r>
              <a:rPr dirty="0" err="1">
                <a:solidFill>
                  <a:schemeClr val="bg1"/>
                </a:solidFill>
              </a:rPr>
              <a:t>GridModel.TryMove</a:t>
            </a:r>
            <a:r>
              <a:rPr dirty="0">
                <a:solidFill>
                  <a:schemeClr val="bg1"/>
                </a:solidFill>
              </a:rPr>
              <a:t>() operations. Each accepted </a:t>
            </a:r>
            <a:r>
              <a:rPr dirty="0" err="1">
                <a:solidFill>
                  <a:schemeClr val="bg1"/>
                </a:solidFill>
              </a:rPr>
              <a:t>BoardMove</a:t>
            </a:r>
            <a:r>
              <a:rPr dirty="0">
                <a:solidFill>
                  <a:schemeClr val="bg1"/>
                </a:solidFill>
              </a:rPr>
              <a:t> records the exact transition, so reversing </a:t>
            </a:r>
            <a:r>
              <a:rPr dirty="0" err="1">
                <a:solidFill>
                  <a:schemeClr val="bg1"/>
                </a:solidFill>
              </a:rPr>
              <a:t>ShuffleMoves</a:t>
            </a:r>
            <a:r>
              <a:rPr dirty="0">
                <a:solidFill>
                  <a:schemeClr val="bg1"/>
                </a:solidFill>
              </a:rPr>
              <a:t> gives a valid path back to the solved state.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grpSp>
        <p:nvGrpSpPr>
          <p:cNvPr id="4" name="Group 4"/>
          <p:cNvGrpSpPr/>
          <p:nvPr/>
        </p:nvGrpSpPr>
        <p:grpSpPr>
          <a:xfrm>
            <a:off x="8915219" y="1845955"/>
            <a:ext cx="8181699" cy="5367718"/>
            <a:chOff x="0" y="0"/>
            <a:chExt cx="10908932" cy="7156958"/>
          </a:xfrm>
        </p:grpSpPr>
        <p:sp>
          <p:nvSpPr>
            <p:cNvPr id="5" name="Freeform 5"/>
            <p:cNvSpPr/>
            <p:nvPr/>
          </p:nvSpPr>
          <p:spPr>
            <a:xfrm>
              <a:off x="0" y="0"/>
              <a:ext cx="10909046" cy="7156958"/>
            </a:xfrm>
            <a:custGeom>
              <a:avLst/>
              <a:gdLst/>
              <a:ahLst/>
              <a:cxnLst/>
              <a:rect l="l" t="t" r="r" b="b"/>
              <a:pathLst>
                <a:path w="10909046" h="7156958">
                  <a:moveTo>
                    <a:pt x="0" y="1192911"/>
                  </a:moveTo>
                  <a:cubicBezTo>
                    <a:pt x="0" y="534035"/>
                    <a:pt x="534035" y="0"/>
                    <a:pt x="1192911" y="0"/>
                  </a:cubicBezTo>
                  <a:lnTo>
                    <a:pt x="9716135" y="0"/>
                  </a:lnTo>
                  <a:cubicBezTo>
                    <a:pt x="10374884" y="0"/>
                    <a:pt x="10909046" y="534035"/>
                    <a:pt x="10909046" y="1192911"/>
                  </a:cubicBezTo>
                  <a:lnTo>
                    <a:pt x="10909046" y="5964047"/>
                  </a:lnTo>
                  <a:cubicBezTo>
                    <a:pt x="10909046" y="6622796"/>
                    <a:pt x="10375011" y="7156958"/>
                    <a:pt x="9716135" y="7156958"/>
                  </a:cubicBezTo>
                  <a:lnTo>
                    <a:pt x="1192911" y="7156958"/>
                  </a:lnTo>
                  <a:cubicBezTo>
                    <a:pt x="534035" y="7156958"/>
                    <a:pt x="0" y="6622923"/>
                    <a:pt x="0" y="5964047"/>
                  </a:cubicBezTo>
                  <a:close/>
                </a:path>
              </a:pathLst>
            </a:custGeom>
            <a:solidFill>
              <a:srgbClr val="1E222D"/>
            </a:solidFill>
            <a:ln w="14299" cap="sq">
              <a:solidFill>
                <a:srgbClr val="272C3A"/>
              </a:solidFill>
              <a:prstDash val="solid"/>
              <a:miter/>
            </a:ln>
          </p:spPr>
          <p:txBody>
            <a:bodyPr/>
            <a:lstStyle/>
            <a:p>
              <a:endParaRPr lang="en-IN"/>
            </a:p>
          </p:txBody>
        </p:sp>
      </p:grpSp>
      <p:grpSp>
        <p:nvGrpSpPr>
          <p:cNvPr id="6" name="Group 6"/>
          <p:cNvGrpSpPr/>
          <p:nvPr/>
        </p:nvGrpSpPr>
        <p:grpSpPr>
          <a:xfrm>
            <a:off x="953719" y="7611180"/>
            <a:ext cx="16143199" cy="1468503"/>
            <a:chOff x="0" y="0"/>
            <a:chExt cx="21524265" cy="1958004"/>
          </a:xfrm>
        </p:grpSpPr>
        <p:sp>
          <p:nvSpPr>
            <p:cNvPr id="7" name="Freeform 7"/>
            <p:cNvSpPr/>
            <p:nvPr/>
          </p:nvSpPr>
          <p:spPr>
            <a:xfrm>
              <a:off x="0" y="0"/>
              <a:ext cx="21524215" cy="1957897"/>
            </a:xfrm>
            <a:custGeom>
              <a:avLst/>
              <a:gdLst/>
              <a:ahLst/>
              <a:cxnLst/>
              <a:rect l="l" t="t" r="r" b="b"/>
              <a:pathLst>
                <a:path w="21524215" h="1957897">
                  <a:moveTo>
                    <a:pt x="0" y="326257"/>
                  </a:moveTo>
                  <a:cubicBezTo>
                    <a:pt x="0" y="146154"/>
                    <a:pt x="103886" y="0"/>
                    <a:pt x="231902" y="0"/>
                  </a:cubicBezTo>
                  <a:lnTo>
                    <a:pt x="21292313" y="0"/>
                  </a:lnTo>
                  <a:cubicBezTo>
                    <a:pt x="21420455" y="0"/>
                    <a:pt x="21524215" y="146154"/>
                    <a:pt x="21524215" y="326257"/>
                  </a:cubicBezTo>
                  <a:lnTo>
                    <a:pt x="21524215" y="1631640"/>
                  </a:lnTo>
                  <a:cubicBezTo>
                    <a:pt x="21524215" y="1811921"/>
                    <a:pt x="21420328" y="1957897"/>
                    <a:pt x="21292313" y="1957897"/>
                  </a:cubicBezTo>
                  <a:lnTo>
                    <a:pt x="231902" y="1957897"/>
                  </a:lnTo>
                  <a:cubicBezTo>
                    <a:pt x="103886" y="1958055"/>
                    <a:pt x="0" y="1811921"/>
                    <a:pt x="0" y="1631640"/>
                  </a:cubicBezTo>
                  <a:close/>
                </a:path>
              </a:pathLst>
            </a:custGeom>
            <a:solidFill>
              <a:srgbClr val="1E222D"/>
            </a:solidFill>
            <a:ln w="14299" cap="sq">
              <a:solidFill>
                <a:srgbClr val="272C3A"/>
              </a:solidFill>
              <a:prstDash val="solid"/>
              <a:miter/>
            </a:ln>
          </p:spPr>
          <p:txBody>
            <a:bodyPr/>
            <a:lstStyle/>
            <a:p>
              <a:endParaRPr lang="en-IN"/>
            </a:p>
          </p:txBody>
        </p:sp>
      </p:grpSp>
      <p:sp>
        <p:nvSpPr>
          <p:cNvPr id="8" name="TextBox 8"/>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10. Hint System — Generated Solution Path</a:t>
            </a:r>
          </a:p>
        </p:txBody>
      </p:sp>
      <p:sp>
        <p:nvSpPr>
          <p:cNvPr id="9" name="TextBox 9"/>
          <p:cNvSpPr txBox="1"/>
          <p:nvPr/>
        </p:nvSpPr>
        <p:spPr>
          <a:xfrm>
            <a:off x="1011126" y="1436322"/>
            <a:ext cx="16151924" cy="323850"/>
          </a:xfrm>
          <a:prstGeom prst="rect">
            <a:avLst/>
          </a:prstGeom>
        </p:spPr>
        <p:txBody>
          <a:bodyPr lIns="0" tIns="0" rIns="0" bIns="0" rtlCol="0" anchor="t">
            <a:spAutoFit/>
          </a:bodyPr>
          <a:lstStyle/>
          <a:p>
            <a:pPr algn="l">
              <a:lnSpc>
                <a:spcPts val="2520"/>
              </a:lnSpc>
            </a:pPr>
            <a:r>
              <a:rPr lang="en-US" sz="2100">
                <a:solidFill>
                  <a:srgbClr val="A7AFBF"/>
                </a:solidFill>
                <a:latin typeface="Aptos"/>
                <a:ea typeface="Aptos"/>
                <a:cs typeface="Aptos"/>
                <a:sym typeface="Aptos"/>
              </a:rPr>
              <a:t>The hint service reuses the exact shuffle history generated when the level is created.</a:t>
            </a:r>
          </a:p>
        </p:txBody>
      </p:sp>
      <p:sp>
        <p:nvSpPr>
          <p:cNvPr id="10" name="TextBox 10"/>
          <p:cNvSpPr txBox="1"/>
          <p:nvPr/>
        </p:nvSpPr>
        <p:spPr>
          <a:xfrm>
            <a:off x="9315802" y="2104730"/>
            <a:ext cx="7380542" cy="457629"/>
          </a:xfrm>
          <a:prstGeom prst="rect">
            <a:avLst/>
          </a:prstGeom>
        </p:spPr>
        <p:txBody>
          <a:bodyPr lIns="0" tIns="0" rIns="0" bIns="0" rtlCol="0" anchor="t">
            <a:spAutoFit/>
          </a:bodyPr>
          <a:lstStyle/>
          <a:p>
            <a:pPr algn="l">
              <a:lnSpc>
                <a:spcPts val="2702"/>
              </a:lnSpc>
            </a:pPr>
            <a:r>
              <a:rPr lang="en-US" sz="2251" b="1">
                <a:solidFill>
                  <a:srgbClr val="5CAEFF"/>
                </a:solidFill>
                <a:latin typeface="Aptos Bold"/>
                <a:ea typeface="Aptos Bold"/>
                <a:cs typeface="Aptos Bold"/>
                <a:sym typeface="Aptos Bold"/>
              </a:rPr>
              <a:t>Generated solution in simple terms</a:t>
            </a:r>
          </a:p>
        </p:txBody>
      </p:sp>
      <p:sp>
        <p:nvSpPr>
          <p:cNvPr id="11" name="TextBox 11"/>
          <p:cNvSpPr txBox="1"/>
          <p:nvPr/>
        </p:nvSpPr>
        <p:spPr>
          <a:xfrm>
            <a:off x="9315802" y="2791063"/>
            <a:ext cx="7380542" cy="2641749"/>
          </a:xfrm>
          <a:prstGeom prst="rect">
            <a:avLst/>
          </a:prstGeom>
        </p:spPr>
        <p:txBody>
          <a:bodyPr lIns="0" tIns="0" rIns="0" bIns="0" rtlCol="0" anchor="t">
            <a:spAutoFit/>
          </a:bodyPr>
          <a:lstStyle/>
          <a:p>
            <a:pPr algn="l">
              <a:lnSpc>
                <a:spcPts val="2251"/>
              </a:lnSpc>
            </a:pPr>
            <a:r>
              <a:rPr dirty="0" err="1">
                <a:solidFill>
                  <a:schemeClr val="bg1"/>
                </a:solidFill>
              </a:rPr>
              <a:t>ShuffleLevelGenerator</a:t>
            </a:r>
            <a:r>
              <a:rPr dirty="0">
                <a:solidFill>
                  <a:schemeClr val="bg1"/>
                </a:solidFill>
              </a:rPr>
              <a:t> starts from the solved board and performs legal moves.</a:t>
            </a:r>
            <a:br>
              <a:rPr dirty="0">
                <a:solidFill>
                  <a:schemeClr val="bg1"/>
                </a:solidFill>
              </a:rPr>
            </a:br>
            <a:br>
              <a:rPr dirty="0">
                <a:solidFill>
                  <a:schemeClr val="bg1"/>
                </a:solidFill>
              </a:rPr>
            </a:br>
            <a:r>
              <a:rPr dirty="0">
                <a:solidFill>
                  <a:schemeClr val="bg1"/>
                </a:solidFill>
              </a:rPr>
              <a:t>Every accepted shuffle move is stored as a </a:t>
            </a:r>
            <a:r>
              <a:rPr dirty="0" err="1">
                <a:solidFill>
                  <a:schemeClr val="bg1"/>
                </a:solidFill>
              </a:rPr>
              <a:t>BoardMove</a:t>
            </a:r>
            <a:r>
              <a:rPr dirty="0">
                <a:solidFill>
                  <a:schemeClr val="bg1"/>
                </a:solidFill>
              </a:rPr>
              <a:t>.</a:t>
            </a:r>
            <a:br>
              <a:rPr dirty="0">
                <a:solidFill>
                  <a:schemeClr val="bg1"/>
                </a:solidFill>
              </a:rPr>
            </a:br>
            <a:r>
              <a:rPr dirty="0">
                <a:solidFill>
                  <a:schemeClr val="bg1"/>
                </a:solidFill>
              </a:rPr>
              <a:t>The complete sequence is exposed through </a:t>
            </a:r>
            <a:r>
              <a:rPr dirty="0" err="1">
                <a:solidFill>
                  <a:schemeClr val="bg1"/>
                </a:solidFill>
              </a:rPr>
              <a:t>ShuffleMoves</a:t>
            </a:r>
            <a:r>
              <a:rPr dirty="0">
                <a:solidFill>
                  <a:schemeClr val="bg1"/>
                </a:solidFill>
              </a:rPr>
              <a:t>.</a:t>
            </a:r>
            <a:br>
              <a:rPr dirty="0">
                <a:solidFill>
                  <a:schemeClr val="bg1"/>
                </a:solidFill>
              </a:rPr>
            </a:br>
            <a:r>
              <a:rPr dirty="0">
                <a:solidFill>
                  <a:schemeClr val="bg1"/>
                </a:solidFill>
              </a:rPr>
              <a:t>The hint service starts at the final shuffle move and reverses the sequence one move at a time.</a:t>
            </a:r>
            <a:br>
              <a:rPr dirty="0">
                <a:solidFill>
                  <a:schemeClr val="bg1"/>
                </a:solidFill>
              </a:rPr>
            </a:br>
            <a:br>
              <a:rPr dirty="0">
                <a:solidFill>
                  <a:schemeClr val="bg1"/>
                </a:solidFill>
              </a:rPr>
            </a:br>
            <a:r>
              <a:rPr dirty="0">
                <a:solidFill>
                  <a:schemeClr val="bg1"/>
                </a:solidFill>
              </a:rPr>
              <a:t>Because the generator only records legal moves, every reversed move is a valid move for the generated level state.</a:t>
            </a:r>
          </a:p>
        </p:txBody>
      </p:sp>
      <p:sp>
        <p:nvSpPr>
          <p:cNvPr id="12" name="TextBox 12"/>
          <p:cNvSpPr txBox="1"/>
          <p:nvPr/>
        </p:nvSpPr>
        <p:spPr>
          <a:xfrm>
            <a:off x="1354293" y="7869955"/>
            <a:ext cx="15342041" cy="320601"/>
          </a:xfrm>
          <a:prstGeom prst="rect">
            <a:avLst/>
          </a:prstGeom>
        </p:spPr>
        <p:txBody>
          <a:bodyPr lIns="0" tIns="0" rIns="0" bIns="0" rtlCol="0" anchor="t">
            <a:spAutoFit/>
          </a:bodyPr>
          <a:lstStyle/>
          <a:p>
            <a:pPr algn="l">
              <a:lnSpc>
                <a:spcPts val="2702"/>
              </a:lnSpc>
            </a:pPr>
            <a:r>
              <a:rPr b="1" dirty="0">
                <a:solidFill>
                  <a:schemeClr val="accent6"/>
                </a:solidFill>
              </a:rPr>
              <a:t>Guaranteed solution path from the generated level back to the solved board.</a:t>
            </a:r>
          </a:p>
        </p:txBody>
      </p:sp>
      <p:sp>
        <p:nvSpPr>
          <p:cNvPr id="13" name="TextBox 13"/>
          <p:cNvSpPr txBox="1"/>
          <p:nvPr/>
        </p:nvSpPr>
        <p:spPr>
          <a:xfrm>
            <a:off x="1354293" y="8260480"/>
            <a:ext cx="14368632" cy="575075"/>
          </a:xfrm>
          <a:prstGeom prst="rect">
            <a:avLst/>
          </a:prstGeom>
        </p:spPr>
        <p:txBody>
          <a:bodyPr lIns="0" tIns="0" rIns="0" bIns="0" rtlCol="0" anchor="t">
            <a:spAutoFit/>
          </a:bodyPr>
          <a:lstStyle/>
          <a:p>
            <a:pPr algn="l">
              <a:lnSpc>
                <a:spcPts val="2265"/>
              </a:lnSpc>
              <a:spcBef>
                <a:spcPct val="0"/>
              </a:spcBef>
            </a:pPr>
            <a:r>
              <a:rPr dirty="0">
                <a:solidFill>
                  <a:schemeClr val="bg1"/>
                </a:solidFill>
              </a:rPr>
              <a:t>The system does not need to search the puzzle state space. The level generator has already produced a valid path; the hint system reuses that information instead of solving the board again.</a:t>
            </a:r>
          </a:p>
        </p:txBody>
      </p:sp>
      <p:pic>
        <p:nvPicPr>
          <p:cNvPr id="15" name="Picture 14">
            <a:extLst>
              <a:ext uri="{FF2B5EF4-FFF2-40B4-BE49-F238E27FC236}">
                <a16:creationId xmlns:a16="http://schemas.microsoft.com/office/drawing/2014/main" id="{94B76E22-0D2A-7E89-2392-8DC45CA364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4803" y="2157679"/>
            <a:ext cx="7382905" cy="48012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sp>
        <p:nvSpPr>
          <p:cNvPr id="3" name="Freeform 3"/>
          <p:cNvSpPr/>
          <p:nvPr/>
        </p:nvSpPr>
        <p:spPr>
          <a:xfrm>
            <a:off x="606790" y="1836735"/>
            <a:ext cx="15970186" cy="6208283"/>
          </a:xfrm>
          <a:custGeom>
            <a:avLst/>
            <a:gdLst/>
            <a:ahLst/>
            <a:cxnLst/>
            <a:rect l="l" t="t" r="r" b="b"/>
            <a:pathLst>
              <a:path w="10451338" h="6973951">
                <a:moveTo>
                  <a:pt x="0" y="1162304"/>
                </a:moveTo>
                <a:cubicBezTo>
                  <a:pt x="0" y="520446"/>
                  <a:pt x="520446" y="0"/>
                  <a:pt x="1162304" y="0"/>
                </a:cubicBezTo>
                <a:lnTo>
                  <a:pt x="9289035" y="0"/>
                </a:lnTo>
                <a:cubicBezTo>
                  <a:pt x="9931019" y="0"/>
                  <a:pt x="10451338" y="520446"/>
                  <a:pt x="10451338" y="1162304"/>
                </a:cubicBezTo>
                <a:lnTo>
                  <a:pt x="10451338" y="5811647"/>
                </a:lnTo>
                <a:cubicBezTo>
                  <a:pt x="10451338" y="6453632"/>
                  <a:pt x="9930892" y="6973951"/>
                  <a:pt x="9289035" y="6973951"/>
                </a:cubicBezTo>
                <a:lnTo>
                  <a:pt x="1162304" y="6973951"/>
                </a:lnTo>
                <a:cubicBezTo>
                  <a:pt x="520446" y="6973951"/>
                  <a:pt x="0" y="6453505"/>
                  <a:pt x="0" y="5811647"/>
                </a:cubicBezTo>
                <a:close/>
              </a:path>
            </a:pathLst>
          </a:custGeom>
          <a:solidFill>
            <a:srgbClr val="1E222D"/>
          </a:solidFill>
          <a:ln w="14299" cap="sq">
            <a:solidFill>
              <a:srgbClr val="272C3A"/>
            </a:solidFill>
            <a:prstDash val="solid"/>
            <a:miter/>
          </a:ln>
        </p:spPr>
        <p:txBody>
          <a:bodyPr/>
          <a:lstStyle/>
          <a:p>
            <a:endParaRPr lang="en-IN" dirty="0"/>
          </a:p>
        </p:txBody>
      </p:sp>
      <p:sp>
        <p:nvSpPr>
          <p:cNvPr id="5" name="TextBox 5"/>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11. Hint System — Player Deviations</a:t>
            </a:r>
          </a:p>
        </p:txBody>
      </p:sp>
      <p:sp>
        <p:nvSpPr>
          <p:cNvPr id="6" name="TextBox 6"/>
          <p:cNvSpPr txBox="1"/>
          <p:nvPr/>
        </p:nvSpPr>
        <p:spPr>
          <a:xfrm>
            <a:off x="1011126" y="1436322"/>
            <a:ext cx="16151924" cy="323850"/>
          </a:xfrm>
          <a:prstGeom prst="rect">
            <a:avLst/>
          </a:prstGeom>
        </p:spPr>
        <p:txBody>
          <a:bodyPr lIns="0" tIns="0" rIns="0" bIns="0" rtlCol="0" anchor="t">
            <a:spAutoFit/>
          </a:bodyPr>
          <a:lstStyle/>
          <a:p>
            <a:pPr algn="l">
              <a:lnSpc>
                <a:spcPts val="2520"/>
              </a:lnSpc>
            </a:pPr>
            <a:r>
              <a:rPr lang="en-US" sz="2100" dirty="0">
                <a:solidFill>
                  <a:srgbClr val="A7AFBF"/>
                </a:solidFill>
                <a:latin typeface="Aptos"/>
                <a:ea typeface="Aptos"/>
                <a:cs typeface="Aptos"/>
                <a:sym typeface="Aptos"/>
              </a:rPr>
              <a:t>The player is not required to follow the generated solution.</a:t>
            </a:r>
          </a:p>
        </p:txBody>
      </p:sp>
      <p:sp>
        <p:nvSpPr>
          <p:cNvPr id="7" name="TextBox 7"/>
          <p:cNvSpPr txBox="1"/>
          <p:nvPr/>
        </p:nvSpPr>
        <p:spPr>
          <a:xfrm>
            <a:off x="1422930" y="2241994"/>
            <a:ext cx="14337965" cy="320601"/>
          </a:xfrm>
          <a:prstGeom prst="rect">
            <a:avLst/>
          </a:prstGeom>
        </p:spPr>
        <p:txBody>
          <a:bodyPr wrap="square" lIns="0" tIns="0" rIns="0" bIns="0" rtlCol="0" anchor="t">
            <a:spAutoFit/>
          </a:bodyPr>
          <a:lstStyle/>
          <a:p>
            <a:pPr algn="l">
              <a:lnSpc>
                <a:spcPts val="2702"/>
              </a:lnSpc>
            </a:pPr>
            <a:r>
              <a:rPr b="1" dirty="0">
                <a:solidFill>
                  <a:schemeClr val="accent6"/>
                </a:solidFill>
              </a:rPr>
              <a:t>Deviation handling</a:t>
            </a:r>
          </a:p>
        </p:txBody>
      </p:sp>
      <p:sp>
        <p:nvSpPr>
          <p:cNvPr id="8" name="TextBox 8"/>
          <p:cNvSpPr txBox="1"/>
          <p:nvPr/>
        </p:nvSpPr>
        <p:spPr>
          <a:xfrm>
            <a:off x="1422930" y="2928327"/>
            <a:ext cx="14337965" cy="2936701"/>
          </a:xfrm>
          <a:prstGeom prst="rect">
            <a:avLst/>
          </a:prstGeom>
        </p:spPr>
        <p:txBody>
          <a:bodyPr wrap="square" lIns="0" tIns="0" rIns="0" bIns="0" rtlCol="0" anchor="t">
            <a:spAutoFit/>
          </a:bodyPr>
          <a:lstStyle/>
          <a:p>
            <a:pPr algn="l">
              <a:lnSpc>
                <a:spcPts val="2251"/>
              </a:lnSpc>
            </a:pPr>
            <a:r>
              <a:rPr dirty="0">
                <a:solidFill>
                  <a:schemeClr val="bg1"/>
                </a:solidFill>
              </a:rPr>
              <a:t>If the player makes a different move, </a:t>
            </a:r>
            <a:r>
              <a:rPr dirty="0" err="1">
                <a:solidFill>
                  <a:schemeClr val="bg1"/>
                </a:solidFill>
              </a:rPr>
              <a:t>HintService</a:t>
            </a:r>
            <a:r>
              <a:rPr dirty="0">
                <a:solidFill>
                  <a:schemeClr val="bg1"/>
                </a:solidFill>
              </a:rPr>
              <a:t> stores it in </a:t>
            </a:r>
            <a:r>
              <a:rPr dirty="0" err="1">
                <a:solidFill>
                  <a:schemeClr val="bg1"/>
                </a:solidFill>
              </a:rPr>
              <a:t>deviationMoves</a:t>
            </a:r>
            <a:r>
              <a:rPr dirty="0">
                <a:solidFill>
                  <a:schemeClr val="bg1"/>
                </a:solidFill>
              </a:rPr>
              <a:t>.</a:t>
            </a:r>
            <a:br>
              <a:rPr dirty="0">
                <a:solidFill>
                  <a:schemeClr val="bg1"/>
                </a:solidFill>
              </a:rPr>
            </a:br>
            <a:br>
              <a:rPr dirty="0">
                <a:solidFill>
                  <a:schemeClr val="bg1"/>
                </a:solidFill>
              </a:rPr>
            </a:br>
            <a:r>
              <a:rPr dirty="0">
                <a:solidFill>
                  <a:schemeClr val="bg1"/>
                </a:solidFill>
              </a:rPr>
              <a:t>Expected solution: A → B</a:t>
            </a:r>
            <a:br>
              <a:rPr dirty="0">
                <a:solidFill>
                  <a:schemeClr val="bg1"/>
                </a:solidFill>
              </a:rPr>
            </a:br>
            <a:r>
              <a:rPr dirty="0">
                <a:solidFill>
                  <a:schemeClr val="bg1"/>
                </a:solidFill>
              </a:rPr>
              <a:t>Player deviates: A → X → Y</a:t>
            </a:r>
            <a:br>
              <a:rPr dirty="0">
                <a:solidFill>
                  <a:schemeClr val="bg1"/>
                </a:solidFill>
              </a:rPr>
            </a:br>
            <a:br>
              <a:rPr dirty="0">
                <a:solidFill>
                  <a:schemeClr val="bg1"/>
                </a:solidFill>
              </a:rPr>
            </a:br>
            <a:r>
              <a:rPr dirty="0">
                <a:solidFill>
                  <a:schemeClr val="bg1"/>
                </a:solidFill>
              </a:rPr>
              <a:t>Hints reverse deviations in LIFO order:</a:t>
            </a:r>
            <a:br>
              <a:rPr dirty="0">
                <a:solidFill>
                  <a:schemeClr val="bg1"/>
                </a:solidFill>
              </a:rPr>
            </a:br>
            <a:r>
              <a:rPr dirty="0">
                <a:solidFill>
                  <a:schemeClr val="bg1"/>
                </a:solidFill>
              </a:rPr>
              <a:t>Y → X</a:t>
            </a:r>
            <a:br>
              <a:rPr dirty="0">
                <a:solidFill>
                  <a:schemeClr val="bg1"/>
                </a:solidFill>
              </a:rPr>
            </a:br>
            <a:r>
              <a:rPr dirty="0" err="1">
                <a:solidFill>
                  <a:schemeClr val="bg1"/>
                </a:solidFill>
              </a:rPr>
              <a:t>X</a:t>
            </a:r>
            <a:r>
              <a:rPr dirty="0">
                <a:solidFill>
                  <a:schemeClr val="bg1"/>
                </a:solidFill>
              </a:rPr>
              <a:t> → A</a:t>
            </a:r>
            <a:br>
              <a:rPr dirty="0">
                <a:solidFill>
                  <a:schemeClr val="bg1"/>
                </a:solidFill>
              </a:rPr>
            </a:br>
            <a:br>
              <a:rPr dirty="0">
                <a:solidFill>
                  <a:schemeClr val="bg1"/>
                </a:solidFill>
              </a:rPr>
            </a:br>
            <a:r>
              <a:rPr dirty="0">
                <a:solidFill>
                  <a:schemeClr val="bg1"/>
                </a:solidFill>
              </a:rPr>
              <a:t>Once deviations are removed, the generated solution resumes.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grpSp>
        <p:nvGrpSpPr>
          <p:cNvPr id="2" name="Group 2"/>
          <p:cNvGrpSpPr/>
          <p:nvPr/>
        </p:nvGrpSpPr>
        <p:grpSpPr>
          <a:xfrm>
            <a:off x="983675" y="8039100"/>
            <a:ext cx="16143199" cy="975170"/>
            <a:chOff x="0" y="0"/>
            <a:chExt cx="21524265" cy="1300226"/>
          </a:xfrm>
        </p:grpSpPr>
        <p:sp>
          <p:nvSpPr>
            <p:cNvPr id="3" name="Freeform 3"/>
            <p:cNvSpPr/>
            <p:nvPr/>
          </p:nvSpPr>
          <p:spPr>
            <a:xfrm>
              <a:off x="0" y="0"/>
              <a:ext cx="21524213" cy="1300226"/>
            </a:xfrm>
            <a:custGeom>
              <a:avLst/>
              <a:gdLst/>
              <a:ahLst/>
              <a:cxnLst/>
              <a:rect l="l" t="t" r="r" b="b"/>
              <a:pathLst>
                <a:path w="21524213" h="1300226">
                  <a:moveTo>
                    <a:pt x="0" y="216662"/>
                  </a:moveTo>
                  <a:cubicBezTo>
                    <a:pt x="0" y="97028"/>
                    <a:pt x="97028" y="0"/>
                    <a:pt x="216662" y="0"/>
                  </a:cubicBezTo>
                  <a:lnTo>
                    <a:pt x="21307552" y="0"/>
                  </a:lnTo>
                  <a:cubicBezTo>
                    <a:pt x="21427185" y="0"/>
                    <a:pt x="21524213" y="97028"/>
                    <a:pt x="21524213" y="216662"/>
                  </a:cubicBezTo>
                  <a:lnTo>
                    <a:pt x="21524213" y="1083564"/>
                  </a:lnTo>
                  <a:cubicBezTo>
                    <a:pt x="21524213" y="1203198"/>
                    <a:pt x="21427185" y="1300226"/>
                    <a:pt x="21307552" y="1300226"/>
                  </a:cubicBezTo>
                  <a:lnTo>
                    <a:pt x="216662" y="1300226"/>
                  </a:lnTo>
                  <a:cubicBezTo>
                    <a:pt x="97028" y="1300226"/>
                    <a:pt x="0" y="1203198"/>
                    <a:pt x="0" y="1083564"/>
                  </a:cubicBezTo>
                  <a:close/>
                </a:path>
              </a:pathLst>
            </a:custGeom>
            <a:solidFill>
              <a:srgbClr val="1E222D"/>
            </a:solidFill>
            <a:ln w="14299" cap="sq">
              <a:solidFill>
                <a:srgbClr val="272C3A"/>
              </a:solidFill>
              <a:prstDash val="solid"/>
              <a:miter/>
            </a:ln>
          </p:spPr>
          <p:txBody>
            <a:bodyPr/>
            <a:lstStyle/>
            <a:p>
              <a:endParaRPr lang="en-IN"/>
            </a:p>
          </p:txBody>
        </p:sp>
      </p:grpSp>
      <p:sp>
        <p:nvSpPr>
          <p:cNvPr id="5" name="TextBox 5"/>
          <p:cNvSpPr txBox="1"/>
          <p:nvPr/>
        </p:nvSpPr>
        <p:spPr>
          <a:xfrm>
            <a:off x="983675" y="526151"/>
            <a:ext cx="16289188" cy="541815"/>
          </a:xfrm>
          <a:prstGeom prst="rect">
            <a:avLst/>
          </a:prstGeom>
        </p:spPr>
        <p:txBody>
          <a:bodyPr lIns="0" tIns="0" rIns="0" bIns="0" rtlCol="0" anchor="t">
            <a:spAutoFit/>
          </a:bodyPr>
          <a:lstStyle/>
          <a:p>
            <a:pPr algn="l">
              <a:lnSpc>
                <a:spcPts val="5043"/>
              </a:lnSpc>
            </a:pPr>
            <a:r>
              <a:rPr dirty="0">
                <a:solidFill>
                  <a:schemeClr val="bg1"/>
                </a:solidFill>
              </a:rPr>
              <a:t>The hint service maintains lightweight move history instead of search states.</a:t>
            </a:r>
          </a:p>
        </p:txBody>
      </p:sp>
      <p:sp>
        <p:nvSpPr>
          <p:cNvPr id="6" name="TextBox 6"/>
          <p:cNvSpPr txBox="1"/>
          <p:nvPr/>
        </p:nvSpPr>
        <p:spPr>
          <a:xfrm>
            <a:off x="1011126" y="1436322"/>
            <a:ext cx="16151924" cy="2224968"/>
          </a:xfrm>
          <a:prstGeom prst="rect">
            <a:avLst/>
          </a:prstGeom>
        </p:spPr>
        <p:txBody>
          <a:bodyPr lIns="0" tIns="0" rIns="0" bIns="0" rtlCol="0" anchor="t">
            <a:spAutoFit/>
          </a:bodyPr>
          <a:lstStyle/>
          <a:p>
            <a:pPr algn="l">
              <a:lnSpc>
                <a:spcPts val="2520"/>
              </a:lnSpc>
            </a:pPr>
            <a:r>
              <a:rPr dirty="0">
                <a:solidFill>
                  <a:schemeClr val="bg1"/>
                </a:solidFill>
              </a:rPr>
              <a:t>• </a:t>
            </a:r>
            <a:r>
              <a:rPr dirty="0" err="1">
                <a:solidFill>
                  <a:schemeClr val="bg1"/>
                </a:solidFill>
              </a:rPr>
              <a:t>shuffleMoves</a:t>
            </a:r>
            <a:r>
              <a:rPr dirty="0">
                <a:solidFill>
                  <a:schemeClr val="bg1"/>
                </a:solidFill>
              </a:rPr>
              <a:t> stores the generated solution path.</a:t>
            </a:r>
            <a:br>
              <a:rPr dirty="0">
                <a:solidFill>
                  <a:schemeClr val="bg1"/>
                </a:solidFill>
              </a:rPr>
            </a:br>
            <a:r>
              <a:rPr dirty="0">
                <a:solidFill>
                  <a:schemeClr val="bg1"/>
                </a:solidFill>
              </a:rPr>
              <a:t>• </a:t>
            </a:r>
            <a:r>
              <a:rPr dirty="0" err="1">
                <a:solidFill>
                  <a:schemeClr val="bg1"/>
                </a:solidFill>
              </a:rPr>
              <a:t>solutionIndex</a:t>
            </a:r>
            <a:r>
              <a:rPr dirty="0">
                <a:solidFill>
                  <a:schemeClr val="bg1"/>
                </a:solidFill>
              </a:rPr>
              <a:t> identifies the next shuffle move to reverse.</a:t>
            </a:r>
            <a:br>
              <a:rPr dirty="0">
                <a:solidFill>
                  <a:schemeClr val="bg1"/>
                </a:solidFill>
              </a:rPr>
            </a:br>
            <a:r>
              <a:rPr dirty="0">
                <a:solidFill>
                  <a:schemeClr val="bg1"/>
                </a:solidFill>
              </a:rPr>
              <a:t>• </a:t>
            </a:r>
            <a:r>
              <a:rPr dirty="0" err="1">
                <a:solidFill>
                  <a:schemeClr val="bg1"/>
                </a:solidFill>
              </a:rPr>
              <a:t>playerMoves</a:t>
            </a:r>
            <a:r>
              <a:rPr dirty="0">
                <a:solidFill>
                  <a:schemeClr val="bg1"/>
                </a:solidFill>
              </a:rPr>
              <a:t> records successful player moves.</a:t>
            </a:r>
            <a:br>
              <a:rPr dirty="0">
                <a:solidFill>
                  <a:schemeClr val="bg1"/>
                </a:solidFill>
              </a:rPr>
            </a:br>
            <a:r>
              <a:rPr dirty="0">
                <a:solidFill>
                  <a:schemeClr val="bg1"/>
                </a:solidFill>
              </a:rPr>
              <a:t>• </a:t>
            </a:r>
            <a:r>
              <a:rPr dirty="0" err="1">
                <a:solidFill>
                  <a:schemeClr val="bg1"/>
                </a:solidFill>
              </a:rPr>
              <a:t>deviationMoves</a:t>
            </a:r>
            <a:r>
              <a:rPr dirty="0">
                <a:solidFill>
                  <a:schemeClr val="bg1"/>
                </a:solidFill>
              </a:rPr>
              <a:t> stores moves that diverged from the expected generated solution.</a:t>
            </a:r>
            <a:br>
              <a:rPr dirty="0">
                <a:solidFill>
                  <a:schemeClr val="bg1"/>
                </a:solidFill>
              </a:rPr>
            </a:br>
            <a:r>
              <a:rPr dirty="0">
                <a:solidFill>
                  <a:schemeClr val="bg1"/>
                </a:solidFill>
              </a:rPr>
              <a:t>• </a:t>
            </a:r>
            <a:r>
              <a:rPr dirty="0" err="1">
                <a:solidFill>
                  <a:schemeClr val="bg1"/>
                </a:solidFill>
              </a:rPr>
              <a:t>RegisterMove</a:t>
            </a:r>
            <a:r>
              <a:rPr dirty="0">
                <a:solidFill>
                  <a:schemeClr val="bg1"/>
                </a:solidFill>
              </a:rPr>
              <a:t> and </a:t>
            </a:r>
            <a:r>
              <a:rPr dirty="0" err="1">
                <a:solidFill>
                  <a:schemeClr val="bg1"/>
                </a:solidFill>
              </a:rPr>
              <a:t>RegisterUndo</a:t>
            </a:r>
            <a:r>
              <a:rPr dirty="0">
                <a:solidFill>
                  <a:schemeClr val="bg1"/>
                </a:solidFill>
              </a:rPr>
              <a:t> keep hint state synchronized with gameplay.</a:t>
            </a:r>
            <a:br>
              <a:rPr dirty="0">
                <a:solidFill>
                  <a:schemeClr val="bg1"/>
                </a:solidFill>
              </a:rPr>
            </a:br>
            <a:br>
              <a:rPr dirty="0">
                <a:solidFill>
                  <a:schemeClr val="bg1"/>
                </a:solidFill>
              </a:rPr>
            </a:br>
            <a:r>
              <a:rPr dirty="0">
                <a:solidFill>
                  <a:schemeClr val="bg1"/>
                </a:solidFill>
              </a:rPr>
              <a:t>State recalculation is O(N), where N is the number of recorded player moves. This is predictable for the bounded move limit.</a:t>
            </a:r>
          </a:p>
        </p:txBody>
      </p:sp>
      <p:sp>
        <p:nvSpPr>
          <p:cNvPr id="7" name="TextBox 7"/>
          <p:cNvSpPr txBox="1"/>
          <p:nvPr/>
        </p:nvSpPr>
        <p:spPr>
          <a:xfrm>
            <a:off x="965214" y="4217605"/>
            <a:ext cx="15644031" cy="1851789"/>
          </a:xfrm>
          <a:prstGeom prst="rect">
            <a:avLst/>
          </a:prstGeom>
        </p:spPr>
        <p:txBody>
          <a:bodyPr wrap="square" lIns="0" tIns="0" rIns="0" bIns="0" rtlCol="0" anchor="t">
            <a:spAutoFit/>
          </a:bodyPr>
          <a:lstStyle/>
          <a:p>
            <a:pPr algn="l">
              <a:lnSpc>
                <a:spcPts val="2882"/>
              </a:lnSpc>
            </a:pPr>
            <a:r>
              <a:rPr lang="en-US" sz="2401" dirty="0">
                <a:solidFill>
                  <a:srgbClr val="EEF1F7"/>
                </a:solidFill>
                <a:latin typeface="Aptos"/>
                <a:ea typeface="Aptos"/>
                <a:cs typeface="Aptos"/>
                <a:sym typeface="Aptos"/>
              </a:rPr>
              <a:t>• </a:t>
            </a:r>
            <a:r>
              <a:rPr lang="en-US" sz="2401" dirty="0" err="1">
                <a:solidFill>
                  <a:srgbClr val="EEF1F7"/>
                </a:solidFill>
                <a:latin typeface="Aptos"/>
                <a:ea typeface="Aptos"/>
                <a:cs typeface="Aptos"/>
                <a:sym typeface="Aptos"/>
              </a:rPr>
              <a:t>shuffleMoves</a:t>
            </a:r>
            <a:r>
              <a:rPr lang="en-US" sz="2401" dirty="0">
                <a:solidFill>
                  <a:srgbClr val="EEF1F7"/>
                </a:solidFill>
                <a:latin typeface="Aptos"/>
                <a:ea typeface="Aptos"/>
                <a:cs typeface="Aptos"/>
                <a:sym typeface="Aptos"/>
              </a:rPr>
              <a:t> stores the generated solution path.</a:t>
            </a:r>
          </a:p>
          <a:p>
            <a:pPr algn="l">
              <a:lnSpc>
                <a:spcPts val="2882"/>
              </a:lnSpc>
            </a:pPr>
            <a:r>
              <a:rPr lang="en-US" sz="2401" dirty="0">
                <a:solidFill>
                  <a:srgbClr val="EEF1F7"/>
                </a:solidFill>
                <a:latin typeface="Aptos"/>
                <a:ea typeface="Aptos"/>
                <a:cs typeface="Aptos"/>
                <a:sym typeface="Aptos"/>
              </a:rPr>
              <a:t>• </a:t>
            </a:r>
            <a:r>
              <a:rPr lang="en-US" sz="2401" dirty="0" err="1">
                <a:solidFill>
                  <a:srgbClr val="EEF1F7"/>
                </a:solidFill>
                <a:latin typeface="Aptos"/>
                <a:ea typeface="Aptos"/>
                <a:cs typeface="Aptos"/>
                <a:sym typeface="Aptos"/>
              </a:rPr>
              <a:t>solutionIndex</a:t>
            </a:r>
            <a:r>
              <a:rPr lang="en-US" sz="2401" dirty="0">
                <a:solidFill>
                  <a:srgbClr val="EEF1F7"/>
                </a:solidFill>
                <a:latin typeface="Aptos"/>
                <a:ea typeface="Aptos"/>
                <a:cs typeface="Aptos"/>
                <a:sym typeface="Aptos"/>
              </a:rPr>
              <a:t> identifies the next shuffle move to reverse.</a:t>
            </a:r>
          </a:p>
          <a:p>
            <a:pPr algn="l">
              <a:lnSpc>
                <a:spcPts val="2882"/>
              </a:lnSpc>
            </a:pPr>
            <a:r>
              <a:rPr lang="en-US" sz="2401" dirty="0">
                <a:solidFill>
                  <a:srgbClr val="EEF1F7"/>
                </a:solidFill>
                <a:latin typeface="Aptos"/>
                <a:ea typeface="Aptos"/>
                <a:cs typeface="Aptos"/>
                <a:sym typeface="Aptos"/>
              </a:rPr>
              <a:t>• </a:t>
            </a:r>
            <a:r>
              <a:rPr lang="en-US" sz="2401" dirty="0" err="1">
                <a:solidFill>
                  <a:srgbClr val="EEF1F7"/>
                </a:solidFill>
                <a:latin typeface="Aptos"/>
                <a:ea typeface="Aptos"/>
                <a:cs typeface="Aptos"/>
                <a:sym typeface="Aptos"/>
              </a:rPr>
              <a:t>playerMoves</a:t>
            </a:r>
            <a:r>
              <a:rPr lang="en-US" sz="2401" dirty="0">
                <a:solidFill>
                  <a:srgbClr val="EEF1F7"/>
                </a:solidFill>
                <a:latin typeface="Aptos"/>
                <a:ea typeface="Aptos"/>
                <a:cs typeface="Aptos"/>
                <a:sym typeface="Aptos"/>
              </a:rPr>
              <a:t> records successful player moves.</a:t>
            </a:r>
          </a:p>
          <a:p>
            <a:pPr algn="l">
              <a:lnSpc>
                <a:spcPts val="2882"/>
              </a:lnSpc>
            </a:pPr>
            <a:r>
              <a:rPr lang="en-US" sz="2401" dirty="0">
                <a:solidFill>
                  <a:srgbClr val="EEF1F7"/>
                </a:solidFill>
                <a:latin typeface="Aptos"/>
                <a:ea typeface="Aptos"/>
                <a:cs typeface="Aptos"/>
                <a:sym typeface="Aptos"/>
              </a:rPr>
              <a:t>• </a:t>
            </a:r>
            <a:r>
              <a:rPr lang="en-US" sz="2401" dirty="0" err="1">
                <a:solidFill>
                  <a:srgbClr val="EEF1F7"/>
                </a:solidFill>
                <a:latin typeface="Aptos"/>
                <a:ea typeface="Aptos"/>
                <a:cs typeface="Aptos"/>
                <a:sym typeface="Aptos"/>
              </a:rPr>
              <a:t>deviationMoves</a:t>
            </a:r>
            <a:r>
              <a:rPr lang="en-US" sz="2401" dirty="0">
                <a:solidFill>
                  <a:srgbClr val="EEF1F7"/>
                </a:solidFill>
                <a:latin typeface="Aptos"/>
                <a:ea typeface="Aptos"/>
                <a:cs typeface="Aptos"/>
                <a:sym typeface="Aptos"/>
              </a:rPr>
              <a:t> stores moves that diverged from the generated solution.</a:t>
            </a:r>
          </a:p>
          <a:p>
            <a:pPr algn="l">
              <a:lnSpc>
                <a:spcPts val="2882"/>
              </a:lnSpc>
            </a:pPr>
            <a:r>
              <a:rPr lang="en-US" sz="2401" dirty="0">
                <a:solidFill>
                  <a:srgbClr val="EEF1F7"/>
                </a:solidFill>
                <a:latin typeface="Aptos"/>
                <a:ea typeface="Aptos"/>
                <a:cs typeface="Aptos"/>
                <a:sym typeface="Aptos"/>
              </a:rPr>
              <a:t>• </a:t>
            </a:r>
            <a:r>
              <a:rPr lang="en-US" sz="2401" dirty="0" err="1">
                <a:solidFill>
                  <a:srgbClr val="EEF1F7"/>
                </a:solidFill>
                <a:latin typeface="Aptos"/>
                <a:ea typeface="Aptos"/>
                <a:cs typeface="Aptos"/>
                <a:sym typeface="Aptos"/>
              </a:rPr>
              <a:t>RegisterMove</a:t>
            </a:r>
            <a:r>
              <a:rPr lang="en-US" sz="2401" dirty="0">
                <a:solidFill>
                  <a:srgbClr val="EEF1F7"/>
                </a:solidFill>
                <a:latin typeface="Aptos"/>
                <a:ea typeface="Aptos"/>
                <a:cs typeface="Aptos"/>
                <a:sym typeface="Aptos"/>
              </a:rPr>
              <a:t> and </a:t>
            </a:r>
            <a:r>
              <a:rPr lang="en-US" sz="2401" dirty="0" err="1">
                <a:solidFill>
                  <a:srgbClr val="EEF1F7"/>
                </a:solidFill>
                <a:latin typeface="Aptos"/>
                <a:ea typeface="Aptos"/>
                <a:cs typeface="Aptos"/>
                <a:sym typeface="Aptos"/>
              </a:rPr>
              <a:t>RegisterUndo</a:t>
            </a:r>
            <a:r>
              <a:rPr lang="en-US" sz="2401" dirty="0">
                <a:solidFill>
                  <a:srgbClr val="EEF1F7"/>
                </a:solidFill>
                <a:latin typeface="Aptos"/>
                <a:ea typeface="Aptos"/>
                <a:cs typeface="Aptos"/>
                <a:sym typeface="Aptos"/>
              </a:rPr>
              <a:t> keep this state synchronized with gameplay.</a:t>
            </a:r>
          </a:p>
        </p:txBody>
      </p:sp>
      <p:sp>
        <p:nvSpPr>
          <p:cNvPr id="8" name="TextBox 8"/>
          <p:cNvSpPr txBox="1"/>
          <p:nvPr/>
        </p:nvSpPr>
        <p:spPr>
          <a:xfrm>
            <a:off x="1422930" y="8183785"/>
            <a:ext cx="15342041" cy="342900"/>
          </a:xfrm>
          <a:prstGeom prst="rect">
            <a:avLst/>
          </a:prstGeom>
        </p:spPr>
        <p:txBody>
          <a:bodyPr lIns="0" tIns="0" rIns="0" bIns="0" rtlCol="0" anchor="t">
            <a:spAutoFit/>
          </a:bodyPr>
          <a:lstStyle/>
          <a:p>
            <a:pPr algn="l">
              <a:lnSpc>
                <a:spcPts val="2702"/>
              </a:lnSpc>
            </a:pPr>
            <a:r>
              <a:rPr lang="en-US" sz="2251" b="1">
                <a:solidFill>
                  <a:srgbClr val="FFB15C"/>
                </a:solidFill>
                <a:latin typeface="Aptos Bold"/>
                <a:ea typeface="Aptos Bold"/>
                <a:cs typeface="Aptos Bold"/>
                <a:sym typeface="Aptos Bold"/>
              </a:rPr>
              <a:t>Hint state recalculation is O(N), where N is the number of recorded player moves.</a:t>
            </a:r>
          </a:p>
        </p:txBody>
      </p:sp>
      <p:sp>
        <p:nvSpPr>
          <p:cNvPr id="9" name="TextBox 9"/>
          <p:cNvSpPr txBox="1"/>
          <p:nvPr/>
        </p:nvSpPr>
        <p:spPr>
          <a:xfrm>
            <a:off x="1422930" y="8547078"/>
            <a:ext cx="14728600" cy="342900"/>
          </a:xfrm>
          <a:prstGeom prst="rect">
            <a:avLst/>
          </a:prstGeom>
        </p:spPr>
        <p:txBody>
          <a:bodyPr wrap="square" lIns="0" tIns="0" rIns="0" bIns="0" rtlCol="0" anchor="t">
            <a:spAutoFit/>
          </a:bodyPr>
          <a:lstStyle/>
          <a:p>
            <a:pPr algn="l">
              <a:lnSpc>
                <a:spcPts val="2702"/>
              </a:lnSpc>
              <a:spcBef>
                <a:spcPct val="0"/>
              </a:spcBef>
            </a:pPr>
            <a:r>
              <a:rPr lang="en-US" sz="2251" dirty="0">
                <a:solidFill>
                  <a:srgbClr val="FFFFFF"/>
                </a:solidFill>
                <a:latin typeface="Aptos"/>
                <a:ea typeface="Aptos"/>
                <a:cs typeface="Aptos"/>
                <a:sym typeface="Aptos"/>
              </a:rPr>
              <a:t>This avoids generated solution paths, search trees, board-state cloning, and potentially exponential search.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sp>
        <p:nvSpPr>
          <p:cNvPr id="2" name="TextBox 2"/>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13. Game Flow Controller</a:t>
            </a:r>
          </a:p>
        </p:txBody>
      </p:sp>
      <p:sp>
        <p:nvSpPr>
          <p:cNvPr id="3" name="TextBox 3"/>
          <p:cNvSpPr txBox="1"/>
          <p:nvPr/>
        </p:nvSpPr>
        <p:spPr>
          <a:xfrm>
            <a:off x="1011126" y="1436322"/>
            <a:ext cx="16151924" cy="323850"/>
          </a:xfrm>
          <a:prstGeom prst="rect">
            <a:avLst/>
          </a:prstGeom>
        </p:spPr>
        <p:txBody>
          <a:bodyPr lIns="0" tIns="0" rIns="0" bIns="0" rtlCol="0" anchor="t">
            <a:spAutoFit/>
          </a:bodyPr>
          <a:lstStyle/>
          <a:p>
            <a:pPr algn="l">
              <a:lnSpc>
                <a:spcPts val="2520"/>
              </a:lnSpc>
            </a:pPr>
            <a:r>
              <a:rPr lang="en-US" sz="2100">
                <a:solidFill>
                  <a:srgbClr val="A7AFBF"/>
                </a:solidFill>
                <a:latin typeface="Aptos"/>
                <a:ea typeface="Aptos"/>
                <a:cs typeface="Aptos"/>
                <a:sym typeface="Aptos"/>
              </a:rPr>
              <a:t>Main Menu → Gameplay → Results</a:t>
            </a:r>
          </a:p>
        </p:txBody>
      </p:sp>
      <p:grpSp>
        <p:nvGrpSpPr>
          <p:cNvPr id="4" name="Group 4"/>
          <p:cNvGrpSpPr/>
          <p:nvPr/>
        </p:nvGrpSpPr>
        <p:grpSpPr>
          <a:xfrm>
            <a:off x="1365523" y="2738199"/>
            <a:ext cx="3034179" cy="1318336"/>
            <a:chOff x="0" y="0"/>
            <a:chExt cx="4045572" cy="1757782"/>
          </a:xfrm>
        </p:grpSpPr>
        <p:sp>
          <p:nvSpPr>
            <p:cNvPr id="5" name="Freeform 5"/>
            <p:cNvSpPr/>
            <p:nvPr/>
          </p:nvSpPr>
          <p:spPr>
            <a:xfrm>
              <a:off x="0" y="0"/>
              <a:ext cx="4045585" cy="1757807"/>
            </a:xfrm>
            <a:custGeom>
              <a:avLst/>
              <a:gdLst/>
              <a:ahLst/>
              <a:cxnLst/>
              <a:rect l="l" t="t" r="r" b="b"/>
              <a:pathLst>
                <a:path w="4045585" h="1757807">
                  <a:moveTo>
                    <a:pt x="0" y="292989"/>
                  </a:moveTo>
                  <a:cubicBezTo>
                    <a:pt x="0" y="131191"/>
                    <a:pt x="131191" y="0"/>
                    <a:pt x="292989" y="0"/>
                  </a:cubicBezTo>
                  <a:lnTo>
                    <a:pt x="3752596" y="0"/>
                  </a:lnTo>
                  <a:cubicBezTo>
                    <a:pt x="3914394" y="0"/>
                    <a:pt x="4045585" y="131191"/>
                    <a:pt x="4045585" y="292989"/>
                  </a:cubicBezTo>
                  <a:lnTo>
                    <a:pt x="4045585" y="1464818"/>
                  </a:lnTo>
                  <a:cubicBezTo>
                    <a:pt x="4045585" y="1626616"/>
                    <a:pt x="3914394" y="1757807"/>
                    <a:pt x="3752596" y="1757807"/>
                  </a:cubicBezTo>
                  <a:lnTo>
                    <a:pt x="292989" y="1757807"/>
                  </a:lnTo>
                  <a:cubicBezTo>
                    <a:pt x="131191" y="1757807"/>
                    <a:pt x="0" y="1626616"/>
                    <a:pt x="0" y="1464818"/>
                  </a:cubicBezTo>
                  <a:close/>
                </a:path>
              </a:pathLst>
            </a:custGeom>
            <a:solidFill>
              <a:srgbClr val="1E222D"/>
            </a:solidFill>
            <a:ln w="14299" cap="sq">
              <a:solidFill>
                <a:srgbClr val="5CAEFF"/>
              </a:solidFill>
              <a:prstDash val="solid"/>
              <a:miter/>
            </a:ln>
          </p:spPr>
          <p:txBody>
            <a:bodyPr/>
            <a:lstStyle/>
            <a:p>
              <a:endParaRPr lang="en-IN"/>
            </a:p>
          </p:txBody>
        </p:sp>
      </p:grpSp>
      <p:grpSp>
        <p:nvGrpSpPr>
          <p:cNvPr id="6" name="Group 6"/>
          <p:cNvGrpSpPr/>
          <p:nvPr/>
        </p:nvGrpSpPr>
        <p:grpSpPr>
          <a:xfrm>
            <a:off x="1482490" y="2813980"/>
            <a:ext cx="2800255" cy="1166774"/>
            <a:chOff x="0" y="0"/>
            <a:chExt cx="3733673" cy="1555699"/>
          </a:xfrm>
        </p:grpSpPr>
        <p:sp>
          <p:nvSpPr>
            <p:cNvPr id="7" name="Freeform 7"/>
            <p:cNvSpPr/>
            <p:nvPr/>
          </p:nvSpPr>
          <p:spPr>
            <a:xfrm>
              <a:off x="0" y="0"/>
              <a:ext cx="3733669" cy="1555695"/>
            </a:xfrm>
            <a:custGeom>
              <a:avLst/>
              <a:gdLst/>
              <a:ahLst/>
              <a:cxnLst/>
              <a:rect l="l" t="t" r="r" b="b"/>
              <a:pathLst>
                <a:path w="3733669" h="1555695">
                  <a:moveTo>
                    <a:pt x="0" y="0"/>
                  </a:moveTo>
                  <a:lnTo>
                    <a:pt x="3733669" y="0"/>
                  </a:lnTo>
                  <a:lnTo>
                    <a:pt x="3733669" y="1555695"/>
                  </a:lnTo>
                  <a:lnTo>
                    <a:pt x="0" y="1555695"/>
                  </a:lnTo>
                  <a:close/>
                </a:path>
              </a:pathLst>
            </a:custGeom>
            <a:blipFill>
              <a:blip r:embed="rId2">
                <a:alphaModFix amt="0"/>
              </a:blip>
              <a:stretch>
                <a:fillRect l="-3459" r="-3460"/>
              </a:stretch>
            </a:blipFill>
          </p:spPr>
          <p:txBody>
            <a:bodyPr/>
            <a:lstStyle/>
            <a:p>
              <a:endParaRPr lang="en-IN"/>
            </a:p>
          </p:txBody>
        </p:sp>
        <p:sp>
          <p:nvSpPr>
            <p:cNvPr id="8" name="TextBox 8"/>
            <p:cNvSpPr txBox="1"/>
            <p:nvPr/>
          </p:nvSpPr>
          <p:spPr>
            <a:xfrm>
              <a:off x="0" y="0"/>
              <a:ext cx="3733673" cy="1555699"/>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MainMenu</a:t>
              </a:r>
            </a:p>
          </p:txBody>
        </p:sp>
      </p:grpSp>
      <p:grpSp>
        <p:nvGrpSpPr>
          <p:cNvPr id="9" name="Group 9"/>
          <p:cNvGrpSpPr/>
          <p:nvPr/>
        </p:nvGrpSpPr>
        <p:grpSpPr>
          <a:xfrm>
            <a:off x="7611180" y="2738199"/>
            <a:ext cx="3034179" cy="1318336"/>
            <a:chOff x="0" y="0"/>
            <a:chExt cx="4045572" cy="1757782"/>
          </a:xfrm>
        </p:grpSpPr>
        <p:sp>
          <p:nvSpPr>
            <p:cNvPr id="10" name="Freeform 10"/>
            <p:cNvSpPr/>
            <p:nvPr/>
          </p:nvSpPr>
          <p:spPr>
            <a:xfrm>
              <a:off x="0" y="0"/>
              <a:ext cx="4045585" cy="1757807"/>
            </a:xfrm>
            <a:custGeom>
              <a:avLst/>
              <a:gdLst/>
              <a:ahLst/>
              <a:cxnLst/>
              <a:rect l="l" t="t" r="r" b="b"/>
              <a:pathLst>
                <a:path w="4045585" h="1757807">
                  <a:moveTo>
                    <a:pt x="0" y="292989"/>
                  </a:moveTo>
                  <a:cubicBezTo>
                    <a:pt x="0" y="131191"/>
                    <a:pt x="131191" y="0"/>
                    <a:pt x="292989" y="0"/>
                  </a:cubicBezTo>
                  <a:lnTo>
                    <a:pt x="3752596" y="0"/>
                  </a:lnTo>
                  <a:cubicBezTo>
                    <a:pt x="3914394" y="0"/>
                    <a:pt x="4045585" y="131191"/>
                    <a:pt x="4045585" y="292989"/>
                  </a:cubicBezTo>
                  <a:lnTo>
                    <a:pt x="4045585" y="1464818"/>
                  </a:lnTo>
                  <a:cubicBezTo>
                    <a:pt x="4045585" y="1626616"/>
                    <a:pt x="3914394" y="1757807"/>
                    <a:pt x="3752596" y="1757807"/>
                  </a:cubicBezTo>
                  <a:lnTo>
                    <a:pt x="292989" y="1757807"/>
                  </a:lnTo>
                  <a:cubicBezTo>
                    <a:pt x="131191" y="1757807"/>
                    <a:pt x="0" y="1626616"/>
                    <a:pt x="0" y="1464818"/>
                  </a:cubicBezTo>
                  <a:close/>
                </a:path>
              </a:pathLst>
            </a:custGeom>
            <a:solidFill>
              <a:srgbClr val="1E222D"/>
            </a:solidFill>
            <a:ln w="14299" cap="sq">
              <a:solidFill>
                <a:srgbClr val="66CD96"/>
              </a:solidFill>
              <a:prstDash val="solid"/>
              <a:miter/>
            </a:ln>
          </p:spPr>
          <p:txBody>
            <a:bodyPr/>
            <a:lstStyle/>
            <a:p>
              <a:endParaRPr lang="en-IN"/>
            </a:p>
          </p:txBody>
        </p:sp>
      </p:grpSp>
      <p:grpSp>
        <p:nvGrpSpPr>
          <p:cNvPr id="11" name="Group 11"/>
          <p:cNvGrpSpPr/>
          <p:nvPr/>
        </p:nvGrpSpPr>
        <p:grpSpPr>
          <a:xfrm>
            <a:off x="7728147" y="2813980"/>
            <a:ext cx="2800255" cy="1166774"/>
            <a:chOff x="0" y="0"/>
            <a:chExt cx="3733673" cy="1555699"/>
          </a:xfrm>
        </p:grpSpPr>
        <p:sp>
          <p:nvSpPr>
            <p:cNvPr id="12" name="Freeform 12"/>
            <p:cNvSpPr/>
            <p:nvPr/>
          </p:nvSpPr>
          <p:spPr>
            <a:xfrm>
              <a:off x="0" y="0"/>
              <a:ext cx="3733669" cy="1555695"/>
            </a:xfrm>
            <a:custGeom>
              <a:avLst/>
              <a:gdLst/>
              <a:ahLst/>
              <a:cxnLst/>
              <a:rect l="l" t="t" r="r" b="b"/>
              <a:pathLst>
                <a:path w="3733669" h="1555695">
                  <a:moveTo>
                    <a:pt x="0" y="0"/>
                  </a:moveTo>
                  <a:lnTo>
                    <a:pt x="3733669" y="0"/>
                  </a:lnTo>
                  <a:lnTo>
                    <a:pt x="3733669" y="1555695"/>
                  </a:lnTo>
                  <a:lnTo>
                    <a:pt x="0" y="1555695"/>
                  </a:lnTo>
                  <a:close/>
                </a:path>
              </a:pathLst>
            </a:custGeom>
            <a:blipFill>
              <a:blip r:embed="rId2">
                <a:alphaModFix amt="0"/>
              </a:blip>
              <a:stretch>
                <a:fillRect l="-3459" r="-3460"/>
              </a:stretch>
            </a:blipFill>
          </p:spPr>
          <p:txBody>
            <a:bodyPr/>
            <a:lstStyle/>
            <a:p>
              <a:endParaRPr lang="en-IN"/>
            </a:p>
          </p:txBody>
        </p:sp>
        <p:sp>
          <p:nvSpPr>
            <p:cNvPr id="13" name="TextBox 13"/>
            <p:cNvSpPr txBox="1"/>
            <p:nvPr/>
          </p:nvSpPr>
          <p:spPr>
            <a:xfrm>
              <a:off x="0" y="0"/>
              <a:ext cx="3733673" cy="1555699"/>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Gameplay</a:t>
              </a:r>
            </a:p>
          </p:txBody>
        </p:sp>
      </p:grpSp>
      <p:grpSp>
        <p:nvGrpSpPr>
          <p:cNvPr id="14" name="Group 14"/>
          <p:cNvGrpSpPr/>
          <p:nvPr/>
        </p:nvGrpSpPr>
        <p:grpSpPr>
          <a:xfrm>
            <a:off x="13856846" y="2738199"/>
            <a:ext cx="3034179" cy="1318336"/>
            <a:chOff x="0" y="0"/>
            <a:chExt cx="4045572" cy="1757782"/>
          </a:xfrm>
        </p:grpSpPr>
        <p:sp>
          <p:nvSpPr>
            <p:cNvPr id="15" name="Freeform 15"/>
            <p:cNvSpPr/>
            <p:nvPr/>
          </p:nvSpPr>
          <p:spPr>
            <a:xfrm>
              <a:off x="0" y="0"/>
              <a:ext cx="4045585" cy="1757807"/>
            </a:xfrm>
            <a:custGeom>
              <a:avLst/>
              <a:gdLst/>
              <a:ahLst/>
              <a:cxnLst/>
              <a:rect l="l" t="t" r="r" b="b"/>
              <a:pathLst>
                <a:path w="4045585" h="1757807">
                  <a:moveTo>
                    <a:pt x="0" y="292989"/>
                  </a:moveTo>
                  <a:cubicBezTo>
                    <a:pt x="0" y="131191"/>
                    <a:pt x="131191" y="0"/>
                    <a:pt x="292989" y="0"/>
                  </a:cubicBezTo>
                  <a:lnTo>
                    <a:pt x="3752596" y="0"/>
                  </a:lnTo>
                  <a:cubicBezTo>
                    <a:pt x="3914394" y="0"/>
                    <a:pt x="4045585" y="131191"/>
                    <a:pt x="4045585" y="292989"/>
                  </a:cubicBezTo>
                  <a:lnTo>
                    <a:pt x="4045585" y="1464818"/>
                  </a:lnTo>
                  <a:cubicBezTo>
                    <a:pt x="4045585" y="1626616"/>
                    <a:pt x="3914394" y="1757807"/>
                    <a:pt x="3752596" y="1757807"/>
                  </a:cubicBezTo>
                  <a:lnTo>
                    <a:pt x="292989" y="1757807"/>
                  </a:lnTo>
                  <a:cubicBezTo>
                    <a:pt x="131191" y="1757807"/>
                    <a:pt x="0" y="1626616"/>
                    <a:pt x="0" y="1464818"/>
                  </a:cubicBezTo>
                  <a:close/>
                </a:path>
              </a:pathLst>
            </a:custGeom>
            <a:solidFill>
              <a:srgbClr val="1E222D"/>
            </a:solidFill>
            <a:ln w="14299" cap="sq">
              <a:solidFill>
                <a:srgbClr val="FFB15C"/>
              </a:solidFill>
              <a:prstDash val="solid"/>
              <a:miter/>
            </a:ln>
          </p:spPr>
          <p:txBody>
            <a:bodyPr/>
            <a:lstStyle/>
            <a:p>
              <a:endParaRPr lang="en-IN"/>
            </a:p>
          </p:txBody>
        </p:sp>
      </p:grpSp>
      <p:grpSp>
        <p:nvGrpSpPr>
          <p:cNvPr id="16" name="Group 16"/>
          <p:cNvGrpSpPr/>
          <p:nvPr/>
        </p:nvGrpSpPr>
        <p:grpSpPr>
          <a:xfrm>
            <a:off x="13973804" y="2813980"/>
            <a:ext cx="2800255" cy="1166774"/>
            <a:chOff x="0" y="0"/>
            <a:chExt cx="3733673" cy="1555699"/>
          </a:xfrm>
        </p:grpSpPr>
        <p:sp>
          <p:nvSpPr>
            <p:cNvPr id="17" name="Freeform 17"/>
            <p:cNvSpPr/>
            <p:nvPr/>
          </p:nvSpPr>
          <p:spPr>
            <a:xfrm>
              <a:off x="0" y="0"/>
              <a:ext cx="3733669" cy="1555695"/>
            </a:xfrm>
            <a:custGeom>
              <a:avLst/>
              <a:gdLst/>
              <a:ahLst/>
              <a:cxnLst/>
              <a:rect l="l" t="t" r="r" b="b"/>
              <a:pathLst>
                <a:path w="3733669" h="1555695">
                  <a:moveTo>
                    <a:pt x="0" y="0"/>
                  </a:moveTo>
                  <a:lnTo>
                    <a:pt x="3733669" y="0"/>
                  </a:lnTo>
                  <a:lnTo>
                    <a:pt x="3733669" y="1555695"/>
                  </a:lnTo>
                  <a:lnTo>
                    <a:pt x="0" y="1555695"/>
                  </a:lnTo>
                  <a:close/>
                </a:path>
              </a:pathLst>
            </a:custGeom>
            <a:blipFill>
              <a:blip r:embed="rId2">
                <a:alphaModFix amt="0"/>
              </a:blip>
              <a:stretch>
                <a:fillRect l="-3459" r="-3460"/>
              </a:stretch>
            </a:blipFill>
          </p:spPr>
          <p:txBody>
            <a:bodyPr/>
            <a:lstStyle/>
            <a:p>
              <a:endParaRPr lang="en-IN"/>
            </a:p>
          </p:txBody>
        </p:sp>
        <p:sp>
          <p:nvSpPr>
            <p:cNvPr id="18" name="TextBox 18"/>
            <p:cNvSpPr txBox="1"/>
            <p:nvPr/>
          </p:nvSpPr>
          <p:spPr>
            <a:xfrm>
              <a:off x="0" y="0"/>
              <a:ext cx="3733673" cy="1555699"/>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Results</a:t>
              </a:r>
            </a:p>
          </p:txBody>
        </p:sp>
      </p:grpSp>
      <p:sp>
        <p:nvSpPr>
          <p:cNvPr id="19" name="AutoShape 19"/>
          <p:cNvSpPr/>
          <p:nvPr/>
        </p:nvSpPr>
        <p:spPr>
          <a:xfrm rot="40140">
            <a:off x="4373375" y="3394700"/>
            <a:ext cx="3264132" cy="0"/>
          </a:xfrm>
          <a:prstGeom prst="line">
            <a:avLst/>
          </a:prstGeom>
          <a:ln w="19050" cap="rnd">
            <a:solidFill>
              <a:srgbClr val="5CAEFF"/>
            </a:solidFill>
            <a:prstDash val="solid"/>
            <a:headEnd type="none" w="sm" len="sm"/>
            <a:tailEnd type="none" w="sm" len="sm"/>
          </a:ln>
        </p:spPr>
        <p:txBody>
          <a:bodyPr/>
          <a:lstStyle/>
          <a:p>
            <a:endParaRPr/>
          </a:p>
        </p:txBody>
      </p:sp>
      <p:sp>
        <p:nvSpPr>
          <p:cNvPr id="20" name="AutoShape 20"/>
          <p:cNvSpPr/>
          <p:nvPr/>
        </p:nvSpPr>
        <p:spPr>
          <a:xfrm rot="40140">
            <a:off x="10619032" y="3394700"/>
            <a:ext cx="3264132" cy="0"/>
          </a:xfrm>
          <a:prstGeom prst="line">
            <a:avLst/>
          </a:prstGeom>
          <a:ln w="19050" cap="rnd">
            <a:solidFill>
              <a:srgbClr val="66CD96"/>
            </a:solidFill>
            <a:prstDash val="solid"/>
            <a:headEnd type="none" w="sm" len="sm"/>
            <a:tailEnd type="none" w="sm" len="sm"/>
          </a:ln>
        </p:spPr>
        <p:txBody>
          <a:bodyPr/>
          <a:lstStyle/>
          <a:p>
            <a:endParaRPr/>
          </a:p>
        </p:txBody>
      </p:sp>
      <p:grpSp>
        <p:nvGrpSpPr>
          <p:cNvPr id="21" name="Group 21"/>
          <p:cNvGrpSpPr/>
          <p:nvPr/>
        </p:nvGrpSpPr>
        <p:grpSpPr>
          <a:xfrm>
            <a:off x="1159621" y="5483542"/>
            <a:ext cx="5093189" cy="2210572"/>
            <a:chOff x="0" y="0"/>
            <a:chExt cx="6790919" cy="2947429"/>
          </a:xfrm>
        </p:grpSpPr>
        <p:sp>
          <p:nvSpPr>
            <p:cNvPr id="22" name="Freeform 22"/>
            <p:cNvSpPr/>
            <p:nvPr/>
          </p:nvSpPr>
          <p:spPr>
            <a:xfrm>
              <a:off x="0" y="0"/>
              <a:ext cx="6790944" cy="2947416"/>
            </a:xfrm>
            <a:custGeom>
              <a:avLst/>
              <a:gdLst/>
              <a:ahLst/>
              <a:cxnLst/>
              <a:rect l="l" t="t" r="r" b="b"/>
              <a:pathLst>
                <a:path w="6790944" h="2947416">
                  <a:moveTo>
                    <a:pt x="0" y="491236"/>
                  </a:moveTo>
                  <a:cubicBezTo>
                    <a:pt x="0" y="219964"/>
                    <a:pt x="219964" y="0"/>
                    <a:pt x="491236" y="0"/>
                  </a:cubicBezTo>
                  <a:lnTo>
                    <a:pt x="6299708" y="0"/>
                  </a:lnTo>
                  <a:cubicBezTo>
                    <a:pt x="6570980" y="0"/>
                    <a:pt x="6790944" y="219964"/>
                    <a:pt x="6790944" y="491236"/>
                  </a:cubicBezTo>
                  <a:lnTo>
                    <a:pt x="6790944" y="2456180"/>
                  </a:lnTo>
                  <a:cubicBezTo>
                    <a:pt x="6790944" y="2727452"/>
                    <a:pt x="6570980" y="2947416"/>
                    <a:pt x="6299708" y="2947416"/>
                  </a:cubicBezTo>
                  <a:lnTo>
                    <a:pt x="491236" y="2947416"/>
                  </a:lnTo>
                  <a:cubicBezTo>
                    <a:pt x="219964" y="2947416"/>
                    <a:pt x="0" y="2727452"/>
                    <a:pt x="0" y="2456180"/>
                  </a:cubicBezTo>
                  <a:close/>
                </a:path>
              </a:pathLst>
            </a:custGeom>
            <a:solidFill>
              <a:srgbClr val="1E222D"/>
            </a:solidFill>
            <a:ln w="14299" cap="sq">
              <a:solidFill>
                <a:srgbClr val="272C3A"/>
              </a:solidFill>
              <a:prstDash val="solid"/>
              <a:miter/>
            </a:ln>
          </p:spPr>
          <p:txBody>
            <a:bodyPr/>
            <a:lstStyle/>
            <a:p>
              <a:endParaRPr lang="en-IN"/>
            </a:p>
          </p:txBody>
        </p:sp>
      </p:grpSp>
      <p:sp>
        <p:nvSpPr>
          <p:cNvPr id="23" name="TextBox 23"/>
          <p:cNvSpPr txBox="1"/>
          <p:nvPr/>
        </p:nvSpPr>
        <p:spPr>
          <a:xfrm>
            <a:off x="1560195" y="5742308"/>
            <a:ext cx="4292032" cy="457629"/>
          </a:xfrm>
          <a:prstGeom prst="rect">
            <a:avLst/>
          </a:prstGeom>
        </p:spPr>
        <p:txBody>
          <a:bodyPr lIns="0" tIns="0" rIns="0" bIns="0" rtlCol="0" anchor="t">
            <a:spAutoFit/>
          </a:bodyPr>
          <a:lstStyle/>
          <a:p>
            <a:pPr algn="l">
              <a:lnSpc>
                <a:spcPts val="2702"/>
              </a:lnSpc>
            </a:pPr>
            <a:r>
              <a:rPr lang="en-US" sz="2251" b="1">
                <a:solidFill>
                  <a:srgbClr val="5CAEFF"/>
                </a:solidFill>
                <a:latin typeface="Aptos Bold"/>
                <a:ea typeface="Aptos Bold"/>
                <a:cs typeface="Aptos Bold"/>
                <a:sym typeface="Aptos Bold"/>
              </a:rPr>
              <a:t>StartLevelAsync</a:t>
            </a:r>
          </a:p>
        </p:txBody>
      </p:sp>
      <p:sp>
        <p:nvSpPr>
          <p:cNvPr id="24" name="TextBox 24"/>
          <p:cNvSpPr txBox="1"/>
          <p:nvPr/>
        </p:nvSpPr>
        <p:spPr>
          <a:xfrm>
            <a:off x="1560195" y="6428651"/>
            <a:ext cx="4292032" cy="1006697"/>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Creates LevelContext, clears the previous result, then enters Gameplay.</a:t>
            </a:r>
          </a:p>
        </p:txBody>
      </p:sp>
      <p:grpSp>
        <p:nvGrpSpPr>
          <p:cNvPr id="25" name="Group 25"/>
          <p:cNvGrpSpPr/>
          <p:nvPr/>
        </p:nvGrpSpPr>
        <p:grpSpPr>
          <a:xfrm>
            <a:off x="6650307" y="5483542"/>
            <a:ext cx="5093189" cy="2210572"/>
            <a:chOff x="0" y="0"/>
            <a:chExt cx="6790919" cy="2947429"/>
          </a:xfrm>
        </p:grpSpPr>
        <p:sp>
          <p:nvSpPr>
            <p:cNvPr id="26" name="Freeform 26"/>
            <p:cNvSpPr/>
            <p:nvPr/>
          </p:nvSpPr>
          <p:spPr>
            <a:xfrm>
              <a:off x="0" y="0"/>
              <a:ext cx="6790944" cy="2947416"/>
            </a:xfrm>
            <a:custGeom>
              <a:avLst/>
              <a:gdLst/>
              <a:ahLst/>
              <a:cxnLst/>
              <a:rect l="l" t="t" r="r" b="b"/>
              <a:pathLst>
                <a:path w="6790944" h="2947416">
                  <a:moveTo>
                    <a:pt x="0" y="491236"/>
                  </a:moveTo>
                  <a:cubicBezTo>
                    <a:pt x="0" y="219964"/>
                    <a:pt x="219964" y="0"/>
                    <a:pt x="491236" y="0"/>
                  </a:cubicBezTo>
                  <a:lnTo>
                    <a:pt x="6299708" y="0"/>
                  </a:lnTo>
                  <a:cubicBezTo>
                    <a:pt x="6570980" y="0"/>
                    <a:pt x="6790944" y="219964"/>
                    <a:pt x="6790944" y="491236"/>
                  </a:cubicBezTo>
                  <a:lnTo>
                    <a:pt x="6790944" y="2456180"/>
                  </a:lnTo>
                  <a:cubicBezTo>
                    <a:pt x="6790944" y="2727452"/>
                    <a:pt x="6570980" y="2947416"/>
                    <a:pt x="6299708" y="2947416"/>
                  </a:cubicBezTo>
                  <a:lnTo>
                    <a:pt x="491236" y="2947416"/>
                  </a:lnTo>
                  <a:cubicBezTo>
                    <a:pt x="219964" y="2947416"/>
                    <a:pt x="0" y="2727452"/>
                    <a:pt x="0" y="2456180"/>
                  </a:cubicBezTo>
                  <a:close/>
                </a:path>
              </a:pathLst>
            </a:custGeom>
            <a:solidFill>
              <a:srgbClr val="1E222D"/>
            </a:solidFill>
            <a:ln w="14299" cap="sq">
              <a:solidFill>
                <a:srgbClr val="272C3A"/>
              </a:solidFill>
              <a:prstDash val="solid"/>
              <a:miter/>
            </a:ln>
          </p:spPr>
          <p:txBody>
            <a:bodyPr/>
            <a:lstStyle/>
            <a:p>
              <a:endParaRPr lang="en-IN"/>
            </a:p>
          </p:txBody>
        </p:sp>
      </p:grpSp>
      <p:sp>
        <p:nvSpPr>
          <p:cNvPr id="27" name="TextBox 27"/>
          <p:cNvSpPr txBox="1"/>
          <p:nvPr/>
        </p:nvSpPr>
        <p:spPr>
          <a:xfrm>
            <a:off x="7050891" y="5742308"/>
            <a:ext cx="4292032" cy="457629"/>
          </a:xfrm>
          <a:prstGeom prst="rect">
            <a:avLst/>
          </a:prstGeom>
        </p:spPr>
        <p:txBody>
          <a:bodyPr lIns="0" tIns="0" rIns="0" bIns="0" rtlCol="0" anchor="t">
            <a:spAutoFit/>
          </a:bodyPr>
          <a:lstStyle/>
          <a:p>
            <a:pPr algn="l">
              <a:lnSpc>
                <a:spcPts val="2702"/>
              </a:lnSpc>
            </a:pPr>
            <a:r>
              <a:rPr lang="en-US" sz="2251" b="1">
                <a:solidFill>
                  <a:srgbClr val="66CD96"/>
                </a:solidFill>
                <a:latin typeface="Aptos Bold"/>
                <a:ea typeface="Aptos Bold"/>
                <a:cs typeface="Aptos Bold"/>
                <a:sym typeface="Aptos Bold"/>
              </a:rPr>
              <a:t>CompleteLevelAsync</a:t>
            </a:r>
          </a:p>
        </p:txBody>
      </p:sp>
      <p:sp>
        <p:nvSpPr>
          <p:cNvPr id="28" name="TextBox 28"/>
          <p:cNvSpPr txBox="1"/>
          <p:nvPr/>
        </p:nvSpPr>
        <p:spPr>
          <a:xfrm>
            <a:off x="7050891" y="6428651"/>
            <a:ext cx="4292032" cy="1006697"/>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Stores LevelResult, then enters Results.</a:t>
            </a:r>
          </a:p>
        </p:txBody>
      </p:sp>
      <p:grpSp>
        <p:nvGrpSpPr>
          <p:cNvPr id="29" name="Group 29"/>
          <p:cNvGrpSpPr/>
          <p:nvPr/>
        </p:nvGrpSpPr>
        <p:grpSpPr>
          <a:xfrm>
            <a:off x="12141003" y="5483542"/>
            <a:ext cx="5093189" cy="2210572"/>
            <a:chOff x="0" y="0"/>
            <a:chExt cx="6790919" cy="2947429"/>
          </a:xfrm>
        </p:grpSpPr>
        <p:sp>
          <p:nvSpPr>
            <p:cNvPr id="30" name="Freeform 30"/>
            <p:cNvSpPr/>
            <p:nvPr/>
          </p:nvSpPr>
          <p:spPr>
            <a:xfrm>
              <a:off x="0" y="0"/>
              <a:ext cx="6790944" cy="2947416"/>
            </a:xfrm>
            <a:custGeom>
              <a:avLst/>
              <a:gdLst/>
              <a:ahLst/>
              <a:cxnLst/>
              <a:rect l="l" t="t" r="r" b="b"/>
              <a:pathLst>
                <a:path w="6790944" h="2947416">
                  <a:moveTo>
                    <a:pt x="0" y="491236"/>
                  </a:moveTo>
                  <a:cubicBezTo>
                    <a:pt x="0" y="219964"/>
                    <a:pt x="219964" y="0"/>
                    <a:pt x="491236" y="0"/>
                  </a:cubicBezTo>
                  <a:lnTo>
                    <a:pt x="6299708" y="0"/>
                  </a:lnTo>
                  <a:cubicBezTo>
                    <a:pt x="6570980" y="0"/>
                    <a:pt x="6790944" y="219964"/>
                    <a:pt x="6790944" y="491236"/>
                  </a:cubicBezTo>
                  <a:lnTo>
                    <a:pt x="6790944" y="2456180"/>
                  </a:lnTo>
                  <a:cubicBezTo>
                    <a:pt x="6790944" y="2727452"/>
                    <a:pt x="6570980" y="2947416"/>
                    <a:pt x="6299708" y="2947416"/>
                  </a:cubicBezTo>
                  <a:lnTo>
                    <a:pt x="491236" y="2947416"/>
                  </a:lnTo>
                  <a:cubicBezTo>
                    <a:pt x="219964" y="2947416"/>
                    <a:pt x="0" y="2727452"/>
                    <a:pt x="0" y="2456180"/>
                  </a:cubicBezTo>
                  <a:close/>
                </a:path>
              </a:pathLst>
            </a:custGeom>
            <a:solidFill>
              <a:srgbClr val="1E222D"/>
            </a:solidFill>
            <a:ln w="14299" cap="sq">
              <a:solidFill>
                <a:srgbClr val="272C3A"/>
              </a:solidFill>
              <a:prstDash val="solid"/>
              <a:miter/>
            </a:ln>
          </p:spPr>
          <p:txBody>
            <a:bodyPr/>
            <a:lstStyle/>
            <a:p>
              <a:endParaRPr lang="en-IN"/>
            </a:p>
          </p:txBody>
        </p:sp>
      </p:grpSp>
      <p:sp>
        <p:nvSpPr>
          <p:cNvPr id="31" name="TextBox 31"/>
          <p:cNvSpPr txBox="1"/>
          <p:nvPr/>
        </p:nvSpPr>
        <p:spPr>
          <a:xfrm>
            <a:off x="12541577" y="5742308"/>
            <a:ext cx="4292032" cy="457629"/>
          </a:xfrm>
          <a:prstGeom prst="rect">
            <a:avLst/>
          </a:prstGeom>
        </p:spPr>
        <p:txBody>
          <a:bodyPr lIns="0" tIns="0" rIns="0" bIns="0" rtlCol="0" anchor="t">
            <a:spAutoFit/>
          </a:bodyPr>
          <a:lstStyle/>
          <a:p>
            <a:pPr algn="l">
              <a:lnSpc>
                <a:spcPts val="2702"/>
              </a:lnSpc>
            </a:pPr>
            <a:r>
              <a:rPr lang="en-US" sz="2251" b="1">
                <a:solidFill>
                  <a:srgbClr val="FFB15C"/>
                </a:solidFill>
                <a:latin typeface="Aptos Bold"/>
                <a:ea typeface="Aptos Bold"/>
                <a:cs typeface="Aptos Bold"/>
                <a:sym typeface="Aptos Bold"/>
              </a:rPr>
              <a:t>QuitToMainMenuAsync</a:t>
            </a:r>
          </a:p>
        </p:txBody>
      </p:sp>
      <p:sp>
        <p:nvSpPr>
          <p:cNvPr id="32" name="TextBox 32"/>
          <p:cNvSpPr txBox="1"/>
          <p:nvPr/>
        </p:nvSpPr>
        <p:spPr>
          <a:xfrm>
            <a:off x="12541577" y="6428651"/>
            <a:ext cx="4292032" cy="1006697"/>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Clears level/result context and returns to Main Menu.</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sp>
        <p:nvSpPr>
          <p:cNvPr id="2" name="TextBox 2"/>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14. Game State Responsibilities</a:t>
            </a:r>
          </a:p>
        </p:txBody>
      </p:sp>
      <p:grpSp>
        <p:nvGrpSpPr>
          <p:cNvPr id="3" name="Group 3"/>
          <p:cNvGrpSpPr/>
          <p:nvPr/>
        </p:nvGrpSpPr>
        <p:grpSpPr>
          <a:xfrm>
            <a:off x="1028700" y="1983229"/>
            <a:ext cx="16068218" cy="4887287"/>
            <a:chOff x="0" y="0"/>
            <a:chExt cx="21424290" cy="6516383"/>
          </a:xfrm>
        </p:grpSpPr>
        <p:sp>
          <p:nvSpPr>
            <p:cNvPr id="4" name="Freeform 4"/>
            <p:cNvSpPr/>
            <p:nvPr/>
          </p:nvSpPr>
          <p:spPr>
            <a:xfrm>
              <a:off x="0" y="0"/>
              <a:ext cx="21424212" cy="6516370"/>
            </a:xfrm>
            <a:custGeom>
              <a:avLst/>
              <a:gdLst/>
              <a:ahLst/>
              <a:cxnLst/>
              <a:rect l="l" t="t" r="r" b="b"/>
              <a:pathLst>
                <a:path w="21424212" h="6516370">
                  <a:moveTo>
                    <a:pt x="0" y="1086104"/>
                  </a:moveTo>
                  <a:cubicBezTo>
                    <a:pt x="0" y="486283"/>
                    <a:pt x="996832" y="0"/>
                    <a:pt x="2226406" y="0"/>
                  </a:cubicBezTo>
                  <a:lnTo>
                    <a:pt x="19197806" y="0"/>
                  </a:lnTo>
                  <a:cubicBezTo>
                    <a:pt x="20427379" y="0"/>
                    <a:pt x="21424212" y="486283"/>
                    <a:pt x="21424212" y="1086104"/>
                  </a:cubicBezTo>
                  <a:lnTo>
                    <a:pt x="21424212" y="5430266"/>
                  </a:lnTo>
                  <a:cubicBezTo>
                    <a:pt x="21424212" y="6030087"/>
                    <a:pt x="20427379" y="6516370"/>
                    <a:pt x="19197806" y="6516370"/>
                  </a:cubicBezTo>
                  <a:lnTo>
                    <a:pt x="2226406" y="6516370"/>
                  </a:lnTo>
                  <a:cubicBezTo>
                    <a:pt x="996832" y="6516370"/>
                    <a:pt x="0" y="6030087"/>
                    <a:pt x="0" y="5430266"/>
                  </a:cubicBezTo>
                  <a:close/>
                </a:path>
              </a:pathLst>
            </a:custGeom>
            <a:solidFill>
              <a:srgbClr val="1E222D"/>
            </a:solidFill>
            <a:ln w="14299" cap="sq">
              <a:solidFill>
                <a:srgbClr val="272C3A"/>
              </a:solidFill>
              <a:prstDash val="solid"/>
              <a:miter/>
            </a:ln>
          </p:spPr>
          <p:txBody>
            <a:bodyPr/>
            <a:lstStyle/>
            <a:p>
              <a:endParaRPr lang="en-IN"/>
            </a:p>
          </p:txBody>
        </p:sp>
      </p:grpSp>
      <p:sp>
        <p:nvSpPr>
          <p:cNvPr id="5" name="TextBox 5"/>
          <p:cNvSpPr txBox="1"/>
          <p:nvPr/>
        </p:nvSpPr>
        <p:spPr>
          <a:xfrm>
            <a:off x="1422930" y="2699514"/>
            <a:ext cx="7037375" cy="457629"/>
          </a:xfrm>
          <a:prstGeom prst="rect">
            <a:avLst/>
          </a:prstGeom>
        </p:spPr>
        <p:txBody>
          <a:bodyPr lIns="0" tIns="0" rIns="0" bIns="0" rtlCol="0" anchor="t">
            <a:spAutoFit/>
          </a:bodyPr>
          <a:lstStyle/>
          <a:p>
            <a:pPr algn="l">
              <a:lnSpc>
                <a:spcPts val="2702"/>
              </a:lnSpc>
            </a:pPr>
            <a:r>
              <a:rPr lang="en-US" sz="2251" b="1">
                <a:solidFill>
                  <a:srgbClr val="66CD96"/>
                </a:solidFill>
                <a:latin typeface="Aptos Bold"/>
                <a:ea typeface="Aptos Bold"/>
                <a:cs typeface="Aptos Bold"/>
                <a:sym typeface="Aptos Bold"/>
              </a:rPr>
              <a:t>State pattern</a:t>
            </a:r>
          </a:p>
        </p:txBody>
      </p:sp>
      <p:sp>
        <p:nvSpPr>
          <p:cNvPr id="6" name="TextBox 6"/>
          <p:cNvSpPr txBox="1"/>
          <p:nvPr/>
        </p:nvSpPr>
        <p:spPr>
          <a:xfrm>
            <a:off x="1422930" y="3292269"/>
            <a:ext cx="11668958" cy="2522629"/>
          </a:xfrm>
          <a:prstGeom prst="rect">
            <a:avLst/>
          </a:prstGeom>
        </p:spPr>
        <p:txBody>
          <a:bodyPr lIns="0" tIns="0" rIns="0" bIns="0" rtlCol="0" anchor="t">
            <a:spAutoFit/>
          </a:bodyPr>
          <a:lstStyle/>
          <a:p>
            <a:pPr algn="l">
              <a:lnSpc>
                <a:spcPts val="3300"/>
              </a:lnSpc>
            </a:pPr>
            <a:r>
              <a:rPr lang="en-US" sz="2750">
                <a:solidFill>
                  <a:srgbClr val="EEF1F7"/>
                </a:solidFill>
                <a:latin typeface="Aptos"/>
                <a:ea typeface="Aptos"/>
                <a:cs typeface="Aptos"/>
                <a:sym typeface="Aptos"/>
              </a:rPr>
              <a:t>Each state implements IGameState:</a:t>
            </a:r>
          </a:p>
          <a:p>
            <a:pPr algn="l">
              <a:lnSpc>
                <a:spcPts val="3300"/>
              </a:lnSpc>
            </a:pPr>
            <a:endParaRPr lang="en-US" sz="2750">
              <a:solidFill>
                <a:srgbClr val="EEF1F7"/>
              </a:solidFill>
              <a:latin typeface="Aptos"/>
              <a:ea typeface="Aptos"/>
              <a:cs typeface="Aptos"/>
              <a:sym typeface="Aptos"/>
            </a:endParaRPr>
          </a:p>
          <a:p>
            <a:pPr algn="l">
              <a:lnSpc>
                <a:spcPts val="3300"/>
              </a:lnSpc>
            </a:pPr>
            <a:r>
              <a:rPr lang="en-US" sz="2750">
                <a:solidFill>
                  <a:srgbClr val="EEF1F7"/>
                </a:solidFill>
                <a:latin typeface="Aptos"/>
                <a:ea typeface="Aptos"/>
                <a:cs typeface="Aptos"/>
                <a:sym typeface="Aptos"/>
              </a:rPr>
              <a:t>OnEnterAsync() → show the required UI / perform entry work.</a:t>
            </a:r>
          </a:p>
          <a:p>
            <a:pPr algn="l">
              <a:lnSpc>
                <a:spcPts val="3300"/>
              </a:lnSpc>
            </a:pPr>
            <a:r>
              <a:rPr lang="en-US" sz="2750">
                <a:solidFill>
                  <a:srgbClr val="EEF1F7"/>
                </a:solidFill>
                <a:latin typeface="Aptos"/>
                <a:ea typeface="Aptos"/>
                <a:cs typeface="Aptos"/>
                <a:sym typeface="Aptos"/>
              </a:rPr>
              <a:t>OnExitAsync() → hide or clean up that UI.</a:t>
            </a:r>
          </a:p>
          <a:p>
            <a:pPr algn="l">
              <a:lnSpc>
                <a:spcPts val="3300"/>
              </a:lnSpc>
            </a:pPr>
            <a:endParaRPr lang="en-US" sz="2750">
              <a:solidFill>
                <a:srgbClr val="EEF1F7"/>
              </a:solidFill>
              <a:latin typeface="Aptos"/>
              <a:ea typeface="Aptos"/>
              <a:cs typeface="Aptos"/>
              <a:sym typeface="Aptos"/>
            </a:endParaRPr>
          </a:p>
          <a:p>
            <a:pPr algn="l">
              <a:lnSpc>
                <a:spcPts val="3300"/>
              </a:lnSpc>
            </a:pPr>
            <a:r>
              <a:rPr lang="en-US" sz="2750">
                <a:solidFill>
                  <a:srgbClr val="EEF1F7"/>
                </a:solidFill>
                <a:latin typeface="Aptos"/>
                <a:ea typeface="Aptos"/>
                <a:cs typeface="Aptos"/>
                <a:sym typeface="Aptos"/>
              </a:rPr>
              <a:t>The controller owns transitions; states own their entry/exit behavior.</a:t>
            </a:r>
          </a:p>
        </p:txBody>
      </p:sp>
      <p:grpSp>
        <p:nvGrpSpPr>
          <p:cNvPr id="7" name="Group 7"/>
          <p:cNvGrpSpPr/>
          <p:nvPr/>
        </p:nvGrpSpPr>
        <p:grpSpPr>
          <a:xfrm>
            <a:off x="1022356" y="7268013"/>
            <a:ext cx="16143199" cy="1386973"/>
            <a:chOff x="0" y="0"/>
            <a:chExt cx="21524265" cy="1849298"/>
          </a:xfrm>
        </p:grpSpPr>
        <p:sp>
          <p:nvSpPr>
            <p:cNvPr id="8" name="Freeform 8"/>
            <p:cNvSpPr/>
            <p:nvPr/>
          </p:nvSpPr>
          <p:spPr>
            <a:xfrm>
              <a:off x="0" y="0"/>
              <a:ext cx="21524215" cy="1849247"/>
            </a:xfrm>
            <a:custGeom>
              <a:avLst/>
              <a:gdLst/>
              <a:ahLst/>
              <a:cxnLst/>
              <a:rect l="l" t="t" r="r" b="b"/>
              <a:pathLst>
                <a:path w="21524215" h="1849247">
                  <a:moveTo>
                    <a:pt x="0" y="308229"/>
                  </a:moveTo>
                  <a:cubicBezTo>
                    <a:pt x="0" y="138049"/>
                    <a:pt x="138049" y="0"/>
                    <a:pt x="308229" y="0"/>
                  </a:cubicBezTo>
                  <a:lnTo>
                    <a:pt x="21215986" y="0"/>
                  </a:lnTo>
                  <a:cubicBezTo>
                    <a:pt x="21386166" y="0"/>
                    <a:pt x="21524215" y="138049"/>
                    <a:pt x="21524215" y="308229"/>
                  </a:cubicBezTo>
                  <a:lnTo>
                    <a:pt x="21524215" y="1541018"/>
                  </a:lnTo>
                  <a:cubicBezTo>
                    <a:pt x="21524215" y="1711198"/>
                    <a:pt x="21386166" y="1849247"/>
                    <a:pt x="21215986" y="1849247"/>
                  </a:cubicBezTo>
                  <a:lnTo>
                    <a:pt x="308229" y="1849247"/>
                  </a:lnTo>
                  <a:cubicBezTo>
                    <a:pt x="138049" y="1849247"/>
                    <a:pt x="0" y="1711325"/>
                    <a:pt x="0" y="1541018"/>
                  </a:cubicBezTo>
                  <a:close/>
                </a:path>
              </a:pathLst>
            </a:custGeom>
            <a:solidFill>
              <a:srgbClr val="1E222D"/>
            </a:solidFill>
            <a:ln w="14299" cap="sq">
              <a:solidFill>
                <a:srgbClr val="272C3A"/>
              </a:solidFill>
              <a:prstDash val="solid"/>
              <a:miter/>
            </a:ln>
          </p:spPr>
          <p:txBody>
            <a:bodyPr/>
            <a:lstStyle/>
            <a:p>
              <a:endParaRPr lang="en-IN"/>
            </a:p>
          </p:txBody>
        </p:sp>
      </p:grpSp>
      <p:sp>
        <p:nvSpPr>
          <p:cNvPr id="9" name="TextBox 9"/>
          <p:cNvSpPr txBox="1"/>
          <p:nvPr/>
        </p:nvSpPr>
        <p:spPr>
          <a:xfrm>
            <a:off x="1422930" y="7526788"/>
            <a:ext cx="15342041" cy="457629"/>
          </a:xfrm>
          <a:prstGeom prst="rect">
            <a:avLst/>
          </a:prstGeom>
        </p:spPr>
        <p:txBody>
          <a:bodyPr lIns="0" tIns="0" rIns="0" bIns="0" rtlCol="0" anchor="t">
            <a:spAutoFit/>
          </a:bodyPr>
          <a:lstStyle/>
          <a:p>
            <a:pPr algn="l">
              <a:lnSpc>
                <a:spcPts val="2702"/>
              </a:lnSpc>
            </a:pPr>
            <a:r>
              <a:rPr lang="en-US" sz="2251" b="1">
                <a:solidFill>
                  <a:srgbClr val="FFB15C"/>
                </a:solidFill>
                <a:latin typeface="Aptos Bold"/>
                <a:ea typeface="Aptos Bold"/>
                <a:cs typeface="Aptos Bold"/>
                <a:sym typeface="Aptos Bold"/>
              </a:rPr>
              <a:t>Results behavior</a:t>
            </a:r>
          </a:p>
        </p:txBody>
      </p:sp>
      <p:sp>
        <p:nvSpPr>
          <p:cNvPr id="10" name="TextBox 10"/>
          <p:cNvSpPr txBox="1"/>
          <p:nvPr/>
        </p:nvSpPr>
        <p:spPr>
          <a:xfrm>
            <a:off x="1391788" y="7984417"/>
            <a:ext cx="15342041" cy="183090"/>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On a Win, ResultsState loads CurrentLevel and saves CurrentLevel + 1. Then it presents the result popup.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sp>
        <p:nvSpPr>
          <p:cNvPr id="2" name="TextBox 2"/>
          <p:cNvSpPr txBox="1"/>
          <p:nvPr/>
        </p:nvSpPr>
        <p:spPr>
          <a:xfrm>
            <a:off x="1011126" y="1436322"/>
            <a:ext cx="16151924" cy="323850"/>
          </a:xfrm>
          <a:prstGeom prst="rect">
            <a:avLst/>
          </a:prstGeom>
        </p:spPr>
        <p:txBody>
          <a:bodyPr lIns="0" tIns="0" rIns="0" bIns="0" rtlCol="0" anchor="t">
            <a:spAutoFit/>
          </a:bodyPr>
          <a:lstStyle/>
          <a:p>
            <a:pPr algn="l">
              <a:lnSpc>
                <a:spcPts val="2520"/>
              </a:lnSpc>
            </a:pPr>
            <a:r>
              <a:rPr lang="en-US" sz="2100">
                <a:solidFill>
                  <a:srgbClr val="A7AFBF"/>
                </a:solidFill>
                <a:latin typeface="Aptos"/>
                <a:ea typeface="Aptos"/>
                <a:cs typeface="Aptos"/>
                <a:sym typeface="Aptos"/>
              </a:rPr>
              <a:t>Exclusive, Modal and Additive screen behavior</a:t>
            </a:r>
          </a:p>
        </p:txBody>
      </p:sp>
      <p:grpSp>
        <p:nvGrpSpPr>
          <p:cNvPr id="3" name="Group 3"/>
          <p:cNvGrpSpPr/>
          <p:nvPr/>
        </p:nvGrpSpPr>
        <p:grpSpPr>
          <a:xfrm>
            <a:off x="9121121" y="1914592"/>
            <a:ext cx="7975797" cy="5230454"/>
            <a:chOff x="0" y="0"/>
            <a:chExt cx="10634396" cy="6973938"/>
          </a:xfrm>
        </p:grpSpPr>
        <p:sp>
          <p:nvSpPr>
            <p:cNvPr id="4" name="Freeform 4"/>
            <p:cNvSpPr/>
            <p:nvPr/>
          </p:nvSpPr>
          <p:spPr>
            <a:xfrm>
              <a:off x="0" y="0"/>
              <a:ext cx="10634345" cy="6973951"/>
            </a:xfrm>
            <a:custGeom>
              <a:avLst/>
              <a:gdLst/>
              <a:ahLst/>
              <a:cxnLst/>
              <a:rect l="l" t="t" r="r" b="b"/>
              <a:pathLst>
                <a:path w="10634345" h="6973951">
                  <a:moveTo>
                    <a:pt x="0" y="1162304"/>
                  </a:moveTo>
                  <a:cubicBezTo>
                    <a:pt x="0" y="520446"/>
                    <a:pt x="520446" y="0"/>
                    <a:pt x="1162304" y="0"/>
                  </a:cubicBezTo>
                  <a:lnTo>
                    <a:pt x="9472041" y="0"/>
                  </a:lnTo>
                  <a:cubicBezTo>
                    <a:pt x="10114026" y="0"/>
                    <a:pt x="10634345" y="520446"/>
                    <a:pt x="10634345" y="1162304"/>
                  </a:cubicBezTo>
                  <a:lnTo>
                    <a:pt x="10634345" y="5811647"/>
                  </a:lnTo>
                  <a:cubicBezTo>
                    <a:pt x="10634345" y="6453632"/>
                    <a:pt x="10113899" y="6973951"/>
                    <a:pt x="9472041" y="6973951"/>
                  </a:cubicBezTo>
                  <a:lnTo>
                    <a:pt x="1162304" y="6973951"/>
                  </a:lnTo>
                  <a:cubicBezTo>
                    <a:pt x="520446" y="6973951"/>
                    <a:pt x="0" y="6453505"/>
                    <a:pt x="0" y="5811647"/>
                  </a:cubicBezTo>
                  <a:close/>
                </a:path>
              </a:pathLst>
            </a:custGeom>
            <a:solidFill>
              <a:srgbClr val="1E222D"/>
            </a:solidFill>
            <a:ln w="14299" cap="sq">
              <a:solidFill>
                <a:srgbClr val="272C3A"/>
              </a:solidFill>
              <a:prstDash val="solid"/>
              <a:miter/>
            </a:ln>
          </p:spPr>
          <p:txBody>
            <a:bodyPr/>
            <a:lstStyle/>
            <a:p>
              <a:endParaRPr lang="en-IN"/>
            </a:p>
          </p:txBody>
        </p:sp>
      </p:grpSp>
      <p:grpSp>
        <p:nvGrpSpPr>
          <p:cNvPr id="5" name="Group 5"/>
          <p:cNvGrpSpPr/>
          <p:nvPr/>
        </p:nvGrpSpPr>
        <p:grpSpPr>
          <a:xfrm>
            <a:off x="1022356" y="7611180"/>
            <a:ext cx="16143199" cy="1291178"/>
            <a:chOff x="0" y="0"/>
            <a:chExt cx="21524265" cy="1721571"/>
          </a:xfrm>
        </p:grpSpPr>
        <p:sp>
          <p:nvSpPr>
            <p:cNvPr id="6" name="Freeform 6"/>
            <p:cNvSpPr/>
            <p:nvPr/>
          </p:nvSpPr>
          <p:spPr>
            <a:xfrm>
              <a:off x="0" y="0"/>
              <a:ext cx="21524342" cy="1721609"/>
            </a:xfrm>
            <a:custGeom>
              <a:avLst/>
              <a:gdLst/>
              <a:ahLst/>
              <a:cxnLst/>
              <a:rect l="l" t="t" r="r" b="b"/>
              <a:pathLst>
                <a:path w="21524342" h="1721609">
                  <a:moveTo>
                    <a:pt x="0" y="286982"/>
                  </a:moveTo>
                  <a:cubicBezTo>
                    <a:pt x="0" y="128427"/>
                    <a:pt x="117475" y="0"/>
                    <a:pt x="262509" y="0"/>
                  </a:cubicBezTo>
                  <a:lnTo>
                    <a:pt x="21261832" y="0"/>
                  </a:lnTo>
                  <a:cubicBezTo>
                    <a:pt x="21406740" y="0"/>
                    <a:pt x="21524342" y="128427"/>
                    <a:pt x="21524342" y="286982"/>
                  </a:cubicBezTo>
                  <a:lnTo>
                    <a:pt x="21524342" y="1434631"/>
                  </a:lnTo>
                  <a:cubicBezTo>
                    <a:pt x="21524342" y="1593047"/>
                    <a:pt x="21406867" y="1721609"/>
                    <a:pt x="21261832" y="1721609"/>
                  </a:cubicBezTo>
                  <a:lnTo>
                    <a:pt x="262509" y="1721609"/>
                  </a:lnTo>
                  <a:cubicBezTo>
                    <a:pt x="117475" y="1721609"/>
                    <a:pt x="0" y="1593047"/>
                    <a:pt x="0" y="1434631"/>
                  </a:cubicBezTo>
                  <a:close/>
                </a:path>
              </a:pathLst>
            </a:custGeom>
            <a:solidFill>
              <a:srgbClr val="1E222D"/>
            </a:solidFill>
            <a:ln w="14299" cap="sq">
              <a:solidFill>
                <a:srgbClr val="272C3A"/>
              </a:solidFill>
              <a:prstDash val="solid"/>
              <a:miter/>
            </a:ln>
          </p:spPr>
          <p:txBody>
            <a:bodyPr/>
            <a:lstStyle/>
            <a:p>
              <a:endParaRPr lang="en-IN"/>
            </a:p>
          </p:txBody>
        </p:sp>
      </p:grpSp>
      <p:sp>
        <p:nvSpPr>
          <p:cNvPr id="7" name="Freeform 7"/>
          <p:cNvSpPr/>
          <p:nvPr/>
        </p:nvSpPr>
        <p:spPr>
          <a:xfrm>
            <a:off x="1150120" y="1978552"/>
            <a:ext cx="6443462" cy="4952413"/>
          </a:xfrm>
          <a:custGeom>
            <a:avLst/>
            <a:gdLst/>
            <a:ahLst/>
            <a:cxnLst/>
            <a:rect l="l" t="t" r="r" b="b"/>
            <a:pathLst>
              <a:path w="6443462" h="4952413">
                <a:moveTo>
                  <a:pt x="0" y="0"/>
                </a:moveTo>
                <a:lnTo>
                  <a:pt x="6443461" y="0"/>
                </a:lnTo>
                <a:lnTo>
                  <a:pt x="6443461" y="4952413"/>
                </a:lnTo>
                <a:lnTo>
                  <a:pt x="0" y="4952413"/>
                </a:lnTo>
                <a:lnTo>
                  <a:pt x="0" y="0"/>
                </a:lnTo>
                <a:close/>
              </a:path>
            </a:pathLst>
          </a:custGeom>
          <a:blipFill>
            <a:blip r:embed="rId2"/>
            <a:stretch>
              <a:fillRect/>
            </a:stretch>
          </a:blipFill>
        </p:spPr>
        <p:txBody>
          <a:bodyPr/>
          <a:lstStyle/>
          <a:p>
            <a:endParaRPr/>
          </a:p>
        </p:txBody>
      </p:sp>
      <p:sp>
        <p:nvSpPr>
          <p:cNvPr id="8" name="TextBox 8"/>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15. ScreenManager</a:t>
            </a:r>
          </a:p>
        </p:txBody>
      </p:sp>
      <p:sp>
        <p:nvSpPr>
          <p:cNvPr id="9" name="TextBox 9"/>
          <p:cNvSpPr txBox="1"/>
          <p:nvPr/>
        </p:nvSpPr>
        <p:spPr>
          <a:xfrm>
            <a:off x="9521695" y="2173357"/>
            <a:ext cx="7174640" cy="457629"/>
          </a:xfrm>
          <a:prstGeom prst="rect">
            <a:avLst/>
          </a:prstGeom>
        </p:spPr>
        <p:txBody>
          <a:bodyPr lIns="0" tIns="0" rIns="0" bIns="0" rtlCol="0" anchor="t">
            <a:spAutoFit/>
          </a:bodyPr>
          <a:lstStyle/>
          <a:p>
            <a:pPr algn="l">
              <a:lnSpc>
                <a:spcPts val="2702"/>
              </a:lnSpc>
            </a:pPr>
            <a:r>
              <a:rPr lang="en-US" sz="2251" b="1">
                <a:solidFill>
                  <a:srgbClr val="5CAEFF"/>
                </a:solidFill>
                <a:latin typeface="Aptos Bold"/>
                <a:ea typeface="Aptos Bold"/>
                <a:cs typeface="Aptos Bold"/>
                <a:sym typeface="Aptos Bold"/>
              </a:rPr>
              <a:t>Screen rules</a:t>
            </a:r>
          </a:p>
        </p:txBody>
      </p:sp>
      <p:sp>
        <p:nvSpPr>
          <p:cNvPr id="10" name="TextBox 10"/>
          <p:cNvSpPr txBox="1"/>
          <p:nvPr/>
        </p:nvSpPr>
        <p:spPr>
          <a:xfrm>
            <a:off x="9521695" y="2859700"/>
            <a:ext cx="7174640" cy="4026579"/>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Exclusive: replaces everything.</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Modal: can sit over an Exclusive screen; the Exclusive screen is hidden and retained for restoration.</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Additive: can stack with Modal/Additive, but is rejected over an Exclusive screen.</a:t>
            </a:r>
          </a:p>
        </p:txBody>
      </p:sp>
      <p:sp>
        <p:nvSpPr>
          <p:cNvPr id="11" name="TextBox 11"/>
          <p:cNvSpPr txBox="1"/>
          <p:nvPr/>
        </p:nvSpPr>
        <p:spPr>
          <a:xfrm>
            <a:off x="1422930" y="7869955"/>
            <a:ext cx="15342041" cy="457629"/>
          </a:xfrm>
          <a:prstGeom prst="rect">
            <a:avLst/>
          </a:prstGeom>
        </p:spPr>
        <p:txBody>
          <a:bodyPr lIns="0" tIns="0" rIns="0" bIns="0" rtlCol="0" anchor="t">
            <a:spAutoFit/>
          </a:bodyPr>
          <a:lstStyle/>
          <a:p>
            <a:pPr algn="l">
              <a:lnSpc>
                <a:spcPts val="2702"/>
              </a:lnSpc>
            </a:pPr>
            <a:r>
              <a:rPr lang="en-US" sz="2251" b="1">
                <a:solidFill>
                  <a:srgbClr val="66CD96"/>
                </a:solidFill>
                <a:latin typeface="Aptos Bold"/>
                <a:ea typeface="Aptos Bold"/>
                <a:cs typeface="Aptos Bold"/>
                <a:sym typeface="Aptos Bold"/>
              </a:rPr>
              <a:t>Lifecycle</a:t>
            </a:r>
          </a:p>
        </p:txBody>
      </p:sp>
      <p:sp>
        <p:nvSpPr>
          <p:cNvPr id="12" name="TextBox 12"/>
          <p:cNvSpPr txBox="1"/>
          <p:nvPr/>
        </p:nvSpPr>
        <p:spPr>
          <a:xfrm>
            <a:off x="1422930" y="8327584"/>
            <a:ext cx="6425670" cy="342900"/>
          </a:xfrm>
          <a:prstGeom prst="rect">
            <a:avLst/>
          </a:prstGeom>
        </p:spPr>
        <p:txBody>
          <a:bodyPr wrap="square" lIns="0" tIns="0" rIns="0" bIns="0" rtlCol="0" anchor="t">
            <a:spAutoFit/>
          </a:bodyPr>
          <a:lstStyle/>
          <a:p>
            <a:pPr>
              <a:lnSpc>
                <a:spcPts val="2702"/>
              </a:lnSpc>
              <a:spcBef>
                <a:spcPct val="0"/>
              </a:spcBef>
            </a:pPr>
            <a:r>
              <a:rPr lang="en-US" sz="2251" dirty="0">
                <a:solidFill>
                  <a:srgbClr val="FFFFFF"/>
                </a:solidFill>
                <a:latin typeface="Aptos"/>
                <a:ea typeface="Aptos"/>
                <a:cs typeface="Aptos"/>
                <a:sym typeface="Aptos"/>
              </a:rPr>
              <a:t>Show → Resolve → Handle Type → Display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grpSp>
        <p:nvGrpSpPr>
          <p:cNvPr id="2" name="Group 2"/>
          <p:cNvGrpSpPr/>
          <p:nvPr/>
        </p:nvGrpSpPr>
        <p:grpSpPr>
          <a:xfrm>
            <a:off x="9258386" y="1983229"/>
            <a:ext cx="7838532" cy="4955915"/>
            <a:chOff x="0" y="0"/>
            <a:chExt cx="10451376" cy="6607886"/>
          </a:xfrm>
        </p:grpSpPr>
        <p:sp>
          <p:nvSpPr>
            <p:cNvPr id="3" name="Freeform 3"/>
            <p:cNvSpPr/>
            <p:nvPr/>
          </p:nvSpPr>
          <p:spPr>
            <a:xfrm>
              <a:off x="0" y="0"/>
              <a:ext cx="10451338" cy="6607937"/>
            </a:xfrm>
            <a:custGeom>
              <a:avLst/>
              <a:gdLst/>
              <a:ahLst/>
              <a:cxnLst/>
              <a:rect l="l" t="t" r="r" b="b"/>
              <a:pathLst>
                <a:path w="10451338" h="6607937">
                  <a:moveTo>
                    <a:pt x="0" y="1101344"/>
                  </a:moveTo>
                  <a:cubicBezTo>
                    <a:pt x="0" y="493141"/>
                    <a:pt x="493141" y="0"/>
                    <a:pt x="1101344" y="0"/>
                  </a:cubicBezTo>
                  <a:lnTo>
                    <a:pt x="9349994" y="0"/>
                  </a:lnTo>
                  <a:cubicBezTo>
                    <a:pt x="9958197" y="0"/>
                    <a:pt x="10451338" y="493141"/>
                    <a:pt x="10451338" y="1101344"/>
                  </a:cubicBezTo>
                  <a:lnTo>
                    <a:pt x="10451338" y="5506593"/>
                  </a:lnTo>
                  <a:cubicBezTo>
                    <a:pt x="10451338" y="6114796"/>
                    <a:pt x="9958197" y="6607937"/>
                    <a:pt x="9349994" y="6607937"/>
                  </a:cubicBezTo>
                  <a:lnTo>
                    <a:pt x="1101344" y="6607937"/>
                  </a:lnTo>
                  <a:cubicBezTo>
                    <a:pt x="493141" y="6607937"/>
                    <a:pt x="0" y="6114796"/>
                    <a:pt x="0" y="5506593"/>
                  </a:cubicBezTo>
                  <a:close/>
                </a:path>
              </a:pathLst>
            </a:custGeom>
            <a:solidFill>
              <a:srgbClr val="1E222D"/>
            </a:solidFill>
            <a:ln w="14299" cap="sq">
              <a:solidFill>
                <a:srgbClr val="272C3A"/>
              </a:solidFill>
              <a:prstDash val="solid"/>
              <a:miter/>
            </a:ln>
          </p:spPr>
          <p:txBody>
            <a:bodyPr/>
            <a:lstStyle/>
            <a:p>
              <a:endParaRPr lang="en-IN"/>
            </a:p>
          </p:txBody>
        </p:sp>
      </p:grpSp>
      <p:grpSp>
        <p:nvGrpSpPr>
          <p:cNvPr id="4" name="Group 4"/>
          <p:cNvGrpSpPr/>
          <p:nvPr/>
        </p:nvGrpSpPr>
        <p:grpSpPr>
          <a:xfrm>
            <a:off x="1011126" y="7689075"/>
            <a:ext cx="16143199" cy="1386973"/>
            <a:chOff x="0" y="0"/>
            <a:chExt cx="21524265" cy="1849298"/>
          </a:xfrm>
        </p:grpSpPr>
        <p:sp>
          <p:nvSpPr>
            <p:cNvPr id="5" name="Freeform 5"/>
            <p:cNvSpPr/>
            <p:nvPr/>
          </p:nvSpPr>
          <p:spPr>
            <a:xfrm>
              <a:off x="0" y="0"/>
              <a:ext cx="21524215" cy="1849247"/>
            </a:xfrm>
            <a:custGeom>
              <a:avLst/>
              <a:gdLst/>
              <a:ahLst/>
              <a:cxnLst/>
              <a:rect l="l" t="t" r="r" b="b"/>
              <a:pathLst>
                <a:path w="21524215" h="1849247">
                  <a:moveTo>
                    <a:pt x="0" y="308229"/>
                  </a:moveTo>
                  <a:cubicBezTo>
                    <a:pt x="0" y="138049"/>
                    <a:pt x="138049" y="0"/>
                    <a:pt x="308229" y="0"/>
                  </a:cubicBezTo>
                  <a:lnTo>
                    <a:pt x="21215986" y="0"/>
                  </a:lnTo>
                  <a:cubicBezTo>
                    <a:pt x="21386166" y="0"/>
                    <a:pt x="21524215" y="138049"/>
                    <a:pt x="21524215" y="308229"/>
                  </a:cubicBezTo>
                  <a:lnTo>
                    <a:pt x="21524215" y="1541018"/>
                  </a:lnTo>
                  <a:cubicBezTo>
                    <a:pt x="21524215" y="1711198"/>
                    <a:pt x="21386166" y="1849247"/>
                    <a:pt x="21215986" y="1849247"/>
                  </a:cubicBezTo>
                  <a:lnTo>
                    <a:pt x="308229" y="1849247"/>
                  </a:lnTo>
                  <a:cubicBezTo>
                    <a:pt x="138049" y="1849247"/>
                    <a:pt x="0" y="1711325"/>
                    <a:pt x="0" y="1541018"/>
                  </a:cubicBezTo>
                  <a:close/>
                </a:path>
              </a:pathLst>
            </a:custGeom>
            <a:solidFill>
              <a:srgbClr val="1E222D"/>
            </a:solidFill>
            <a:ln w="14299" cap="sq">
              <a:solidFill>
                <a:srgbClr val="272C3A"/>
              </a:solidFill>
              <a:prstDash val="solid"/>
              <a:miter/>
            </a:ln>
          </p:spPr>
          <p:txBody>
            <a:bodyPr/>
            <a:lstStyle/>
            <a:p>
              <a:endParaRPr lang="en-IN"/>
            </a:p>
          </p:txBody>
        </p:sp>
      </p:grpSp>
      <p:sp>
        <p:nvSpPr>
          <p:cNvPr id="6" name="Freeform 6"/>
          <p:cNvSpPr/>
          <p:nvPr/>
        </p:nvSpPr>
        <p:spPr>
          <a:xfrm>
            <a:off x="863672" y="2110394"/>
            <a:ext cx="8264597" cy="2256163"/>
          </a:xfrm>
          <a:custGeom>
            <a:avLst/>
            <a:gdLst/>
            <a:ahLst/>
            <a:cxnLst/>
            <a:rect l="l" t="t" r="r" b="b"/>
            <a:pathLst>
              <a:path w="8264597" h="2256163">
                <a:moveTo>
                  <a:pt x="0" y="0"/>
                </a:moveTo>
                <a:lnTo>
                  <a:pt x="8264597" y="0"/>
                </a:lnTo>
                <a:lnTo>
                  <a:pt x="8264597" y="2256163"/>
                </a:lnTo>
                <a:lnTo>
                  <a:pt x="0" y="2256163"/>
                </a:lnTo>
                <a:lnTo>
                  <a:pt x="0" y="0"/>
                </a:lnTo>
                <a:close/>
              </a:path>
            </a:pathLst>
          </a:custGeom>
          <a:blipFill>
            <a:blip r:embed="rId2"/>
            <a:stretch>
              <a:fillRect/>
            </a:stretch>
          </a:blipFill>
        </p:spPr>
        <p:txBody>
          <a:bodyPr/>
          <a:lstStyle/>
          <a:p>
            <a:endParaRPr/>
          </a:p>
        </p:txBody>
      </p:sp>
      <p:sp>
        <p:nvSpPr>
          <p:cNvPr id="7" name="Freeform 7"/>
          <p:cNvSpPr/>
          <p:nvPr/>
        </p:nvSpPr>
        <p:spPr>
          <a:xfrm>
            <a:off x="983675" y="4360894"/>
            <a:ext cx="5420356" cy="2975756"/>
          </a:xfrm>
          <a:custGeom>
            <a:avLst/>
            <a:gdLst/>
            <a:ahLst/>
            <a:cxnLst/>
            <a:rect l="l" t="t" r="r" b="b"/>
            <a:pathLst>
              <a:path w="5420356" h="2975756">
                <a:moveTo>
                  <a:pt x="0" y="0"/>
                </a:moveTo>
                <a:lnTo>
                  <a:pt x="5420357" y="0"/>
                </a:lnTo>
                <a:lnTo>
                  <a:pt x="5420357" y="2975756"/>
                </a:lnTo>
                <a:lnTo>
                  <a:pt x="0" y="2975756"/>
                </a:lnTo>
                <a:lnTo>
                  <a:pt x="0" y="0"/>
                </a:lnTo>
                <a:close/>
              </a:path>
            </a:pathLst>
          </a:custGeom>
          <a:blipFill>
            <a:blip r:embed="rId3"/>
            <a:stretch>
              <a:fillRect/>
            </a:stretch>
          </a:blipFill>
        </p:spPr>
        <p:txBody>
          <a:bodyPr/>
          <a:lstStyle/>
          <a:p>
            <a:endParaRPr/>
          </a:p>
        </p:txBody>
      </p:sp>
      <p:sp>
        <p:nvSpPr>
          <p:cNvPr id="8" name="TextBox 8"/>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16. PopupManager</a:t>
            </a:r>
          </a:p>
        </p:txBody>
      </p:sp>
      <p:sp>
        <p:nvSpPr>
          <p:cNvPr id="9" name="TextBox 9"/>
          <p:cNvSpPr txBox="1"/>
          <p:nvPr/>
        </p:nvSpPr>
        <p:spPr>
          <a:xfrm>
            <a:off x="1011126" y="1436322"/>
            <a:ext cx="16151924" cy="323850"/>
          </a:xfrm>
          <a:prstGeom prst="rect">
            <a:avLst/>
          </a:prstGeom>
        </p:spPr>
        <p:txBody>
          <a:bodyPr lIns="0" tIns="0" rIns="0" bIns="0" rtlCol="0" anchor="t">
            <a:spAutoFit/>
          </a:bodyPr>
          <a:lstStyle/>
          <a:p>
            <a:pPr algn="l">
              <a:lnSpc>
                <a:spcPts val="2520"/>
              </a:lnSpc>
            </a:pPr>
            <a:r>
              <a:rPr lang="en-US" sz="2100">
                <a:solidFill>
                  <a:srgbClr val="A7AFBF"/>
                </a:solidFill>
                <a:latin typeface="Aptos"/>
                <a:ea typeface="Aptos"/>
                <a:cs typeface="Aptos"/>
                <a:sym typeface="Aptos"/>
              </a:rPr>
              <a:t>Queue popups so only one popup is active</a:t>
            </a:r>
          </a:p>
        </p:txBody>
      </p:sp>
      <p:sp>
        <p:nvSpPr>
          <p:cNvPr id="10" name="TextBox 10"/>
          <p:cNvSpPr txBox="1"/>
          <p:nvPr/>
        </p:nvSpPr>
        <p:spPr>
          <a:xfrm>
            <a:off x="9658969" y="2241994"/>
            <a:ext cx="7037375" cy="457629"/>
          </a:xfrm>
          <a:prstGeom prst="rect">
            <a:avLst/>
          </a:prstGeom>
        </p:spPr>
        <p:txBody>
          <a:bodyPr lIns="0" tIns="0" rIns="0" bIns="0" rtlCol="0" anchor="t">
            <a:spAutoFit/>
          </a:bodyPr>
          <a:lstStyle/>
          <a:p>
            <a:pPr algn="l">
              <a:lnSpc>
                <a:spcPts val="2702"/>
              </a:lnSpc>
            </a:pPr>
            <a:r>
              <a:rPr lang="en-US" sz="2251" b="1">
                <a:solidFill>
                  <a:srgbClr val="B189FF"/>
                </a:solidFill>
                <a:latin typeface="Aptos Bold"/>
                <a:ea typeface="Aptos Bold"/>
                <a:cs typeface="Aptos Bold"/>
                <a:sym typeface="Aptos Bold"/>
              </a:rPr>
              <a:t>Queue flow</a:t>
            </a:r>
          </a:p>
        </p:txBody>
      </p:sp>
      <p:sp>
        <p:nvSpPr>
          <p:cNvPr id="11" name="TextBox 11"/>
          <p:cNvSpPr txBox="1"/>
          <p:nvPr/>
        </p:nvSpPr>
        <p:spPr>
          <a:xfrm>
            <a:off x="9658969" y="2928328"/>
            <a:ext cx="7037375" cy="3752040"/>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Show request</a:t>
            </a:r>
          </a:p>
          <a:p>
            <a:pPr algn="l">
              <a:lnSpc>
                <a:spcPts val="2251"/>
              </a:lnSpc>
            </a:pPr>
            <a:r>
              <a:rPr lang="en-US" sz="1876">
                <a:solidFill>
                  <a:srgbClr val="EEF1F7"/>
                </a:solidFill>
                <a:latin typeface="Aptos"/>
                <a:ea typeface="Aptos"/>
                <a:cs typeface="Aptos"/>
                <a:sym typeface="Aptos"/>
              </a:rPr>
              <a:t>↓</a:t>
            </a:r>
          </a:p>
          <a:p>
            <a:pPr algn="l">
              <a:lnSpc>
                <a:spcPts val="2251"/>
              </a:lnSpc>
            </a:pPr>
            <a:r>
              <a:rPr lang="en-US" sz="1876">
                <a:solidFill>
                  <a:srgbClr val="EEF1F7"/>
                </a:solidFill>
                <a:latin typeface="Aptos"/>
                <a:ea typeface="Aptos"/>
                <a:cs typeface="Aptos"/>
                <a:sym typeface="Aptos"/>
              </a:rPr>
              <a:t>No active popup? → Show immediately</a:t>
            </a:r>
          </a:p>
          <a:p>
            <a:pPr algn="l">
              <a:lnSpc>
                <a:spcPts val="2251"/>
              </a:lnSpc>
            </a:pPr>
            <a:r>
              <a:rPr lang="en-US" sz="1876">
                <a:solidFill>
                  <a:srgbClr val="EEF1F7"/>
                </a:solidFill>
                <a:latin typeface="Aptos"/>
                <a:ea typeface="Aptos"/>
                <a:cs typeface="Aptos"/>
                <a:sym typeface="Aptos"/>
              </a:rPr>
              <a:t>Otherwise → enqueue</a:t>
            </a:r>
          </a:p>
          <a:p>
            <a:pPr algn="l">
              <a:lnSpc>
                <a:spcPts val="2251"/>
              </a:lnSpc>
            </a:pPr>
            <a:r>
              <a:rPr lang="en-US" sz="1876">
                <a:solidFill>
                  <a:srgbClr val="EEF1F7"/>
                </a:solidFill>
                <a:latin typeface="Aptos"/>
                <a:ea typeface="Aptos"/>
                <a:cs typeface="Aptos"/>
                <a:sym typeface="Aptos"/>
              </a:rPr>
              <a:t>↓</a:t>
            </a:r>
          </a:p>
          <a:p>
            <a:pPr algn="l">
              <a:lnSpc>
                <a:spcPts val="2251"/>
              </a:lnSpc>
            </a:pPr>
            <a:r>
              <a:rPr lang="en-US" sz="1876">
                <a:solidFill>
                  <a:srgbClr val="EEF1F7"/>
                </a:solidFill>
                <a:latin typeface="Aptos"/>
                <a:ea typeface="Aptos"/>
                <a:cs typeface="Aptos"/>
                <a:sym typeface="Aptos"/>
              </a:rPr>
              <a:t>Active popup closes</a:t>
            </a:r>
          </a:p>
          <a:p>
            <a:pPr algn="l">
              <a:lnSpc>
                <a:spcPts val="2251"/>
              </a:lnSpc>
            </a:pPr>
            <a:r>
              <a:rPr lang="en-US" sz="1876">
                <a:solidFill>
                  <a:srgbClr val="EEF1F7"/>
                </a:solidFill>
                <a:latin typeface="Aptos"/>
                <a:ea typeface="Aptos"/>
                <a:cs typeface="Aptos"/>
                <a:sym typeface="Aptos"/>
              </a:rPr>
              <a:t>↓</a:t>
            </a:r>
          </a:p>
          <a:p>
            <a:pPr algn="l">
              <a:lnSpc>
                <a:spcPts val="2251"/>
              </a:lnSpc>
            </a:pPr>
            <a:r>
              <a:rPr lang="en-US" sz="1876">
                <a:solidFill>
                  <a:srgbClr val="EEF1F7"/>
                </a:solidFill>
                <a:latin typeface="Aptos"/>
                <a:ea typeface="Aptos"/>
                <a:cs typeface="Aptos"/>
                <a:sym typeface="Aptos"/>
              </a:rPr>
              <a:t>ShowNextPopup()</a:t>
            </a:r>
          </a:p>
          <a:p>
            <a:pPr algn="l">
              <a:lnSpc>
                <a:spcPts val="2251"/>
              </a:lnSpc>
            </a:pPr>
            <a:r>
              <a:rPr lang="en-US" sz="1876">
                <a:solidFill>
                  <a:srgbClr val="EEF1F7"/>
                </a:solidFill>
                <a:latin typeface="Aptos"/>
                <a:ea typeface="Aptos"/>
                <a:cs typeface="Aptos"/>
                <a:sym typeface="Aptos"/>
              </a:rPr>
              <a:t>↓</a:t>
            </a:r>
          </a:p>
          <a:p>
            <a:pPr algn="l">
              <a:lnSpc>
                <a:spcPts val="2251"/>
              </a:lnSpc>
            </a:pPr>
            <a:r>
              <a:rPr lang="en-US" sz="1876">
                <a:solidFill>
                  <a:srgbClr val="EEF1F7"/>
                </a:solidFill>
                <a:latin typeface="Aptos"/>
                <a:ea typeface="Aptos"/>
                <a:cs typeface="Aptos"/>
                <a:sym typeface="Aptos"/>
              </a:rPr>
              <a:t>Check CanShow()</a:t>
            </a:r>
          </a:p>
          <a:p>
            <a:pPr algn="l">
              <a:lnSpc>
                <a:spcPts val="2251"/>
              </a:lnSpc>
            </a:pPr>
            <a:r>
              <a:rPr lang="en-US" sz="1876">
                <a:solidFill>
                  <a:srgbClr val="EEF1F7"/>
                </a:solidFill>
                <a:latin typeface="Aptos"/>
                <a:ea typeface="Aptos"/>
                <a:cs typeface="Aptos"/>
                <a:sym typeface="Aptos"/>
              </a:rPr>
              <a:t>↓</a:t>
            </a:r>
          </a:p>
          <a:p>
            <a:pPr algn="l">
              <a:lnSpc>
                <a:spcPts val="2251"/>
              </a:lnSpc>
            </a:pPr>
            <a:r>
              <a:rPr lang="en-US" sz="1876">
                <a:solidFill>
                  <a:srgbClr val="EEF1F7"/>
                </a:solidFill>
                <a:latin typeface="Aptos"/>
                <a:ea typeface="Aptos"/>
                <a:cs typeface="Aptos"/>
                <a:sym typeface="Aptos"/>
              </a:rPr>
              <a:t>Instantiate + Initialize()</a:t>
            </a:r>
          </a:p>
        </p:txBody>
      </p:sp>
      <p:sp>
        <p:nvSpPr>
          <p:cNvPr id="12" name="TextBox 12"/>
          <p:cNvSpPr txBox="1"/>
          <p:nvPr/>
        </p:nvSpPr>
        <p:spPr>
          <a:xfrm>
            <a:off x="1411700" y="7947841"/>
            <a:ext cx="15342041" cy="457629"/>
          </a:xfrm>
          <a:prstGeom prst="rect">
            <a:avLst/>
          </a:prstGeom>
        </p:spPr>
        <p:txBody>
          <a:bodyPr lIns="0" tIns="0" rIns="0" bIns="0" rtlCol="0" anchor="t">
            <a:spAutoFit/>
          </a:bodyPr>
          <a:lstStyle/>
          <a:p>
            <a:pPr algn="l">
              <a:lnSpc>
                <a:spcPts val="2702"/>
              </a:lnSpc>
            </a:pPr>
            <a:r>
              <a:rPr lang="en-US" sz="2251" b="1">
                <a:solidFill>
                  <a:srgbClr val="66CD96"/>
                </a:solidFill>
                <a:latin typeface="Aptos Bold"/>
                <a:ea typeface="Aptos Bold"/>
                <a:cs typeface="Aptos Bold"/>
                <a:sym typeface="Aptos Bold"/>
              </a:rPr>
              <a:t>Safety</a:t>
            </a:r>
          </a:p>
        </p:txBody>
      </p:sp>
      <p:sp>
        <p:nvSpPr>
          <p:cNvPr id="13" name="TextBox 13"/>
          <p:cNvSpPr txBox="1"/>
          <p:nvPr/>
        </p:nvSpPr>
        <p:spPr>
          <a:xfrm>
            <a:off x="1416067" y="8453095"/>
            <a:ext cx="15342041" cy="183090"/>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Queued requests can be cancelled. Exceptions from request callbacks are caught and logged instead of breaking the popup queue.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grpSp>
        <p:nvGrpSpPr>
          <p:cNvPr id="2" name="Group 2"/>
          <p:cNvGrpSpPr/>
          <p:nvPr/>
        </p:nvGrpSpPr>
        <p:grpSpPr>
          <a:xfrm>
            <a:off x="9258386" y="1914592"/>
            <a:ext cx="7838532" cy="5093189"/>
            <a:chOff x="0" y="0"/>
            <a:chExt cx="10451376" cy="6790919"/>
          </a:xfrm>
        </p:grpSpPr>
        <p:sp>
          <p:nvSpPr>
            <p:cNvPr id="3" name="Freeform 3"/>
            <p:cNvSpPr/>
            <p:nvPr/>
          </p:nvSpPr>
          <p:spPr>
            <a:xfrm>
              <a:off x="0" y="0"/>
              <a:ext cx="10451338" cy="6790944"/>
            </a:xfrm>
            <a:custGeom>
              <a:avLst/>
              <a:gdLst/>
              <a:ahLst/>
              <a:cxnLst/>
              <a:rect l="l" t="t" r="r" b="b"/>
              <a:pathLst>
                <a:path w="10451338" h="6790944">
                  <a:moveTo>
                    <a:pt x="0" y="1131824"/>
                  </a:moveTo>
                  <a:cubicBezTo>
                    <a:pt x="0" y="506730"/>
                    <a:pt x="506730" y="0"/>
                    <a:pt x="1131824" y="0"/>
                  </a:cubicBezTo>
                  <a:lnTo>
                    <a:pt x="9319514" y="0"/>
                  </a:lnTo>
                  <a:cubicBezTo>
                    <a:pt x="9944608" y="0"/>
                    <a:pt x="10451338" y="506730"/>
                    <a:pt x="10451338" y="1131824"/>
                  </a:cubicBezTo>
                  <a:lnTo>
                    <a:pt x="10451338" y="5659120"/>
                  </a:lnTo>
                  <a:cubicBezTo>
                    <a:pt x="10451338" y="6284214"/>
                    <a:pt x="9944608" y="6790944"/>
                    <a:pt x="9319514" y="6790944"/>
                  </a:cubicBezTo>
                  <a:lnTo>
                    <a:pt x="1131824" y="6790944"/>
                  </a:lnTo>
                  <a:cubicBezTo>
                    <a:pt x="506730" y="6790944"/>
                    <a:pt x="0" y="6284214"/>
                    <a:pt x="0" y="5659120"/>
                  </a:cubicBezTo>
                  <a:close/>
                </a:path>
              </a:pathLst>
            </a:custGeom>
            <a:solidFill>
              <a:srgbClr val="1E222D"/>
            </a:solidFill>
            <a:ln w="14299" cap="sq">
              <a:solidFill>
                <a:srgbClr val="272C3A"/>
              </a:solidFill>
              <a:prstDash val="solid"/>
              <a:miter/>
            </a:ln>
          </p:spPr>
          <p:txBody>
            <a:bodyPr/>
            <a:lstStyle/>
            <a:p>
              <a:endParaRPr lang="en-IN"/>
            </a:p>
          </p:txBody>
        </p:sp>
      </p:grpSp>
      <p:sp>
        <p:nvSpPr>
          <p:cNvPr id="4" name="Freeform 4"/>
          <p:cNvSpPr/>
          <p:nvPr/>
        </p:nvSpPr>
        <p:spPr>
          <a:xfrm>
            <a:off x="1269799" y="2500200"/>
            <a:ext cx="7506777" cy="3788394"/>
          </a:xfrm>
          <a:custGeom>
            <a:avLst/>
            <a:gdLst/>
            <a:ahLst/>
            <a:cxnLst/>
            <a:rect l="l" t="t" r="r" b="b"/>
            <a:pathLst>
              <a:path w="7506777" h="3788394">
                <a:moveTo>
                  <a:pt x="0" y="0"/>
                </a:moveTo>
                <a:lnTo>
                  <a:pt x="7506777" y="0"/>
                </a:lnTo>
                <a:lnTo>
                  <a:pt x="7506777" y="3788395"/>
                </a:lnTo>
                <a:lnTo>
                  <a:pt x="0" y="3788395"/>
                </a:lnTo>
                <a:lnTo>
                  <a:pt x="0" y="0"/>
                </a:lnTo>
                <a:close/>
              </a:path>
            </a:pathLst>
          </a:custGeom>
          <a:blipFill>
            <a:blip r:embed="rId2"/>
            <a:stretch>
              <a:fillRect/>
            </a:stretch>
          </a:blipFill>
        </p:spPr>
        <p:txBody>
          <a:bodyPr/>
          <a:lstStyle/>
          <a:p>
            <a:endParaRPr/>
          </a:p>
        </p:txBody>
      </p:sp>
      <p:sp>
        <p:nvSpPr>
          <p:cNvPr id="5" name="TextBox 5"/>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17. Result Popup</a:t>
            </a:r>
          </a:p>
        </p:txBody>
      </p:sp>
      <p:sp>
        <p:nvSpPr>
          <p:cNvPr id="6" name="TextBox 6"/>
          <p:cNvSpPr txBox="1"/>
          <p:nvPr/>
        </p:nvSpPr>
        <p:spPr>
          <a:xfrm>
            <a:off x="9658969" y="2173357"/>
            <a:ext cx="7037375" cy="457629"/>
          </a:xfrm>
          <a:prstGeom prst="rect">
            <a:avLst/>
          </a:prstGeom>
        </p:spPr>
        <p:txBody>
          <a:bodyPr lIns="0" tIns="0" rIns="0" bIns="0" rtlCol="0" anchor="t">
            <a:spAutoFit/>
          </a:bodyPr>
          <a:lstStyle/>
          <a:p>
            <a:pPr algn="l">
              <a:lnSpc>
                <a:spcPts val="2702"/>
              </a:lnSpc>
            </a:pPr>
            <a:r>
              <a:rPr lang="en-US" sz="2251" b="1">
                <a:solidFill>
                  <a:srgbClr val="FFB15C"/>
                </a:solidFill>
                <a:latin typeface="Aptos Bold"/>
                <a:ea typeface="Aptos Bold"/>
                <a:cs typeface="Aptos Bold"/>
                <a:sym typeface="Aptos Bold"/>
              </a:rPr>
              <a:t>Animation</a:t>
            </a:r>
          </a:p>
        </p:txBody>
      </p:sp>
      <p:sp>
        <p:nvSpPr>
          <p:cNvPr id="7" name="TextBox 7"/>
          <p:cNvSpPr txBox="1"/>
          <p:nvPr/>
        </p:nvSpPr>
        <p:spPr>
          <a:xfrm>
            <a:off x="9658969" y="2859700"/>
            <a:ext cx="7037375" cy="2286000"/>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Result text and button parent start at alpha 0.</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Container moves to MoveLocation over 0.7 seconds with OutCubic easing.</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Text and buttons fade in over 0.3 seconds.</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Confetti plays after button fade-in on Win.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sp>
        <p:nvSpPr>
          <p:cNvPr id="2" name="TextBox 2"/>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18. Services &amp; Dependency Inversion</a:t>
            </a:r>
          </a:p>
        </p:txBody>
      </p:sp>
      <p:grpSp>
        <p:nvGrpSpPr>
          <p:cNvPr id="3" name="Group 3"/>
          <p:cNvGrpSpPr/>
          <p:nvPr/>
        </p:nvGrpSpPr>
        <p:grpSpPr>
          <a:xfrm>
            <a:off x="1022356" y="1914592"/>
            <a:ext cx="4955915" cy="5779522"/>
            <a:chOff x="0" y="0"/>
            <a:chExt cx="6607886" cy="7706030"/>
          </a:xfrm>
        </p:grpSpPr>
        <p:sp>
          <p:nvSpPr>
            <p:cNvPr id="4" name="Freeform 4"/>
            <p:cNvSpPr/>
            <p:nvPr/>
          </p:nvSpPr>
          <p:spPr>
            <a:xfrm>
              <a:off x="0" y="0"/>
              <a:ext cx="6607937" cy="7705979"/>
            </a:xfrm>
            <a:custGeom>
              <a:avLst/>
              <a:gdLst/>
              <a:ahLst/>
              <a:cxnLst/>
              <a:rect l="l" t="t" r="r" b="b"/>
              <a:pathLst>
                <a:path w="6607937" h="7705979">
                  <a:moveTo>
                    <a:pt x="0" y="1101344"/>
                  </a:moveTo>
                  <a:cubicBezTo>
                    <a:pt x="0" y="493141"/>
                    <a:pt x="493141" y="0"/>
                    <a:pt x="1101344" y="0"/>
                  </a:cubicBezTo>
                  <a:lnTo>
                    <a:pt x="5506593" y="0"/>
                  </a:lnTo>
                  <a:cubicBezTo>
                    <a:pt x="6114796" y="0"/>
                    <a:pt x="6607937" y="493141"/>
                    <a:pt x="6607937" y="1101344"/>
                  </a:cubicBezTo>
                  <a:lnTo>
                    <a:pt x="6607937" y="6604635"/>
                  </a:lnTo>
                  <a:cubicBezTo>
                    <a:pt x="6607937" y="7212838"/>
                    <a:pt x="6114796" y="7705979"/>
                    <a:pt x="5506593" y="7705979"/>
                  </a:cubicBezTo>
                  <a:lnTo>
                    <a:pt x="1101344" y="7705979"/>
                  </a:lnTo>
                  <a:cubicBezTo>
                    <a:pt x="493141" y="7705979"/>
                    <a:pt x="0" y="7212965"/>
                    <a:pt x="0" y="6604635"/>
                  </a:cubicBezTo>
                  <a:close/>
                </a:path>
              </a:pathLst>
            </a:custGeom>
            <a:solidFill>
              <a:srgbClr val="1E222D"/>
            </a:solidFill>
            <a:ln w="14299" cap="sq">
              <a:solidFill>
                <a:srgbClr val="272C3A"/>
              </a:solidFill>
              <a:prstDash val="solid"/>
              <a:miter/>
            </a:ln>
          </p:spPr>
          <p:txBody>
            <a:bodyPr/>
            <a:lstStyle/>
            <a:p>
              <a:endParaRPr lang="en-IN"/>
            </a:p>
          </p:txBody>
        </p:sp>
      </p:grpSp>
      <p:sp>
        <p:nvSpPr>
          <p:cNvPr id="5" name="TextBox 5"/>
          <p:cNvSpPr txBox="1"/>
          <p:nvPr/>
        </p:nvSpPr>
        <p:spPr>
          <a:xfrm>
            <a:off x="1422930" y="2173357"/>
            <a:ext cx="4154767" cy="457629"/>
          </a:xfrm>
          <a:prstGeom prst="rect">
            <a:avLst/>
          </a:prstGeom>
        </p:spPr>
        <p:txBody>
          <a:bodyPr lIns="0" tIns="0" rIns="0" bIns="0" rtlCol="0" anchor="t">
            <a:spAutoFit/>
          </a:bodyPr>
          <a:lstStyle/>
          <a:p>
            <a:pPr algn="l">
              <a:lnSpc>
                <a:spcPts val="2702"/>
              </a:lnSpc>
            </a:pPr>
            <a:r>
              <a:rPr lang="en-US" sz="2251" b="1">
                <a:solidFill>
                  <a:srgbClr val="5CAEFF"/>
                </a:solidFill>
                <a:latin typeface="Aptos Bold"/>
                <a:ea typeface="Aptos Bold"/>
                <a:cs typeface="Aptos Bold"/>
                <a:sym typeface="Aptos Bold"/>
              </a:rPr>
              <a:t>ISaveService</a:t>
            </a:r>
          </a:p>
        </p:txBody>
      </p:sp>
      <p:sp>
        <p:nvSpPr>
          <p:cNvPr id="6" name="TextBox 6"/>
          <p:cNvSpPr txBox="1"/>
          <p:nvPr/>
        </p:nvSpPr>
        <p:spPr>
          <a:xfrm>
            <a:off x="1422930" y="2859700"/>
            <a:ext cx="4154767" cy="2571750"/>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SaveInt</a:t>
            </a:r>
          </a:p>
          <a:p>
            <a:pPr algn="l">
              <a:lnSpc>
                <a:spcPts val="2251"/>
              </a:lnSpc>
            </a:pPr>
            <a:r>
              <a:rPr lang="en-US" sz="1876">
                <a:solidFill>
                  <a:srgbClr val="EEF1F7"/>
                </a:solidFill>
                <a:latin typeface="Aptos"/>
                <a:ea typeface="Aptos"/>
                <a:cs typeface="Aptos"/>
                <a:sym typeface="Aptos"/>
              </a:rPr>
              <a:t>LoadInt</a:t>
            </a:r>
          </a:p>
          <a:p>
            <a:pPr algn="l">
              <a:lnSpc>
                <a:spcPts val="2251"/>
              </a:lnSpc>
            </a:pPr>
            <a:r>
              <a:rPr lang="en-US" sz="1876">
                <a:solidFill>
                  <a:srgbClr val="EEF1F7"/>
                </a:solidFill>
                <a:latin typeface="Aptos"/>
                <a:ea typeface="Aptos"/>
                <a:cs typeface="Aptos"/>
                <a:sym typeface="Aptos"/>
              </a:rPr>
              <a:t>HasKey</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Implementation: PlayerPrefsSaveService</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Purpose: hide Unity PlayerPrefs behind an interface.</a:t>
            </a:r>
          </a:p>
        </p:txBody>
      </p:sp>
      <p:grpSp>
        <p:nvGrpSpPr>
          <p:cNvPr id="7" name="Group 7"/>
          <p:cNvGrpSpPr/>
          <p:nvPr/>
        </p:nvGrpSpPr>
        <p:grpSpPr>
          <a:xfrm>
            <a:off x="6650307" y="1914592"/>
            <a:ext cx="4955915" cy="5779522"/>
            <a:chOff x="0" y="0"/>
            <a:chExt cx="6607886" cy="7706030"/>
          </a:xfrm>
        </p:grpSpPr>
        <p:sp>
          <p:nvSpPr>
            <p:cNvPr id="8" name="Freeform 8"/>
            <p:cNvSpPr/>
            <p:nvPr/>
          </p:nvSpPr>
          <p:spPr>
            <a:xfrm>
              <a:off x="0" y="0"/>
              <a:ext cx="6607937" cy="7705979"/>
            </a:xfrm>
            <a:custGeom>
              <a:avLst/>
              <a:gdLst/>
              <a:ahLst/>
              <a:cxnLst/>
              <a:rect l="l" t="t" r="r" b="b"/>
              <a:pathLst>
                <a:path w="6607937" h="7705979">
                  <a:moveTo>
                    <a:pt x="0" y="1101344"/>
                  </a:moveTo>
                  <a:cubicBezTo>
                    <a:pt x="0" y="493141"/>
                    <a:pt x="493141" y="0"/>
                    <a:pt x="1101344" y="0"/>
                  </a:cubicBezTo>
                  <a:lnTo>
                    <a:pt x="5506593" y="0"/>
                  </a:lnTo>
                  <a:cubicBezTo>
                    <a:pt x="6114796" y="0"/>
                    <a:pt x="6607937" y="493141"/>
                    <a:pt x="6607937" y="1101344"/>
                  </a:cubicBezTo>
                  <a:lnTo>
                    <a:pt x="6607937" y="6604635"/>
                  </a:lnTo>
                  <a:cubicBezTo>
                    <a:pt x="6607937" y="7212838"/>
                    <a:pt x="6114796" y="7705979"/>
                    <a:pt x="5506593" y="7705979"/>
                  </a:cubicBezTo>
                  <a:lnTo>
                    <a:pt x="1101344" y="7705979"/>
                  </a:lnTo>
                  <a:cubicBezTo>
                    <a:pt x="493141" y="7705979"/>
                    <a:pt x="0" y="7212965"/>
                    <a:pt x="0" y="6604635"/>
                  </a:cubicBezTo>
                  <a:close/>
                </a:path>
              </a:pathLst>
            </a:custGeom>
            <a:solidFill>
              <a:srgbClr val="1E222D"/>
            </a:solidFill>
            <a:ln w="14299" cap="sq">
              <a:solidFill>
                <a:srgbClr val="272C3A"/>
              </a:solidFill>
              <a:prstDash val="solid"/>
              <a:miter/>
            </a:ln>
          </p:spPr>
          <p:txBody>
            <a:bodyPr/>
            <a:lstStyle/>
            <a:p>
              <a:endParaRPr lang="en-IN"/>
            </a:p>
          </p:txBody>
        </p:sp>
      </p:grpSp>
      <p:sp>
        <p:nvSpPr>
          <p:cNvPr id="9" name="TextBox 9"/>
          <p:cNvSpPr txBox="1"/>
          <p:nvPr/>
        </p:nvSpPr>
        <p:spPr>
          <a:xfrm>
            <a:off x="7050891" y="2173357"/>
            <a:ext cx="4154767" cy="457629"/>
          </a:xfrm>
          <a:prstGeom prst="rect">
            <a:avLst/>
          </a:prstGeom>
        </p:spPr>
        <p:txBody>
          <a:bodyPr lIns="0" tIns="0" rIns="0" bIns="0" rtlCol="0" anchor="t">
            <a:spAutoFit/>
          </a:bodyPr>
          <a:lstStyle/>
          <a:p>
            <a:pPr algn="l">
              <a:lnSpc>
                <a:spcPts val="2702"/>
              </a:lnSpc>
            </a:pPr>
            <a:r>
              <a:rPr lang="en-US" sz="2251" b="1">
                <a:solidFill>
                  <a:srgbClr val="66CD96"/>
                </a:solidFill>
                <a:latin typeface="Aptos Bold"/>
                <a:ea typeface="Aptos Bold"/>
                <a:cs typeface="Aptos Bold"/>
                <a:sym typeface="Aptos Bold"/>
              </a:rPr>
              <a:t>ILevelService</a:t>
            </a:r>
          </a:p>
        </p:txBody>
      </p:sp>
      <p:sp>
        <p:nvSpPr>
          <p:cNvPr id="10" name="TextBox 10"/>
          <p:cNvSpPr txBox="1"/>
          <p:nvPr/>
        </p:nvSpPr>
        <p:spPr>
          <a:xfrm>
            <a:off x="7050891" y="2859700"/>
            <a:ext cx="4154767" cy="1714500"/>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GetLevel(levelNumber)</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Implementation: LevelService</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Purpose: provide level data without making UI know how levels are stored.</a:t>
            </a:r>
          </a:p>
        </p:txBody>
      </p:sp>
      <p:grpSp>
        <p:nvGrpSpPr>
          <p:cNvPr id="11" name="Group 11"/>
          <p:cNvGrpSpPr/>
          <p:nvPr/>
        </p:nvGrpSpPr>
        <p:grpSpPr>
          <a:xfrm>
            <a:off x="12278268" y="1914592"/>
            <a:ext cx="4955915" cy="5779522"/>
            <a:chOff x="0" y="0"/>
            <a:chExt cx="6607886" cy="7706030"/>
          </a:xfrm>
        </p:grpSpPr>
        <p:sp>
          <p:nvSpPr>
            <p:cNvPr id="12" name="Freeform 12"/>
            <p:cNvSpPr/>
            <p:nvPr/>
          </p:nvSpPr>
          <p:spPr>
            <a:xfrm>
              <a:off x="0" y="0"/>
              <a:ext cx="6607937" cy="7705979"/>
            </a:xfrm>
            <a:custGeom>
              <a:avLst/>
              <a:gdLst/>
              <a:ahLst/>
              <a:cxnLst/>
              <a:rect l="l" t="t" r="r" b="b"/>
              <a:pathLst>
                <a:path w="6607937" h="7705979">
                  <a:moveTo>
                    <a:pt x="0" y="1101344"/>
                  </a:moveTo>
                  <a:cubicBezTo>
                    <a:pt x="0" y="493141"/>
                    <a:pt x="493141" y="0"/>
                    <a:pt x="1101344" y="0"/>
                  </a:cubicBezTo>
                  <a:lnTo>
                    <a:pt x="5506593" y="0"/>
                  </a:lnTo>
                  <a:cubicBezTo>
                    <a:pt x="6114796" y="0"/>
                    <a:pt x="6607937" y="493141"/>
                    <a:pt x="6607937" y="1101344"/>
                  </a:cubicBezTo>
                  <a:lnTo>
                    <a:pt x="6607937" y="6604635"/>
                  </a:lnTo>
                  <a:cubicBezTo>
                    <a:pt x="6607937" y="7212838"/>
                    <a:pt x="6114796" y="7705979"/>
                    <a:pt x="5506593" y="7705979"/>
                  </a:cubicBezTo>
                  <a:lnTo>
                    <a:pt x="1101344" y="7705979"/>
                  </a:lnTo>
                  <a:cubicBezTo>
                    <a:pt x="493141" y="7705979"/>
                    <a:pt x="0" y="7212965"/>
                    <a:pt x="0" y="6604635"/>
                  </a:cubicBezTo>
                  <a:close/>
                </a:path>
              </a:pathLst>
            </a:custGeom>
            <a:solidFill>
              <a:srgbClr val="1E222D"/>
            </a:solidFill>
            <a:ln w="14299" cap="sq">
              <a:solidFill>
                <a:srgbClr val="272C3A"/>
              </a:solidFill>
              <a:prstDash val="solid"/>
              <a:miter/>
            </a:ln>
          </p:spPr>
          <p:txBody>
            <a:bodyPr/>
            <a:lstStyle/>
            <a:p>
              <a:endParaRPr lang="en-IN"/>
            </a:p>
          </p:txBody>
        </p:sp>
      </p:grpSp>
      <p:sp>
        <p:nvSpPr>
          <p:cNvPr id="13" name="TextBox 13"/>
          <p:cNvSpPr txBox="1"/>
          <p:nvPr/>
        </p:nvSpPr>
        <p:spPr>
          <a:xfrm>
            <a:off x="12678842" y="2173357"/>
            <a:ext cx="4154767" cy="457629"/>
          </a:xfrm>
          <a:prstGeom prst="rect">
            <a:avLst/>
          </a:prstGeom>
        </p:spPr>
        <p:txBody>
          <a:bodyPr lIns="0" tIns="0" rIns="0" bIns="0" rtlCol="0" anchor="t">
            <a:spAutoFit/>
          </a:bodyPr>
          <a:lstStyle/>
          <a:p>
            <a:pPr algn="l">
              <a:lnSpc>
                <a:spcPts val="2702"/>
              </a:lnSpc>
            </a:pPr>
            <a:r>
              <a:rPr lang="en-US" sz="2251" b="1">
                <a:solidFill>
                  <a:srgbClr val="B189FF"/>
                </a:solidFill>
                <a:latin typeface="Aptos Bold"/>
                <a:ea typeface="Aptos Bold"/>
                <a:cs typeface="Aptos Bold"/>
                <a:sym typeface="Aptos Bold"/>
              </a:rPr>
              <a:t>ServiceRegistry</a:t>
            </a:r>
          </a:p>
        </p:txBody>
      </p:sp>
      <p:sp>
        <p:nvSpPr>
          <p:cNvPr id="14" name="TextBox 14"/>
          <p:cNvSpPr txBox="1"/>
          <p:nvPr/>
        </p:nvSpPr>
        <p:spPr>
          <a:xfrm>
            <a:off x="12678842" y="2859700"/>
            <a:ext cx="4154767" cy="2286000"/>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Register&lt;T&gt;</a:t>
            </a:r>
          </a:p>
          <a:p>
            <a:pPr algn="l">
              <a:lnSpc>
                <a:spcPts val="2251"/>
              </a:lnSpc>
            </a:pPr>
            <a:r>
              <a:rPr lang="en-US" sz="1876">
                <a:solidFill>
                  <a:srgbClr val="EEF1F7"/>
                </a:solidFill>
                <a:latin typeface="Aptos"/>
                <a:ea typeface="Aptos"/>
                <a:cs typeface="Aptos"/>
                <a:sym typeface="Aptos"/>
              </a:rPr>
              <a:t>Get&lt;T&gt;</a:t>
            </a:r>
          </a:p>
          <a:p>
            <a:pPr algn="l">
              <a:lnSpc>
                <a:spcPts val="2251"/>
              </a:lnSpc>
            </a:pPr>
            <a:r>
              <a:rPr lang="en-US" sz="1876">
                <a:solidFill>
                  <a:srgbClr val="EEF1F7"/>
                </a:solidFill>
                <a:latin typeface="Aptos"/>
                <a:ea typeface="Aptos"/>
                <a:cs typeface="Aptos"/>
                <a:sym typeface="Aptos"/>
              </a:rPr>
              <a:t>Has&lt;T&gt;</a:t>
            </a:r>
          </a:p>
          <a:p>
            <a:pPr algn="l">
              <a:lnSpc>
                <a:spcPts val="2251"/>
              </a:lnSpc>
            </a:pPr>
            <a:r>
              <a:rPr lang="en-US" sz="1876">
                <a:solidFill>
                  <a:srgbClr val="EEF1F7"/>
                </a:solidFill>
                <a:latin typeface="Aptos"/>
                <a:ea typeface="Aptos"/>
                <a:cs typeface="Aptos"/>
                <a:sym typeface="Aptos"/>
              </a:rPr>
              <a:t>Unregister&lt;T&gt;</a:t>
            </a:r>
          </a:p>
          <a:p>
            <a:pPr algn="l">
              <a:lnSpc>
                <a:spcPts val="2251"/>
              </a:lnSpc>
            </a:pPr>
            <a:r>
              <a:rPr lang="en-US" sz="1876">
                <a:solidFill>
                  <a:srgbClr val="EEF1F7"/>
                </a:solidFill>
                <a:latin typeface="Aptos"/>
                <a:ea typeface="Aptos"/>
                <a:cs typeface="Aptos"/>
                <a:sym typeface="Aptos"/>
              </a:rPr>
              <a:t>Clear()</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Purpose: centralized runtime service lookup.</a:t>
            </a:r>
          </a:p>
        </p:txBody>
      </p:sp>
      <p:grpSp>
        <p:nvGrpSpPr>
          <p:cNvPr id="15" name="Group 15"/>
          <p:cNvGrpSpPr/>
          <p:nvPr/>
        </p:nvGrpSpPr>
        <p:grpSpPr>
          <a:xfrm>
            <a:off x="1022356" y="8022984"/>
            <a:ext cx="16143199" cy="906532"/>
            <a:chOff x="0" y="0"/>
            <a:chExt cx="21524265" cy="1208710"/>
          </a:xfrm>
        </p:grpSpPr>
        <p:sp>
          <p:nvSpPr>
            <p:cNvPr id="16" name="Freeform 16"/>
            <p:cNvSpPr/>
            <p:nvPr/>
          </p:nvSpPr>
          <p:spPr>
            <a:xfrm>
              <a:off x="0" y="0"/>
              <a:ext cx="21524213" cy="1208659"/>
            </a:xfrm>
            <a:custGeom>
              <a:avLst/>
              <a:gdLst/>
              <a:ahLst/>
              <a:cxnLst/>
              <a:rect l="l" t="t" r="r" b="b"/>
              <a:pathLst>
                <a:path w="21524213" h="1208659">
                  <a:moveTo>
                    <a:pt x="0" y="201422"/>
                  </a:moveTo>
                  <a:cubicBezTo>
                    <a:pt x="0" y="90170"/>
                    <a:pt x="90170" y="0"/>
                    <a:pt x="201422" y="0"/>
                  </a:cubicBezTo>
                  <a:lnTo>
                    <a:pt x="21322792" y="0"/>
                  </a:lnTo>
                  <a:cubicBezTo>
                    <a:pt x="21434044" y="0"/>
                    <a:pt x="21524213" y="90170"/>
                    <a:pt x="21524213" y="201422"/>
                  </a:cubicBezTo>
                  <a:lnTo>
                    <a:pt x="21524213" y="1007237"/>
                  </a:lnTo>
                  <a:cubicBezTo>
                    <a:pt x="21524213" y="1118489"/>
                    <a:pt x="21434044" y="1208659"/>
                    <a:pt x="21322792" y="1208659"/>
                  </a:cubicBezTo>
                  <a:lnTo>
                    <a:pt x="201422" y="1208659"/>
                  </a:lnTo>
                  <a:cubicBezTo>
                    <a:pt x="90170" y="1208659"/>
                    <a:pt x="0" y="1118489"/>
                    <a:pt x="0" y="1007237"/>
                  </a:cubicBezTo>
                  <a:close/>
                </a:path>
              </a:pathLst>
            </a:custGeom>
            <a:solidFill>
              <a:srgbClr val="1E222D"/>
            </a:solidFill>
            <a:ln w="14299" cap="sq">
              <a:solidFill>
                <a:srgbClr val="272C3A"/>
              </a:solidFill>
              <a:prstDash val="solid"/>
              <a:miter/>
            </a:ln>
          </p:spPr>
          <p:txBody>
            <a:bodyPr/>
            <a:lstStyle/>
            <a:p>
              <a:endParaRPr lang="en-IN"/>
            </a:p>
          </p:txBody>
        </p:sp>
      </p:grpSp>
      <p:sp>
        <p:nvSpPr>
          <p:cNvPr id="17" name="TextBox 17"/>
          <p:cNvSpPr txBox="1"/>
          <p:nvPr/>
        </p:nvSpPr>
        <p:spPr>
          <a:xfrm>
            <a:off x="1422930" y="8281759"/>
            <a:ext cx="15342041" cy="457629"/>
          </a:xfrm>
          <a:prstGeom prst="rect">
            <a:avLst/>
          </a:prstGeom>
        </p:spPr>
        <p:txBody>
          <a:bodyPr lIns="0" tIns="0" rIns="0" bIns="0" rtlCol="0" anchor="t">
            <a:spAutoFit/>
          </a:bodyPr>
          <a:lstStyle/>
          <a:p>
            <a:pPr algn="l">
              <a:lnSpc>
                <a:spcPts val="2702"/>
              </a:lnSpc>
            </a:pPr>
            <a:r>
              <a:rPr lang="en-US" sz="2251" b="1">
                <a:solidFill>
                  <a:srgbClr val="FFB15C"/>
                </a:solidFill>
                <a:latin typeface="Aptos Bold"/>
                <a:ea typeface="Aptos Bold"/>
                <a:cs typeface="Aptos Bold"/>
                <a:sym typeface="Aptos Bold"/>
              </a:rPr>
              <a:t>Design intent</a:t>
            </a:r>
          </a:p>
        </p:txBody>
      </p:sp>
      <p:sp>
        <p:nvSpPr>
          <p:cNvPr id="18" name="TextBox 18"/>
          <p:cNvSpPr txBox="1"/>
          <p:nvPr/>
        </p:nvSpPr>
        <p:spPr>
          <a:xfrm>
            <a:off x="3754283" y="8281759"/>
            <a:ext cx="6972895" cy="342900"/>
          </a:xfrm>
          <a:prstGeom prst="rect">
            <a:avLst/>
          </a:prstGeom>
        </p:spPr>
        <p:txBody>
          <a:bodyPr lIns="0" tIns="0" rIns="0" bIns="0" rtlCol="0" anchor="t">
            <a:spAutoFit/>
          </a:bodyPr>
          <a:lstStyle/>
          <a:p>
            <a:pPr algn="ctr">
              <a:lnSpc>
                <a:spcPts val="2702"/>
              </a:lnSpc>
              <a:spcBef>
                <a:spcPct val="0"/>
              </a:spcBef>
            </a:pPr>
            <a:r>
              <a:rPr lang="en-US" sz="2251" b="1">
                <a:solidFill>
                  <a:srgbClr val="FFFFFF"/>
                </a:solidFill>
                <a:latin typeface="Aptos Bold"/>
                <a:ea typeface="Aptos Bold"/>
                <a:cs typeface="Aptos Bold"/>
                <a:sym typeface="Aptos Bold"/>
              </a:rPr>
              <a:t>The goal is decoupling, not performance optimization.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sp>
        <p:nvSpPr>
          <p:cNvPr id="2" name="TextBox 2"/>
          <p:cNvSpPr txBox="1"/>
          <p:nvPr/>
        </p:nvSpPr>
        <p:spPr>
          <a:xfrm>
            <a:off x="1011126" y="1436322"/>
            <a:ext cx="16151924" cy="323850"/>
          </a:xfrm>
          <a:prstGeom prst="rect">
            <a:avLst/>
          </a:prstGeom>
        </p:spPr>
        <p:txBody>
          <a:bodyPr lIns="0" tIns="0" rIns="0" bIns="0" rtlCol="0" anchor="t">
            <a:spAutoFit/>
          </a:bodyPr>
          <a:lstStyle/>
          <a:p>
            <a:pPr algn="l">
              <a:lnSpc>
                <a:spcPts val="2520"/>
              </a:lnSpc>
            </a:pPr>
            <a:r>
              <a:rPr lang="en-US" sz="2100">
                <a:solidFill>
                  <a:srgbClr val="A7AFBF"/>
                </a:solidFill>
                <a:latin typeface="Aptos"/>
                <a:ea typeface="Aptos"/>
                <a:cs typeface="Aptos"/>
                <a:sym typeface="Aptos"/>
              </a:rPr>
              <a:t>ScriptableObject keeps level configuration outside gameplay code</a:t>
            </a:r>
          </a:p>
        </p:txBody>
      </p:sp>
      <p:grpSp>
        <p:nvGrpSpPr>
          <p:cNvPr id="3" name="Group 3"/>
          <p:cNvGrpSpPr/>
          <p:nvPr/>
        </p:nvGrpSpPr>
        <p:grpSpPr>
          <a:xfrm>
            <a:off x="8983856" y="1914592"/>
            <a:ext cx="8113062" cy="5230454"/>
            <a:chOff x="0" y="0"/>
            <a:chExt cx="10817416" cy="6973938"/>
          </a:xfrm>
        </p:grpSpPr>
        <p:sp>
          <p:nvSpPr>
            <p:cNvPr id="4" name="Freeform 4"/>
            <p:cNvSpPr/>
            <p:nvPr/>
          </p:nvSpPr>
          <p:spPr>
            <a:xfrm>
              <a:off x="0" y="0"/>
              <a:ext cx="10817352" cy="6973951"/>
            </a:xfrm>
            <a:custGeom>
              <a:avLst/>
              <a:gdLst/>
              <a:ahLst/>
              <a:cxnLst/>
              <a:rect l="l" t="t" r="r" b="b"/>
              <a:pathLst>
                <a:path w="10817352" h="6973951">
                  <a:moveTo>
                    <a:pt x="0" y="1162304"/>
                  </a:moveTo>
                  <a:cubicBezTo>
                    <a:pt x="0" y="520446"/>
                    <a:pt x="520446" y="0"/>
                    <a:pt x="1162304" y="0"/>
                  </a:cubicBezTo>
                  <a:lnTo>
                    <a:pt x="9655048" y="0"/>
                  </a:lnTo>
                  <a:cubicBezTo>
                    <a:pt x="10297033" y="0"/>
                    <a:pt x="10817352" y="520446"/>
                    <a:pt x="10817352" y="1162304"/>
                  </a:cubicBezTo>
                  <a:lnTo>
                    <a:pt x="10817352" y="5811647"/>
                  </a:lnTo>
                  <a:cubicBezTo>
                    <a:pt x="10817352" y="6453632"/>
                    <a:pt x="10296906" y="6973951"/>
                    <a:pt x="9655048" y="6973951"/>
                  </a:cubicBezTo>
                  <a:lnTo>
                    <a:pt x="1162304" y="6973951"/>
                  </a:lnTo>
                  <a:cubicBezTo>
                    <a:pt x="520446" y="6973951"/>
                    <a:pt x="0" y="6453505"/>
                    <a:pt x="0" y="5811647"/>
                  </a:cubicBezTo>
                  <a:close/>
                </a:path>
              </a:pathLst>
            </a:custGeom>
            <a:solidFill>
              <a:srgbClr val="1E222D"/>
            </a:solidFill>
            <a:ln w="14299" cap="sq">
              <a:solidFill>
                <a:srgbClr val="272C3A"/>
              </a:solidFill>
              <a:prstDash val="solid"/>
              <a:miter/>
            </a:ln>
          </p:spPr>
          <p:txBody>
            <a:bodyPr/>
            <a:lstStyle/>
            <a:p>
              <a:endParaRPr lang="en-IN"/>
            </a:p>
          </p:txBody>
        </p:sp>
      </p:grpSp>
      <p:grpSp>
        <p:nvGrpSpPr>
          <p:cNvPr id="5" name="Group 5"/>
          <p:cNvGrpSpPr/>
          <p:nvPr/>
        </p:nvGrpSpPr>
        <p:grpSpPr>
          <a:xfrm>
            <a:off x="1022356" y="7542552"/>
            <a:ext cx="16143199" cy="1249709"/>
            <a:chOff x="0" y="0"/>
            <a:chExt cx="21524265" cy="1666278"/>
          </a:xfrm>
        </p:grpSpPr>
        <p:sp>
          <p:nvSpPr>
            <p:cNvPr id="6" name="Freeform 6"/>
            <p:cNvSpPr/>
            <p:nvPr/>
          </p:nvSpPr>
          <p:spPr>
            <a:xfrm>
              <a:off x="0" y="0"/>
              <a:ext cx="21524340" cy="1666367"/>
            </a:xfrm>
            <a:custGeom>
              <a:avLst/>
              <a:gdLst/>
              <a:ahLst/>
              <a:cxnLst/>
              <a:rect l="l" t="t" r="r" b="b"/>
              <a:pathLst>
                <a:path w="21524340" h="1666367">
                  <a:moveTo>
                    <a:pt x="0" y="277749"/>
                  </a:moveTo>
                  <a:cubicBezTo>
                    <a:pt x="0" y="124333"/>
                    <a:pt x="124333" y="0"/>
                    <a:pt x="277749" y="0"/>
                  </a:cubicBezTo>
                  <a:lnTo>
                    <a:pt x="21246592" y="0"/>
                  </a:lnTo>
                  <a:cubicBezTo>
                    <a:pt x="21400007" y="0"/>
                    <a:pt x="21524340" y="124333"/>
                    <a:pt x="21524340" y="277749"/>
                  </a:cubicBezTo>
                  <a:lnTo>
                    <a:pt x="21524340" y="1388618"/>
                  </a:lnTo>
                  <a:cubicBezTo>
                    <a:pt x="21524340" y="1542034"/>
                    <a:pt x="21400007" y="1666367"/>
                    <a:pt x="21246592" y="1666367"/>
                  </a:cubicBezTo>
                  <a:lnTo>
                    <a:pt x="277749" y="1666367"/>
                  </a:lnTo>
                  <a:cubicBezTo>
                    <a:pt x="124333" y="1666240"/>
                    <a:pt x="0" y="1541907"/>
                    <a:pt x="0" y="1388491"/>
                  </a:cubicBezTo>
                  <a:close/>
                </a:path>
              </a:pathLst>
            </a:custGeom>
            <a:solidFill>
              <a:srgbClr val="1E222D"/>
            </a:solidFill>
            <a:ln w="14299" cap="sq">
              <a:solidFill>
                <a:srgbClr val="272C3A"/>
              </a:solidFill>
              <a:prstDash val="solid"/>
              <a:miter/>
            </a:ln>
          </p:spPr>
          <p:txBody>
            <a:bodyPr/>
            <a:lstStyle/>
            <a:p>
              <a:endParaRPr lang="en-IN"/>
            </a:p>
          </p:txBody>
        </p:sp>
      </p:grpSp>
      <p:sp>
        <p:nvSpPr>
          <p:cNvPr id="7" name="Freeform 7"/>
          <p:cNvSpPr/>
          <p:nvPr/>
        </p:nvSpPr>
        <p:spPr>
          <a:xfrm>
            <a:off x="1201726" y="3439217"/>
            <a:ext cx="7611010" cy="2181204"/>
          </a:xfrm>
          <a:custGeom>
            <a:avLst/>
            <a:gdLst/>
            <a:ahLst/>
            <a:cxnLst/>
            <a:rect l="l" t="t" r="r" b="b"/>
            <a:pathLst>
              <a:path w="7611010" h="2181204">
                <a:moveTo>
                  <a:pt x="0" y="0"/>
                </a:moveTo>
                <a:lnTo>
                  <a:pt x="7611009" y="0"/>
                </a:lnTo>
                <a:lnTo>
                  <a:pt x="7611009" y="2181204"/>
                </a:lnTo>
                <a:lnTo>
                  <a:pt x="0" y="2181204"/>
                </a:lnTo>
                <a:lnTo>
                  <a:pt x="0" y="0"/>
                </a:lnTo>
                <a:close/>
              </a:path>
            </a:pathLst>
          </a:custGeom>
          <a:blipFill>
            <a:blip r:embed="rId2"/>
            <a:stretch>
              <a:fillRect/>
            </a:stretch>
          </a:blipFill>
        </p:spPr>
        <p:txBody>
          <a:bodyPr/>
          <a:lstStyle/>
          <a:p>
            <a:endParaRPr/>
          </a:p>
        </p:txBody>
      </p:sp>
      <p:sp>
        <p:nvSpPr>
          <p:cNvPr id="8" name="TextBox 8"/>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19. LevelData &amp; Data Flow</a:t>
            </a:r>
          </a:p>
        </p:txBody>
      </p:sp>
      <p:sp>
        <p:nvSpPr>
          <p:cNvPr id="9" name="TextBox 9"/>
          <p:cNvSpPr txBox="1"/>
          <p:nvPr/>
        </p:nvSpPr>
        <p:spPr>
          <a:xfrm>
            <a:off x="9384430" y="2173357"/>
            <a:ext cx="7311914" cy="457629"/>
          </a:xfrm>
          <a:prstGeom prst="rect">
            <a:avLst/>
          </a:prstGeom>
        </p:spPr>
        <p:txBody>
          <a:bodyPr lIns="0" tIns="0" rIns="0" bIns="0" rtlCol="0" anchor="t">
            <a:spAutoFit/>
          </a:bodyPr>
          <a:lstStyle/>
          <a:p>
            <a:pPr algn="l">
              <a:lnSpc>
                <a:spcPts val="2702"/>
              </a:lnSpc>
            </a:pPr>
            <a:r>
              <a:rPr lang="en-US" sz="2251" b="1">
                <a:solidFill>
                  <a:srgbClr val="66CD96"/>
                </a:solidFill>
                <a:latin typeface="Aptos Bold"/>
                <a:ea typeface="Aptos Bold"/>
                <a:cs typeface="Aptos Bold"/>
                <a:sym typeface="Aptos Bold"/>
              </a:rPr>
              <a:t>Data path</a:t>
            </a:r>
          </a:p>
        </p:txBody>
      </p:sp>
      <p:sp>
        <p:nvSpPr>
          <p:cNvPr id="10" name="TextBox 10"/>
          <p:cNvSpPr txBox="1"/>
          <p:nvPr/>
        </p:nvSpPr>
        <p:spPr>
          <a:xfrm>
            <a:off x="9384430" y="2678611"/>
            <a:ext cx="7311914" cy="4286250"/>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LevelData asset</a:t>
            </a:r>
          </a:p>
          <a:p>
            <a:pPr algn="l">
              <a:lnSpc>
                <a:spcPts val="2251"/>
              </a:lnSpc>
            </a:pPr>
            <a:r>
              <a:rPr lang="en-US" sz="1876">
                <a:solidFill>
                  <a:srgbClr val="EEF1F7"/>
                </a:solidFill>
                <a:latin typeface="Aptos"/>
                <a:ea typeface="Aptos"/>
                <a:cs typeface="Aptos"/>
                <a:sym typeface="Aptos"/>
              </a:rPr>
              <a:t>↓</a:t>
            </a:r>
          </a:p>
          <a:p>
            <a:pPr algn="l">
              <a:lnSpc>
                <a:spcPts val="2251"/>
              </a:lnSpc>
            </a:pPr>
            <a:r>
              <a:rPr lang="en-US" sz="1876">
                <a:solidFill>
                  <a:srgbClr val="EEF1F7"/>
                </a:solidFill>
                <a:latin typeface="Aptos"/>
                <a:ea typeface="Aptos"/>
                <a:cs typeface="Aptos"/>
                <a:sym typeface="Aptos"/>
              </a:rPr>
              <a:t>LevelService.GetLevel()</a:t>
            </a:r>
          </a:p>
          <a:p>
            <a:pPr algn="l">
              <a:lnSpc>
                <a:spcPts val="2251"/>
              </a:lnSpc>
            </a:pPr>
            <a:r>
              <a:rPr lang="en-US" sz="1876">
                <a:solidFill>
                  <a:srgbClr val="EEF1F7"/>
                </a:solidFill>
                <a:latin typeface="Aptos"/>
                <a:ea typeface="Aptos"/>
                <a:cs typeface="Aptos"/>
                <a:sym typeface="Aptos"/>
              </a:rPr>
              <a:t>↓</a:t>
            </a:r>
          </a:p>
          <a:p>
            <a:pPr algn="l">
              <a:lnSpc>
                <a:spcPts val="2251"/>
              </a:lnSpc>
            </a:pPr>
            <a:r>
              <a:rPr lang="en-US" sz="1876">
                <a:solidFill>
                  <a:srgbClr val="EEF1F7"/>
                </a:solidFill>
                <a:latin typeface="Aptos"/>
                <a:ea typeface="Aptos"/>
                <a:cs typeface="Aptos"/>
                <a:sym typeface="Aptos"/>
              </a:rPr>
              <a:t>MainMenuScreen.OnPlayClicked()</a:t>
            </a:r>
          </a:p>
          <a:p>
            <a:pPr algn="l">
              <a:lnSpc>
                <a:spcPts val="2251"/>
              </a:lnSpc>
            </a:pPr>
            <a:r>
              <a:rPr lang="en-US" sz="1876">
                <a:solidFill>
                  <a:srgbClr val="EEF1F7"/>
                </a:solidFill>
                <a:latin typeface="Aptos"/>
                <a:ea typeface="Aptos"/>
                <a:cs typeface="Aptos"/>
                <a:sym typeface="Aptos"/>
              </a:rPr>
              <a:t>↓</a:t>
            </a:r>
          </a:p>
          <a:p>
            <a:pPr algn="l">
              <a:lnSpc>
                <a:spcPts val="2251"/>
              </a:lnSpc>
            </a:pPr>
            <a:r>
              <a:rPr lang="en-US" sz="1876">
                <a:solidFill>
                  <a:srgbClr val="EEF1F7"/>
                </a:solidFill>
                <a:latin typeface="Aptos"/>
                <a:ea typeface="Aptos"/>
                <a:cs typeface="Aptos"/>
                <a:sym typeface="Aptos"/>
              </a:rPr>
              <a:t>GameFlowController.StartLevelAsync()</a:t>
            </a:r>
          </a:p>
          <a:p>
            <a:pPr algn="l">
              <a:lnSpc>
                <a:spcPts val="2251"/>
              </a:lnSpc>
            </a:pPr>
            <a:r>
              <a:rPr lang="en-US" sz="1876">
                <a:solidFill>
                  <a:srgbClr val="EEF1F7"/>
                </a:solidFill>
                <a:latin typeface="Aptos"/>
                <a:ea typeface="Aptos"/>
                <a:cs typeface="Aptos"/>
                <a:sym typeface="Aptos"/>
              </a:rPr>
              <a:t>↓</a:t>
            </a:r>
          </a:p>
          <a:p>
            <a:pPr algn="l">
              <a:lnSpc>
                <a:spcPts val="2251"/>
              </a:lnSpc>
            </a:pPr>
            <a:r>
              <a:rPr lang="en-US" sz="1876">
                <a:solidFill>
                  <a:srgbClr val="EEF1F7"/>
                </a:solidFill>
                <a:latin typeface="Aptos"/>
                <a:ea typeface="Aptos"/>
                <a:cs typeface="Aptos"/>
                <a:sym typeface="Aptos"/>
              </a:rPr>
              <a:t>LevelContext</a:t>
            </a:r>
          </a:p>
          <a:p>
            <a:pPr algn="l">
              <a:lnSpc>
                <a:spcPts val="2251"/>
              </a:lnSpc>
            </a:pPr>
            <a:r>
              <a:rPr lang="en-US" sz="1876">
                <a:solidFill>
                  <a:srgbClr val="EEF1F7"/>
                </a:solidFill>
                <a:latin typeface="Aptos"/>
                <a:ea typeface="Aptos"/>
                <a:cs typeface="Aptos"/>
                <a:sym typeface="Aptos"/>
              </a:rPr>
              <a:t>↓</a:t>
            </a:r>
          </a:p>
          <a:p>
            <a:pPr algn="l">
              <a:lnSpc>
                <a:spcPts val="2251"/>
              </a:lnSpc>
            </a:pPr>
            <a:r>
              <a:rPr lang="en-US" sz="1876">
                <a:solidFill>
                  <a:srgbClr val="EEF1F7"/>
                </a:solidFill>
                <a:latin typeface="Aptos"/>
                <a:ea typeface="Aptos"/>
                <a:cs typeface="Aptos"/>
                <a:sym typeface="Aptos"/>
              </a:rPr>
              <a:t>GameplayState</a:t>
            </a:r>
          </a:p>
          <a:p>
            <a:pPr algn="l">
              <a:lnSpc>
                <a:spcPts val="2251"/>
              </a:lnSpc>
            </a:pPr>
            <a:r>
              <a:rPr lang="en-US" sz="1876">
                <a:solidFill>
                  <a:srgbClr val="EEF1F7"/>
                </a:solidFill>
                <a:latin typeface="Aptos"/>
                <a:ea typeface="Aptos"/>
                <a:cs typeface="Aptos"/>
                <a:sym typeface="Aptos"/>
              </a:rPr>
              <a:t>↓</a:t>
            </a:r>
          </a:p>
          <a:p>
            <a:pPr algn="l">
              <a:lnSpc>
                <a:spcPts val="2251"/>
              </a:lnSpc>
            </a:pPr>
            <a:r>
              <a:rPr lang="en-US" sz="1876">
                <a:solidFill>
                  <a:srgbClr val="EEF1F7"/>
                </a:solidFill>
                <a:latin typeface="Aptos"/>
                <a:ea typeface="Aptos"/>
                <a:cs typeface="Aptos"/>
                <a:sym typeface="Aptos"/>
              </a:rPr>
              <a:t>GameplayScreen.Initialize()</a:t>
            </a:r>
          </a:p>
          <a:p>
            <a:pPr algn="l">
              <a:lnSpc>
                <a:spcPts val="2251"/>
              </a:lnSpc>
            </a:pPr>
            <a:r>
              <a:rPr lang="en-US" sz="1876">
                <a:solidFill>
                  <a:srgbClr val="EEF1F7"/>
                </a:solidFill>
                <a:latin typeface="Aptos"/>
                <a:ea typeface="Aptos"/>
                <a:cs typeface="Aptos"/>
                <a:sym typeface="Aptos"/>
              </a:rPr>
              <a:t>↓</a:t>
            </a:r>
          </a:p>
          <a:p>
            <a:pPr algn="l">
              <a:lnSpc>
                <a:spcPts val="2251"/>
              </a:lnSpc>
            </a:pPr>
            <a:r>
              <a:rPr lang="en-US" sz="1876">
                <a:solidFill>
                  <a:srgbClr val="EEF1F7"/>
                </a:solidFill>
                <a:latin typeface="Aptos"/>
                <a:ea typeface="Aptos"/>
                <a:cs typeface="Aptos"/>
                <a:sym typeface="Aptos"/>
              </a:rPr>
              <a:t>PuzzleGameManager.Initialize()</a:t>
            </a:r>
          </a:p>
        </p:txBody>
      </p:sp>
      <p:sp>
        <p:nvSpPr>
          <p:cNvPr id="11" name="TextBox 11"/>
          <p:cNvSpPr txBox="1"/>
          <p:nvPr/>
        </p:nvSpPr>
        <p:spPr>
          <a:xfrm>
            <a:off x="1422930" y="7801318"/>
            <a:ext cx="15342041" cy="457629"/>
          </a:xfrm>
          <a:prstGeom prst="rect">
            <a:avLst/>
          </a:prstGeom>
        </p:spPr>
        <p:txBody>
          <a:bodyPr lIns="0" tIns="0" rIns="0" bIns="0" rtlCol="0" anchor="t">
            <a:spAutoFit/>
          </a:bodyPr>
          <a:lstStyle/>
          <a:p>
            <a:pPr algn="l">
              <a:lnSpc>
                <a:spcPts val="2702"/>
              </a:lnSpc>
            </a:pPr>
            <a:r>
              <a:rPr lang="en-US" sz="2251" b="1">
                <a:solidFill>
                  <a:srgbClr val="5CAEFF"/>
                </a:solidFill>
                <a:latin typeface="Aptos Bold"/>
                <a:ea typeface="Aptos Bold"/>
                <a:cs typeface="Aptos Bold"/>
                <a:sym typeface="Aptos Bold"/>
              </a:rPr>
              <a:t>Level fields</a:t>
            </a:r>
          </a:p>
        </p:txBody>
      </p:sp>
      <p:sp>
        <p:nvSpPr>
          <p:cNvPr id="12" name="TextBox 12"/>
          <p:cNvSpPr txBox="1"/>
          <p:nvPr/>
        </p:nvSpPr>
        <p:spPr>
          <a:xfrm>
            <a:off x="1422930" y="8236034"/>
            <a:ext cx="15342041" cy="45825"/>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LevelNumber • Rows • Columns • EmptySpaces • MoveLimit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grpSp>
        <p:nvGrpSpPr>
          <p:cNvPr id="2" name="Group 2"/>
          <p:cNvGrpSpPr/>
          <p:nvPr/>
        </p:nvGrpSpPr>
        <p:grpSpPr>
          <a:xfrm>
            <a:off x="1022356" y="1983229"/>
            <a:ext cx="7838532" cy="5093189"/>
            <a:chOff x="0" y="0"/>
            <a:chExt cx="10451376" cy="6790919"/>
          </a:xfrm>
        </p:grpSpPr>
        <p:sp>
          <p:nvSpPr>
            <p:cNvPr id="3" name="Freeform 3"/>
            <p:cNvSpPr/>
            <p:nvPr/>
          </p:nvSpPr>
          <p:spPr>
            <a:xfrm>
              <a:off x="0" y="0"/>
              <a:ext cx="10451338" cy="6790944"/>
            </a:xfrm>
            <a:custGeom>
              <a:avLst/>
              <a:gdLst/>
              <a:ahLst/>
              <a:cxnLst/>
              <a:rect l="l" t="t" r="r" b="b"/>
              <a:pathLst>
                <a:path w="10451338" h="6790944">
                  <a:moveTo>
                    <a:pt x="0" y="1131824"/>
                  </a:moveTo>
                  <a:cubicBezTo>
                    <a:pt x="0" y="506730"/>
                    <a:pt x="506730" y="0"/>
                    <a:pt x="1131824" y="0"/>
                  </a:cubicBezTo>
                  <a:lnTo>
                    <a:pt x="9319514" y="0"/>
                  </a:lnTo>
                  <a:cubicBezTo>
                    <a:pt x="9944608" y="0"/>
                    <a:pt x="10451338" y="506730"/>
                    <a:pt x="10451338" y="1131824"/>
                  </a:cubicBezTo>
                  <a:lnTo>
                    <a:pt x="10451338" y="5659120"/>
                  </a:lnTo>
                  <a:cubicBezTo>
                    <a:pt x="10451338" y="6284214"/>
                    <a:pt x="9944608" y="6790944"/>
                    <a:pt x="9319514" y="6790944"/>
                  </a:cubicBezTo>
                  <a:lnTo>
                    <a:pt x="1131824" y="6790944"/>
                  </a:lnTo>
                  <a:cubicBezTo>
                    <a:pt x="506730" y="6790944"/>
                    <a:pt x="0" y="6284214"/>
                    <a:pt x="0" y="5659120"/>
                  </a:cubicBezTo>
                  <a:close/>
                </a:path>
              </a:pathLst>
            </a:custGeom>
            <a:solidFill>
              <a:srgbClr val="1E222D"/>
            </a:solidFill>
            <a:ln w="14299" cap="sq">
              <a:solidFill>
                <a:srgbClr val="272C3A"/>
              </a:solidFill>
              <a:prstDash val="solid"/>
              <a:miter/>
            </a:ln>
          </p:spPr>
          <p:txBody>
            <a:bodyPr/>
            <a:lstStyle/>
            <a:p>
              <a:endParaRPr lang="en-IN"/>
            </a:p>
          </p:txBody>
        </p:sp>
      </p:grpSp>
      <p:grpSp>
        <p:nvGrpSpPr>
          <p:cNvPr id="4" name="Group 4"/>
          <p:cNvGrpSpPr/>
          <p:nvPr/>
        </p:nvGrpSpPr>
        <p:grpSpPr>
          <a:xfrm>
            <a:off x="1022356" y="7473915"/>
            <a:ext cx="16143199" cy="1249709"/>
            <a:chOff x="0" y="0"/>
            <a:chExt cx="21524265" cy="1666278"/>
          </a:xfrm>
        </p:grpSpPr>
        <p:sp>
          <p:nvSpPr>
            <p:cNvPr id="5" name="Freeform 5"/>
            <p:cNvSpPr/>
            <p:nvPr/>
          </p:nvSpPr>
          <p:spPr>
            <a:xfrm>
              <a:off x="0" y="0"/>
              <a:ext cx="21524340" cy="1666367"/>
            </a:xfrm>
            <a:custGeom>
              <a:avLst/>
              <a:gdLst/>
              <a:ahLst/>
              <a:cxnLst/>
              <a:rect l="l" t="t" r="r" b="b"/>
              <a:pathLst>
                <a:path w="21524340" h="1666367">
                  <a:moveTo>
                    <a:pt x="0" y="277749"/>
                  </a:moveTo>
                  <a:cubicBezTo>
                    <a:pt x="0" y="124333"/>
                    <a:pt x="124333" y="0"/>
                    <a:pt x="277749" y="0"/>
                  </a:cubicBezTo>
                  <a:lnTo>
                    <a:pt x="21246592" y="0"/>
                  </a:lnTo>
                  <a:cubicBezTo>
                    <a:pt x="21400007" y="0"/>
                    <a:pt x="21524340" y="124333"/>
                    <a:pt x="21524340" y="277749"/>
                  </a:cubicBezTo>
                  <a:lnTo>
                    <a:pt x="21524340" y="1388618"/>
                  </a:lnTo>
                  <a:cubicBezTo>
                    <a:pt x="21524340" y="1542034"/>
                    <a:pt x="21400007" y="1666367"/>
                    <a:pt x="21246592" y="1666367"/>
                  </a:cubicBezTo>
                  <a:lnTo>
                    <a:pt x="277749" y="1666367"/>
                  </a:lnTo>
                  <a:cubicBezTo>
                    <a:pt x="124333" y="1666240"/>
                    <a:pt x="0" y="1541907"/>
                    <a:pt x="0" y="1388491"/>
                  </a:cubicBezTo>
                  <a:close/>
                </a:path>
              </a:pathLst>
            </a:custGeom>
            <a:solidFill>
              <a:srgbClr val="1E222D"/>
            </a:solidFill>
            <a:ln w="14299" cap="sq">
              <a:solidFill>
                <a:srgbClr val="272C3A"/>
              </a:solidFill>
              <a:prstDash val="solid"/>
              <a:miter/>
            </a:ln>
          </p:spPr>
          <p:txBody>
            <a:bodyPr/>
            <a:lstStyle/>
            <a:p>
              <a:endParaRPr lang="en-IN"/>
            </a:p>
          </p:txBody>
        </p:sp>
      </p:grpSp>
      <p:sp>
        <p:nvSpPr>
          <p:cNvPr id="6" name="Freeform 6"/>
          <p:cNvSpPr/>
          <p:nvPr/>
        </p:nvSpPr>
        <p:spPr>
          <a:xfrm>
            <a:off x="9304038" y="3112837"/>
            <a:ext cx="8037463" cy="2263576"/>
          </a:xfrm>
          <a:custGeom>
            <a:avLst/>
            <a:gdLst/>
            <a:ahLst/>
            <a:cxnLst/>
            <a:rect l="l" t="t" r="r" b="b"/>
            <a:pathLst>
              <a:path w="8037463" h="2263576">
                <a:moveTo>
                  <a:pt x="0" y="0"/>
                </a:moveTo>
                <a:lnTo>
                  <a:pt x="8037463" y="0"/>
                </a:lnTo>
                <a:lnTo>
                  <a:pt x="8037463" y="2263576"/>
                </a:lnTo>
                <a:lnTo>
                  <a:pt x="0" y="2263576"/>
                </a:lnTo>
                <a:lnTo>
                  <a:pt x="0" y="0"/>
                </a:lnTo>
                <a:close/>
              </a:path>
            </a:pathLst>
          </a:custGeom>
          <a:blipFill>
            <a:blip r:embed="rId2"/>
            <a:stretch>
              <a:fillRect/>
            </a:stretch>
          </a:blipFill>
        </p:spPr>
        <p:txBody>
          <a:bodyPr/>
          <a:lstStyle/>
          <a:p>
            <a:endParaRPr/>
          </a:p>
        </p:txBody>
      </p:sp>
      <p:sp>
        <p:nvSpPr>
          <p:cNvPr id="7" name="TextBox 7"/>
          <p:cNvSpPr txBox="1"/>
          <p:nvPr/>
        </p:nvSpPr>
        <p:spPr>
          <a:xfrm>
            <a:off x="983675" y="526151"/>
            <a:ext cx="16289188" cy="869432"/>
          </a:xfrm>
          <a:prstGeom prst="rect">
            <a:avLst/>
          </a:prstGeom>
        </p:spPr>
        <p:txBody>
          <a:bodyPr lIns="0" tIns="0" rIns="0" bIns="0" rtlCol="0" anchor="t">
            <a:spAutoFit/>
          </a:bodyPr>
          <a:lstStyle/>
          <a:p>
            <a:pPr algn="l">
              <a:lnSpc>
                <a:spcPts val="5043"/>
              </a:lnSpc>
            </a:pPr>
            <a:r>
              <a:rPr lang="en-US" sz="4203" b="1">
                <a:solidFill>
                  <a:srgbClr val="EEF1F7"/>
                </a:solidFill>
                <a:latin typeface="Aptos Bold"/>
                <a:ea typeface="Aptos Bold"/>
                <a:cs typeface="Aptos Bold"/>
                <a:sym typeface="Aptos Bold"/>
              </a:rPr>
              <a:t>20. Move Counter Mathematics</a:t>
            </a:r>
          </a:p>
        </p:txBody>
      </p:sp>
      <p:sp>
        <p:nvSpPr>
          <p:cNvPr id="8" name="TextBox 8"/>
          <p:cNvSpPr txBox="1"/>
          <p:nvPr/>
        </p:nvSpPr>
        <p:spPr>
          <a:xfrm>
            <a:off x="1011126" y="1436322"/>
            <a:ext cx="16151924" cy="323850"/>
          </a:xfrm>
          <a:prstGeom prst="rect">
            <a:avLst/>
          </a:prstGeom>
        </p:spPr>
        <p:txBody>
          <a:bodyPr lIns="0" tIns="0" rIns="0" bIns="0" rtlCol="0" anchor="t">
            <a:spAutoFit/>
          </a:bodyPr>
          <a:lstStyle/>
          <a:p>
            <a:pPr algn="l">
              <a:lnSpc>
                <a:spcPts val="2520"/>
              </a:lnSpc>
            </a:pPr>
            <a:r>
              <a:rPr lang="en-US" sz="2100">
                <a:solidFill>
                  <a:srgbClr val="A7AFBF"/>
                </a:solidFill>
                <a:latin typeface="Aptos"/>
                <a:ea typeface="Aptos"/>
                <a:cs typeface="Aptos"/>
                <a:sym typeface="Aptos"/>
              </a:rPr>
              <a:t>Simple progress calculation used by GameplayScreen</a:t>
            </a:r>
          </a:p>
        </p:txBody>
      </p:sp>
      <p:sp>
        <p:nvSpPr>
          <p:cNvPr id="9" name="TextBox 9"/>
          <p:cNvSpPr txBox="1"/>
          <p:nvPr/>
        </p:nvSpPr>
        <p:spPr>
          <a:xfrm>
            <a:off x="1422930" y="2241994"/>
            <a:ext cx="7037375" cy="457629"/>
          </a:xfrm>
          <a:prstGeom prst="rect">
            <a:avLst/>
          </a:prstGeom>
        </p:spPr>
        <p:txBody>
          <a:bodyPr lIns="0" tIns="0" rIns="0" bIns="0" rtlCol="0" anchor="t">
            <a:spAutoFit/>
          </a:bodyPr>
          <a:lstStyle/>
          <a:p>
            <a:pPr algn="l">
              <a:lnSpc>
                <a:spcPts val="2702"/>
              </a:lnSpc>
            </a:pPr>
            <a:r>
              <a:rPr lang="en-US" sz="2251" b="1">
                <a:solidFill>
                  <a:srgbClr val="66CD96"/>
                </a:solidFill>
                <a:latin typeface="Aptos Bold"/>
                <a:ea typeface="Aptos Bold"/>
                <a:cs typeface="Aptos Bold"/>
                <a:sym typeface="Aptos Bold"/>
              </a:rPr>
              <a:t>Formula</a:t>
            </a:r>
          </a:p>
        </p:txBody>
      </p:sp>
      <p:sp>
        <p:nvSpPr>
          <p:cNvPr id="10" name="TextBox 10"/>
          <p:cNvSpPr txBox="1"/>
          <p:nvPr/>
        </p:nvSpPr>
        <p:spPr>
          <a:xfrm>
            <a:off x="1422930" y="2928328"/>
            <a:ext cx="7037375" cy="3889315"/>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progress = 1 − remainingMoves / totalMoves</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At the start:</a:t>
            </a:r>
          </a:p>
          <a:p>
            <a:pPr algn="l">
              <a:lnSpc>
                <a:spcPts val="2251"/>
              </a:lnSpc>
            </a:pPr>
            <a:r>
              <a:rPr lang="en-US" sz="1876">
                <a:solidFill>
                  <a:srgbClr val="EEF1F7"/>
                </a:solidFill>
                <a:latin typeface="Aptos"/>
                <a:ea typeface="Aptos"/>
                <a:cs typeface="Aptos"/>
                <a:sym typeface="Aptos"/>
              </a:rPr>
              <a:t>remaining = total → progress = 0</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At the end:</a:t>
            </a:r>
          </a:p>
          <a:p>
            <a:pPr algn="l">
              <a:lnSpc>
                <a:spcPts val="2251"/>
              </a:lnSpc>
            </a:pPr>
            <a:r>
              <a:rPr lang="en-US" sz="1876">
                <a:solidFill>
                  <a:srgbClr val="EEF1F7"/>
                </a:solidFill>
                <a:latin typeface="Aptos"/>
                <a:ea typeface="Aptos"/>
                <a:cs typeface="Aptos"/>
                <a:sym typeface="Aptos"/>
              </a:rPr>
              <a:t>remaining = 0 → progress = 1</a:t>
            </a:r>
          </a:p>
          <a:p>
            <a:pPr algn="l">
              <a:lnSpc>
                <a:spcPts val="2251"/>
              </a:lnSpc>
            </a:pPr>
            <a:endParaRPr lang="en-US" sz="1876">
              <a:solidFill>
                <a:srgbClr val="EEF1F7"/>
              </a:solidFill>
              <a:latin typeface="Aptos"/>
              <a:ea typeface="Aptos"/>
              <a:cs typeface="Aptos"/>
              <a:sym typeface="Aptos"/>
            </a:endParaRPr>
          </a:p>
          <a:p>
            <a:pPr algn="l">
              <a:lnSpc>
                <a:spcPts val="2251"/>
              </a:lnSpc>
            </a:pPr>
            <a:r>
              <a:rPr lang="en-US" sz="1876">
                <a:solidFill>
                  <a:srgbClr val="EEF1F7"/>
                </a:solidFill>
                <a:latin typeface="Aptos"/>
                <a:ea typeface="Aptos"/>
                <a:cs typeface="Aptos"/>
                <a:sym typeface="Aptos"/>
              </a:rPr>
              <a:t>That value is then mapped from green hue toward red hue.</a:t>
            </a:r>
          </a:p>
        </p:txBody>
      </p:sp>
      <p:sp>
        <p:nvSpPr>
          <p:cNvPr id="11" name="TextBox 11"/>
          <p:cNvSpPr txBox="1"/>
          <p:nvPr/>
        </p:nvSpPr>
        <p:spPr>
          <a:xfrm>
            <a:off x="1422930" y="7732681"/>
            <a:ext cx="15342041" cy="457629"/>
          </a:xfrm>
          <a:prstGeom prst="rect">
            <a:avLst/>
          </a:prstGeom>
        </p:spPr>
        <p:txBody>
          <a:bodyPr lIns="0" tIns="0" rIns="0" bIns="0" rtlCol="0" anchor="t">
            <a:spAutoFit/>
          </a:bodyPr>
          <a:lstStyle/>
          <a:p>
            <a:pPr algn="l">
              <a:lnSpc>
                <a:spcPts val="2702"/>
              </a:lnSpc>
            </a:pPr>
            <a:r>
              <a:rPr lang="en-US" sz="2251" b="1">
                <a:solidFill>
                  <a:srgbClr val="5CAEFF"/>
                </a:solidFill>
                <a:latin typeface="Aptos Bold"/>
                <a:ea typeface="Aptos Bold"/>
                <a:cs typeface="Aptos Bold"/>
                <a:sym typeface="Aptos Bold"/>
              </a:rPr>
              <a:t>Why normalize?</a:t>
            </a:r>
          </a:p>
        </p:txBody>
      </p:sp>
      <p:sp>
        <p:nvSpPr>
          <p:cNvPr id="12" name="TextBox 12"/>
          <p:cNvSpPr txBox="1"/>
          <p:nvPr/>
        </p:nvSpPr>
        <p:spPr>
          <a:xfrm>
            <a:off x="1416067" y="8167397"/>
            <a:ext cx="15342041" cy="45825"/>
          </a:xfrm>
          <a:prstGeom prst="rect">
            <a:avLst/>
          </a:prstGeom>
        </p:spPr>
        <p:txBody>
          <a:bodyPr lIns="0" tIns="0" rIns="0" bIns="0" rtlCol="0" anchor="t">
            <a:spAutoFit/>
          </a:bodyPr>
          <a:lstStyle/>
          <a:p>
            <a:pPr algn="l">
              <a:lnSpc>
                <a:spcPts val="2251"/>
              </a:lnSpc>
            </a:pPr>
            <a:r>
              <a:rPr lang="en-US" sz="1876">
                <a:solidFill>
                  <a:srgbClr val="EEF1F7"/>
                </a:solidFill>
                <a:latin typeface="Aptos"/>
                <a:ea typeface="Aptos"/>
                <a:cs typeface="Aptos"/>
                <a:sym typeface="Aptos"/>
              </a:rPr>
              <a:t>A normalized 0→1 value works for any move limit, whether a level has 5 moves or 50.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sp>
        <p:nvSpPr>
          <p:cNvPr id="2" name="TextBox 2"/>
          <p:cNvSpPr txBox="1"/>
          <p:nvPr/>
        </p:nvSpPr>
        <p:spPr>
          <a:xfrm>
            <a:off x="983675" y="526151"/>
            <a:ext cx="16289188" cy="589264"/>
          </a:xfrm>
          <a:prstGeom prst="rect">
            <a:avLst/>
          </a:prstGeom>
        </p:spPr>
        <p:txBody>
          <a:bodyPr lIns="0" tIns="0" rIns="0" bIns="0" rtlCol="0" anchor="t">
            <a:spAutoFit/>
          </a:bodyPr>
          <a:lstStyle/>
          <a:p>
            <a:pPr algn="l">
              <a:lnSpc>
                <a:spcPts val="5043"/>
              </a:lnSpc>
            </a:pPr>
            <a:r>
              <a:rPr sz="3200" b="1" dirty="0">
                <a:solidFill>
                  <a:schemeClr val="bg1"/>
                </a:solidFill>
              </a:rPr>
              <a:t>21. Engineering Trade-offs</a:t>
            </a:r>
          </a:p>
        </p:txBody>
      </p:sp>
      <p:sp>
        <p:nvSpPr>
          <p:cNvPr id="3" name="TextBox 3"/>
          <p:cNvSpPr txBox="1"/>
          <p:nvPr/>
        </p:nvSpPr>
        <p:spPr>
          <a:xfrm>
            <a:off x="1011126" y="1436322"/>
            <a:ext cx="16151924" cy="323850"/>
          </a:xfrm>
          <a:prstGeom prst="rect">
            <a:avLst/>
          </a:prstGeom>
        </p:spPr>
        <p:txBody>
          <a:bodyPr lIns="0" tIns="0" rIns="0" bIns="0" rtlCol="0" anchor="t">
            <a:spAutoFit/>
          </a:bodyPr>
          <a:lstStyle/>
          <a:p>
            <a:pPr algn="l">
              <a:lnSpc>
                <a:spcPts val="2520"/>
              </a:lnSpc>
            </a:pPr>
            <a:r>
              <a:rPr lang="en-US" sz="2100">
                <a:solidFill>
                  <a:srgbClr val="A7AFBF"/>
                </a:solidFill>
                <a:latin typeface="Aptos"/>
                <a:ea typeface="Aptos"/>
                <a:cs typeface="Aptos"/>
                <a:sym typeface="Aptos"/>
              </a:rPr>
              <a:t>What the architecture optimizes for</a:t>
            </a:r>
          </a:p>
        </p:txBody>
      </p:sp>
      <p:grpSp>
        <p:nvGrpSpPr>
          <p:cNvPr id="4" name="Group 4"/>
          <p:cNvGrpSpPr/>
          <p:nvPr/>
        </p:nvGrpSpPr>
        <p:grpSpPr>
          <a:xfrm>
            <a:off x="1022356" y="1914592"/>
            <a:ext cx="5093189" cy="6054061"/>
            <a:chOff x="0" y="0"/>
            <a:chExt cx="6790919" cy="8072082"/>
          </a:xfrm>
        </p:grpSpPr>
        <p:sp>
          <p:nvSpPr>
            <p:cNvPr id="5" name="Freeform 5"/>
            <p:cNvSpPr/>
            <p:nvPr/>
          </p:nvSpPr>
          <p:spPr>
            <a:xfrm>
              <a:off x="0" y="0"/>
              <a:ext cx="6790944" cy="8072120"/>
            </a:xfrm>
            <a:custGeom>
              <a:avLst/>
              <a:gdLst/>
              <a:ahLst/>
              <a:cxnLst/>
              <a:rect l="l" t="t" r="r" b="b"/>
              <a:pathLst>
                <a:path w="6790944" h="8072120">
                  <a:moveTo>
                    <a:pt x="0" y="1131824"/>
                  </a:moveTo>
                  <a:cubicBezTo>
                    <a:pt x="0" y="506730"/>
                    <a:pt x="506730" y="0"/>
                    <a:pt x="1131824" y="0"/>
                  </a:cubicBezTo>
                  <a:lnTo>
                    <a:pt x="5659120" y="0"/>
                  </a:lnTo>
                  <a:cubicBezTo>
                    <a:pt x="6284214" y="0"/>
                    <a:pt x="6790944" y="506730"/>
                    <a:pt x="6790944" y="1131824"/>
                  </a:cubicBezTo>
                  <a:lnTo>
                    <a:pt x="6790944" y="6940296"/>
                  </a:lnTo>
                  <a:cubicBezTo>
                    <a:pt x="6790944" y="7565390"/>
                    <a:pt x="6284214" y="8072120"/>
                    <a:pt x="5659120" y="8072120"/>
                  </a:cubicBezTo>
                  <a:lnTo>
                    <a:pt x="1131824" y="8072120"/>
                  </a:lnTo>
                  <a:cubicBezTo>
                    <a:pt x="506730" y="8072120"/>
                    <a:pt x="0" y="7565390"/>
                    <a:pt x="0" y="6940296"/>
                  </a:cubicBezTo>
                  <a:close/>
                </a:path>
              </a:pathLst>
            </a:custGeom>
            <a:solidFill>
              <a:srgbClr val="1E222D"/>
            </a:solidFill>
            <a:ln w="14299" cap="sq">
              <a:solidFill>
                <a:srgbClr val="272C3A"/>
              </a:solidFill>
              <a:prstDash val="solid"/>
              <a:miter/>
            </a:ln>
          </p:spPr>
          <p:txBody>
            <a:bodyPr/>
            <a:lstStyle/>
            <a:p>
              <a:endParaRPr lang="en-IN"/>
            </a:p>
          </p:txBody>
        </p:sp>
      </p:grpSp>
      <p:sp>
        <p:nvSpPr>
          <p:cNvPr id="6" name="TextBox 6"/>
          <p:cNvSpPr txBox="1"/>
          <p:nvPr/>
        </p:nvSpPr>
        <p:spPr>
          <a:xfrm>
            <a:off x="1422930" y="2173357"/>
            <a:ext cx="4292032" cy="457629"/>
          </a:xfrm>
          <a:prstGeom prst="rect">
            <a:avLst/>
          </a:prstGeom>
        </p:spPr>
        <p:txBody>
          <a:bodyPr lIns="0" tIns="0" rIns="0" bIns="0" rtlCol="0" anchor="t">
            <a:spAutoFit/>
          </a:bodyPr>
          <a:lstStyle/>
          <a:p>
            <a:pPr algn="l">
              <a:lnSpc>
                <a:spcPts val="2702"/>
              </a:lnSpc>
            </a:pPr>
            <a:r>
              <a:rPr lang="en-US" sz="2251" b="1">
                <a:solidFill>
                  <a:srgbClr val="5CAEFF"/>
                </a:solidFill>
                <a:latin typeface="Aptos Bold"/>
                <a:ea typeface="Aptos Bold"/>
                <a:cs typeface="Aptos Bold"/>
                <a:sym typeface="Aptos Bold"/>
              </a:rPr>
              <a:t>Clarity</a:t>
            </a:r>
          </a:p>
        </p:txBody>
      </p:sp>
      <p:sp>
        <p:nvSpPr>
          <p:cNvPr id="7" name="TextBox 7"/>
          <p:cNvSpPr txBox="1"/>
          <p:nvPr/>
        </p:nvSpPr>
        <p:spPr>
          <a:xfrm>
            <a:off x="1422930" y="2859700"/>
            <a:ext cx="4292032" cy="4286250"/>
          </a:xfrm>
          <a:prstGeom prst="rect">
            <a:avLst/>
          </a:prstGeom>
        </p:spPr>
        <p:txBody>
          <a:bodyPr lIns="0" tIns="0" rIns="0" bIns="0" rtlCol="0" anchor="t">
            <a:spAutoFit/>
          </a:bodyPr>
          <a:lstStyle/>
          <a:p>
            <a:pPr marL="405128" lvl="1" indent="-202564" algn="l">
              <a:lnSpc>
                <a:spcPts val="2251"/>
              </a:lnSpc>
              <a:buFont typeface="Arial"/>
              <a:buChar char="•"/>
            </a:pPr>
            <a:r>
              <a:rPr lang="en-US" sz="1876">
                <a:solidFill>
                  <a:srgbClr val="EEF1F7"/>
                </a:solidFill>
                <a:latin typeface="Aptos"/>
                <a:ea typeface="Aptos"/>
                <a:cs typeface="Aptos"/>
                <a:sym typeface="Aptos"/>
              </a:rPr>
              <a:t>GridModel owns game rules and board state; GridView owns visual representation and animation.</a:t>
            </a:r>
          </a:p>
          <a:p>
            <a:pPr marL="405128" lvl="1" indent="-202564" algn="l">
              <a:lnSpc>
                <a:spcPts val="2251"/>
              </a:lnSpc>
              <a:buFont typeface="Arial"/>
              <a:buChar char="•"/>
            </a:pPr>
            <a:r>
              <a:rPr lang="en-US" sz="1876">
                <a:solidFill>
                  <a:srgbClr val="EEF1F7"/>
                </a:solidFill>
                <a:latin typeface="Aptos"/>
                <a:ea typeface="Aptos"/>
                <a:cs typeface="Aptos"/>
                <a:sym typeface="Aptos"/>
              </a:rPr>
              <a:t>Interfaces such as ILevelService, ISaveService, and ILevelGenerator reduce direct dependencies between systems.</a:t>
            </a:r>
          </a:p>
          <a:p>
            <a:pPr marL="405128" lvl="1" indent="-202564" algn="l">
              <a:lnSpc>
                <a:spcPts val="2251"/>
              </a:lnSpc>
              <a:buFont typeface="Arial"/>
              <a:buChar char="•"/>
            </a:pPr>
            <a:r>
              <a:rPr lang="en-US" sz="1876">
                <a:solidFill>
                  <a:srgbClr val="EEF1F7"/>
                </a:solidFill>
                <a:latin typeface="Aptos"/>
                <a:ea typeface="Aptos"/>
                <a:cs typeface="Aptos"/>
                <a:sym typeface="Aptos"/>
              </a:rPr>
              <a:t>GameFlowController, ScreenManager, and PopupManager give each responsibility a clear owner.</a:t>
            </a:r>
          </a:p>
          <a:p>
            <a:pPr marL="405128" lvl="1" indent="-202564" algn="l">
              <a:lnSpc>
                <a:spcPts val="2251"/>
              </a:lnSpc>
              <a:buFont typeface="Arial"/>
              <a:buChar char="•"/>
            </a:pPr>
            <a:r>
              <a:rPr lang="en-US" sz="1876">
                <a:solidFill>
                  <a:srgbClr val="EEF1F7"/>
                </a:solidFill>
                <a:latin typeface="Aptos"/>
                <a:ea typeface="Aptos"/>
                <a:cs typeface="Aptos"/>
                <a:sym typeface="Aptos"/>
              </a:rPr>
              <a:t>ScriptableObject level data keeps configuration separate from runtime gameplay code.</a:t>
            </a:r>
          </a:p>
          <a:p>
            <a:pPr algn="l">
              <a:lnSpc>
                <a:spcPts val="2251"/>
              </a:lnSpc>
            </a:pPr>
            <a:endParaRPr lang="en-US" sz="1876">
              <a:solidFill>
                <a:srgbClr val="EEF1F7"/>
              </a:solidFill>
              <a:latin typeface="Aptos"/>
              <a:ea typeface="Aptos"/>
              <a:cs typeface="Aptos"/>
              <a:sym typeface="Aptos"/>
            </a:endParaRPr>
          </a:p>
        </p:txBody>
      </p:sp>
      <p:grpSp>
        <p:nvGrpSpPr>
          <p:cNvPr id="8" name="Group 8"/>
          <p:cNvGrpSpPr/>
          <p:nvPr/>
        </p:nvGrpSpPr>
        <p:grpSpPr>
          <a:xfrm>
            <a:off x="6581680" y="1914592"/>
            <a:ext cx="5093189" cy="6054061"/>
            <a:chOff x="0" y="0"/>
            <a:chExt cx="6790919" cy="8072082"/>
          </a:xfrm>
        </p:grpSpPr>
        <p:sp>
          <p:nvSpPr>
            <p:cNvPr id="9" name="Freeform 9"/>
            <p:cNvSpPr/>
            <p:nvPr/>
          </p:nvSpPr>
          <p:spPr>
            <a:xfrm>
              <a:off x="0" y="0"/>
              <a:ext cx="6790944" cy="8072120"/>
            </a:xfrm>
            <a:custGeom>
              <a:avLst/>
              <a:gdLst/>
              <a:ahLst/>
              <a:cxnLst/>
              <a:rect l="l" t="t" r="r" b="b"/>
              <a:pathLst>
                <a:path w="6790944" h="8072120">
                  <a:moveTo>
                    <a:pt x="0" y="1131824"/>
                  </a:moveTo>
                  <a:cubicBezTo>
                    <a:pt x="0" y="506730"/>
                    <a:pt x="506730" y="0"/>
                    <a:pt x="1131824" y="0"/>
                  </a:cubicBezTo>
                  <a:lnTo>
                    <a:pt x="5659120" y="0"/>
                  </a:lnTo>
                  <a:cubicBezTo>
                    <a:pt x="6284214" y="0"/>
                    <a:pt x="6790944" y="506730"/>
                    <a:pt x="6790944" y="1131824"/>
                  </a:cubicBezTo>
                  <a:lnTo>
                    <a:pt x="6790944" y="6940296"/>
                  </a:lnTo>
                  <a:cubicBezTo>
                    <a:pt x="6790944" y="7565390"/>
                    <a:pt x="6284214" y="8072120"/>
                    <a:pt x="5659120" y="8072120"/>
                  </a:cubicBezTo>
                  <a:lnTo>
                    <a:pt x="1131824" y="8072120"/>
                  </a:lnTo>
                  <a:cubicBezTo>
                    <a:pt x="506730" y="8072120"/>
                    <a:pt x="0" y="7565390"/>
                    <a:pt x="0" y="6940296"/>
                  </a:cubicBezTo>
                  <a:close/>
                </a:path>
              </a:pathLst>
            </a:custGeom>
            <a:solidFill>
              <a:srgbClr val="1E222D"/>
            </a:solidFill>
            <a:ln w="14299" cap="sq">
              <a:solidFill>
                <a:srgbClr val="272C3A"/>
              </a:solidFill>
              <a:prstDash val="solid"/>
              <a:miter/>
            </a:ln>
          </p:spPr>
          <p:txBody>
            <a:bodyPr/>
            <a:lstStyle/>
            <a:p>
              <a:endParaRPr lang="en-IN"/>
            </a:p>
          </p:txBody>
        </p:sp>
      </p:grpSp>
      <p:sp>
        <p:nvSpPr>
          <p:cNvPr id="10" name="TextBox 10"/>
          <p:cNvSpPr txBox="1"/>
          <p:nvPr/>
        </p:nvSpPr>
        <p:spPr>
          <a:xfrm>
            <a:off x="6982254" y="2173357"/>
            <a:ext cx="4292032" cy="457629"/>
          </a:xfrm>
          <a:prstGeom prst="rect">
            <a:avLst/>
          </a:prstGeom>
        </p:spPr>
        <p:txBody>
          <a:bodyPr lIns="0" tIns="0" rIns="0" bIns="0" rtlCol="0" anchor="t">
            <a:spAutoFit/>
          </a:bodyPr>
          <a:lstStyle/>
          <a:p>
            <a:pPr algn="l">
              <a:lnSpc>
                <a:spcPts val="2702"/>
              </a:lnSpc>
            </a:pPr>
            <a:r>
              <a:rPr lang="en-US" sz="2251" b="1">
                <a:solidFill>
                  <a:srgbClr val="66CD96"/>
                </a:solidFill>
                <a:latin typeface="Aptos Bold"/>
                <a:ea typeface="Aptos Bold"/>
                <a:cs typeface="Aptos Bold"/>
                <a:sym typeface="Aptos Bold"/>
              </a:rPr>
              <a:t>Determinism</a:t>
            </a:r>
          </a:p>
        </p:txBody>
      </p:sp>
      <p:sp>
        <p:nvSpPr>
          <p:cNvPr id="11" name="TextBox 11"/>
          <p:cNvSpPr txBox="1"/>
          <p:nvPr/>
        </p:nvSpPr>
        <p:spPr>
          <a:xfrm>
            <a:off x="6982254" y="2859700"/>
            <a:ext cx="4292032" cy="3714750"/>
          </a:xfrm>
          <a:prstGeom prst="rect">
            <a:avLst/>
          </a:prstGeom>
        </p:spPr>
        <p:txBody>
          <a:bodyPr lIns="0" tIns="0" rIns="0" bIns="0" rtlCol="0" anchor="t">
            <a:spAutoFit/>
          </a:bodyPr>
          <a:lstStyle/>
          <a:p>
            <a:pPr marL="405128" lvl="1" indent="-202564" algn="l">
              <a:lnSpc>
                <a:spcPts val="2251"/>
              </a:lnSpc>
              <a:buFont typeface="Arial"/>
              <a:buChar char="•"/>
            </a:pPr>
            <a:r>
              <a:rPr lang="en-US" sz="1876" dirty="0" err="1">
                <a:solidFill>
                  <a:srgbClr val="EEF1F7"/>
                </a:solidFill>
                <a:latin typeface="Aptos"/>
                <a:ea typeface="Aptos"/>
                <a:cs typeface="Aptos"/>
                <a:sym typeface="Aptos"/>
              </a:rPr>
              <a:t>BoardMove</a:t>
            </a:r>
            <a:r>
              <a:rPr lang="en-US" sz="1876" dirty="0">
                <a:solidFill>
                  <a:srgbClr val="EEF1F7"/>
                </a:solidFill>
                <a:latin typeface="Aptos"/>
                <a:ea typeface="Aptos"/>
                <a:cs typeface="Aptos"/>
                <a:sym typeface="Aptos"/>
              </a:rPr>
              <a:t> records the exact value + previous position + target position needed for undo.</a:t>
            </a:r>
          </a:p>
          <a:p>
            <a:pPr marL="405128" lvl="1" indent="-202564" algn="l">
              <a:lnSpc>
                <a:spcPts val="2251"/>
              </a:lnSpc>
              <a:buFont typeface="Arial"/>
              <a:buChar char="•"/>
            </a:pPr>
            <a:r>
              <a:rPr lang="en-US" sz="1876" dirty="0">
                <a:solidFill>
                  <a:srgbClr val="EEF1F7"/>
                </a:solidFill>
                <a:latin typeface="Aptos"/>
                <a:ea typeface="Aptos"/>
                <a:cs typeface="Aptos"/>
                <a:sym typeface="Aptos"/>
              </a:rPr>
              <a:t>Undo restores the logical board first, then the view animates to the restored position.</a:t>
            </a:r>
          </a:p>
          <a:p>
            <a:pPr marL="405128" lvl="1" indent="-202564" algn="l">
              <a:lnSpc>
                <a:spcPts val="2251"/>
              </a:lnSpc>
              <a:buFont typeface="Arial"/>
              <a:buChar char="•"/>
            </a:pPr>
            <a:r>
              <a:rPr lang="en-US" sz="1876" dirty="0">
                <a:solidFill>
                  <a:srgbClr val="EEF1F7"/>
                </a:solidFill>
                <a:latin typeface="Aptos"/>
                <a:ea typeface="Aptos"/>
                <a:cs typeface="Aptos"/>
                <a:sym typeface="Aptos"/>
              </a:rPr>
              <a:t>Level generation uses only legal </a:t>
            </a:r>
            <a:r>
              <a:rPr lang="en-US" sz="1876" dirty="0" err="1">
                <a:solidFill>
                  <a:srgbClr val="EEF1F7"/>
                </a:solidFill>
                <a:latin typeface="Aptos"/>
                <a:ea typeface="Aptos"/>
                <a:cs typeface="Aptos"/>
                <a:sym typeface="Aptos"/>
              </a:rPr>
              <a:t>GridModel.TryMove</a:t>
            </a:r>
            <a:r>
              <a:rPr lang="en-US" sz="1876" dirty="0">
                <a:solidFill>
                  <a:srgbClr val="EEF1F7"/>
                </a:solidFill>
                <a:latin typeface="Aptos"/>
                <a:ea typeface="Aptos"/>
                <a:cs typeface="Aptos"/>
                <a:sym typeface="Aptos"/>
              </a:rPr>
              <a:t>() operations, keeping generated states reachable from the solved board.</a:t>
            </a:r>
          </a:p>
          <a:p>
            <a:pPr marL="405128" lvl="1" indent="-202564" algn="l">
              <a:lnSpc>
                <a:spcPts val="2251"/>
              </a:lnSpc>
              <a:buFont typeface="Arial"/>
              <a:buChar char="•"/>
            </a:pPr>
            <a:r>
              <a:rPr lang="en-US" sz="1876" dirty="0">
                <a:solidFill>
                  <a:srgbClr val="EEF1F7"/>
                </a:solidFill>
                <a:latin typeface="Aptos"/>
                <a:ea typeface="Aptos"/>
                <a:cs typeface="Aptos"/>
                <a:sym typeface="Aptos"/>
              </a:rPr>
              <a:t>The hint system reuses generated shuffle history instead of searching the live board.</a:t>
            </a:r>
          </a:p>
          <a:p>
            <a:pPr algn="l">
              <a:lnSpc>
                <a:spcPts val="2251"/>
              </a:lnSpc>
            </a:pPr>
            <a:endParaRPr lang="en-US" sz="1876" dirty="0">
              <a:solidFill>
                <a:srgbClr val="EEF1F7"/>
              </a:solidFill>
              <a:latin typeface="Aptos"/>
              <a:ea typeface="Aptos"/>
              <a:cs typeface="Aptos"/>
              <a:sym typeface="Aptos"/>
            </a:endParaRPr>
          </a:p>
        </p:txBody>
      </p:sp>
      <p:grpSp>
        <p:nvGrpSpPr>
          <p:cNvPr id="12" name="Group 12"/>
          <p:cNvGrpSpPr/>
          <p:nvPr/>
        </p:nvGrpSpPr>
        <p:grpSpPr>
          <a:xfrm>
            <a:off x="12141003" y="1914592"/>
            <a:ext cx="5093189" cy="6054061"/>
            <a:chOff x="0" y="0"/>
            <a:chExt cx="6790919" cy="8072082"/>
          </a:xfrm>
        </p:grpSpPr>
        <p:sp>
          <p:nvSpPr>
            <p:cNvPr id="13" name="Freeform 13"/>
            <p:cNvSpPr/>
            <p:nvPr/>
          </p:nvSpPr>
          <p:spPr>
            <a:xfrm>
              <a:off x="0" y="0"/>
              <a:ext cx="6790944" cy="8072120"/>
            </a:xfrm>
            <a:custGeom>
              <a:avLst/>
              <a:gdLst/>
              <a:ahLst/>
              <a:cxnLst/>
              <a:rect l="l" t="t" r="r" b="b"/>
              <a:pathLst>
                <a:path w="6790944" h="8072120">
                  <a:moveTo>
                    <a:pt x="0" y="1131824"/>
                  </a:moveTo>
                  <a:cubicBezTo>
                    <a:pt x="0" y="506730"/>
                    <a:pt x="506730" y="0"/>
                    <a:pt x="1131824" y="0"/>
                  </a:cubicBezTo>
                  <a:lnTo>
                    <a:pt x="5659120" y="0"/>
                  </a:lnTo>
                  <a:cubicBezTo>
                    <a:pt x="6284214" y="0"/>
                    <a:pt x="6790944" y="506730"/>
                    <a:pt x="6790944" y="1131824"/>
                  </a:cubicBezTo>
                  <a:lnTo>
                    <a:pt x="6790944" y="6940296"/>
                  </a:lnTo>
                  <a:cubicBezTo>
                    <a:pt x="6790944" y="7565390"/>
                    <a:pt x="6284214" y="8072120"/>
                    <a:pt x="5659120" y="8072120"/>
                  </a:cubicBezTo>
                  <a:lnTo>
                    <a:pt x="1131824" y="8072120"/>
                  </a:lnTo>
                  <a:cubicBezTo>
                    <a:pt x="506730" y="8072120"/>
                    <a:pt x="0" y="7565390"/>
                    <a:pt x="0" y="6940296"/>
                  </a:cubicBezTo>
                  <a:close/>
                </a:path>
              </a:pathLst>
            </a:custGeom>
            <a:solidFill>
              <a:srgbClr val="1E222D"/>
            </a:solidFill>
            <a:ln w="14299" cap="sq">
              <a:solidFill>
                <a:srgbClr val="272C3A"/>
              </a:solidFill>
              <a:prstDash val="solid"/>
              <a:miter/>
            </a:ln>
          </p:spPr>
          <p:txBody>
            <a:bodyPr/>
            <a:lstStyle/>
            <a:p>
              <a:endParaRPr lang="en-IN"/>
            </a:p>
          </p:txBody>
        </p:sp>
      </p:grpSp>
      <p:sp>
        <p:nvSpPr>
          <p:cNvPr id="14" name="TextBox 14"/>
          <p:cNvSpPr txBox="1"/>
          <p:nvPr/>
        </p:nvSpPr>
        <p:spPr>
          <a:xfrm>
            <a:off x="12541577" y="2173357"/>
            <a:ext cx="4292032" cy="457629"/>
          </a:xfrm>
          <a:prstGeom prst="rect">
            <a:avLst/>
          </a:prstGeom>
        </p:spPr>
        <p:txBody>
          <a:bodyPr lIns="0" tIns="0" rIns="0" bIns="0" rtlCol="0" anchor="t">
            <a:spAutoFit/>
          </a:bodyPr>
          <a:lstStyle/>
          <a:p>
            <a:pPr algn="l">
              <a:lnSpc>
                <a:spcPts val="2702"/>
              </a:lnSpc>
            </a:pPr>
            <a:r>
              <a:rPr lang="en-US" sz="2251" b="1">
                <a:solidFill>
                  <a:srgbClr val="FFB15C"/>
                </a:solidFill>
                <a:latin typeface="Aptos Bold"/>
                <a:ea typeface="Aptos Bold"/>
                <a:cs typeface="Aptos Bold"/>
                <a:sym typeface="Aptos Bold"/>
              </a:rPr>
              <a:t>Performance</a:t>
            </a:r>
          </a:p>
        </p:txBody>
      </p:sp>
      <p:sp>
        <p:nvSpPr>
          <p:cNvPr id="15" name="TextBox 15"/>
          <p:cNvSpPr txBox="1"/>
          <p:nvPr/>
        </p:nvSpPr>
        <p:spPr>
          <a:xfrm>
            <a:off x="12541577" y="2859700"/>
            <a:ext cx="4292032" cy="5001369"/>
          </a:xfrm>
          <a:prstGeom prst="rect">
            <a:avLst/>
          </a:prstGeom>
        </p:spPr>
        <p:txBody>
          <a:bodyPr lIns="0" tIns="0" rIns="0" bIns="0" rtlCol="0" anchor="t">
            <a:spAutoFit/>
          </a:bodyPr>
          <a:lstStyle/>
          <a:p>
            <a:pPr marL="405128" lvl="1" indent="-202564" algn="l">
              <a:lnSpc>
                <a:spcPts val="2251"/>
              </a:lnSpc>
              <a:buFont typeface="Arial"/>
              <a:buChar char="•"/>
            </a:pPr>
            <a:r>
              <a:rPr dirty="0" err="1">
                <a:solidFill>
                  <a:schemeClr val="bg1"/>
                </a:solidFill>
              </a:rPr>
              <a:t>GridView</a:t>
            </a:r>
            <a:r>
              <a:rPr dirty="0">
                <a:solidFill>
                  <a:schemeClr val="bg1"/>
                </a:solidFill>
              </a:rPr>
              <a:t> animates only the tile that moved, rather than rebuilding the entire board after every move.</a:t>
            </a:r>
            <a:br>
              <a:rPr dirty="0">
                <a:solidFill>
                  <a:schemeClr val="bg1"/>
                </a:solidFill>
              </a:rPr>
            </a:br>
            <a:r>
              <a:rPr dirty="0" err="1">
                <a:solidFill>
                  <a:schemeClr val="bg1"/>
                </a:solidFill>
              </a:rPr>
              <a:t>GridModel</a:t>
            </a:r>
            <a:r>
              <a:rPr dirty="0">
                <a:solidFill>
                  <a:schemeClr val="bg1"/>
                </a:solidFill>
              </a:rPr>
              <a:t> tracks empty positions, avoiding unnecessary full-grid searches for movement.</a:t>
            </a:r>
            <a:br>
              <a:rPr dirty="0">
                <a:solidFill>
                  <a:schemeClr val="bg1"/>
                </a:solidFill>
              </a:rPr>
            </a:br>
            <a:r>
              <a:rPr dirty="0" err="1">
                <a:solidFill>
                  <a:schemeClr val="bg1"/>
                </a:solidFill>
              </a:rPr>
              <a:t>BoardHistory</a:t>
            </a:r>
            <a:r>
              <a:rPr dirty="0">
                <a:solidFill>
                  <a:schemeClr val="bg1"/>
                </a:solidFill>
              </a:rPr>
              <a:t> stores compact </a:t>
            </a:r>
            <a:r>
              <a:rPr dirty="0" err="1">
                <a:solidFill>
                  <a:schemeClr val="bg1"/>
                </a:solidFill>
              </a:rPr>
              <a:t>BoardMove</a:t>
            </a:r>
            <a:r>
              <a:rPr dirty="0">
                <a:solidFill>
                  <a:schemeClr val="bg1"/>
                </a:solidFill>
              </a:rPr>
              <a:t> deltas rather than complete board snapshots.</a:t>
            </a:r>
            <a:br>
              <a:rPr dirty="0">
                <a:solidFill>
                  <a:schemeClr val="bg1"/>
                </a:solidFill>
              </a:rPr>
            </a:br>
            <a:r>
              <a:rPr dirty="0" err="1">
                <a:solidFill>
                  <a:schemeClr val="bg1"/>
                </a:solidFill>
              </a:rPr>
              <a:t>HintService</a:t>
            </a:r>
            <a:r>
              <a:rPr dirty="0">
                <a:solidFill>
                  <a:schemeClr val="bg1"/>
                </a:solidFill>
              </a:rPr>
              <a:t> reverses the recorded shuffle path and handles player deviations in LIFO order.</a:t>
            </a:r>
            <a:br>
              <a:rPr dirty="0">
                <a:solidFill>
                  <a:schemeClr val="bg1"/>
                </a:solidFill>
              </a:rPr>
            </a:br>
            <a:r>
              <a:rPr dirty="0">
                <a:solidFill>
                  <a:schemeClr val="bg1"/>
                </a:solidFill>
              </a:rPr>
              <a:t>Hint state recalculation is O(N), where N is the number of player moves.</a:t>
            </a:r>
            <a:br>
              <a:rPr dirty="0">
                <a:solidFill>
                  <a:schemeClr val="bg1"/>
                </a:solidFill>
              </a:rPr>
            </a:br>
            <a:r>
              <a:rPr dirty="0">
                <a:solidFill>
                  <a:schemeClr val="bg1"/>
                </a:solidFill>
              </a:rPr>
              <a:t>No per-frame hint processing, search, search tree, or background solver is required.</a:t>
            </a:r>
          </a:p>
        </p:txBody>
      </p:sp>
      <p:grpSp>
        <p:nvGrpSpPr>
          <p:cNvPr id="16" name="Group 16"/>
          <p:cNvGrpSpPr/>
          <p:nvPr/>
        </p:nvGrpSpPr>
        <p:grpSpPr>
          <a:xfrm>
            <a:off x="1022356" y="8160248"/>
            <a:ext cx="16143199" cy="1562814"/>
            <a:chOff x="0" y="0"/>
            <a:chExt cx="21524265" cy="2083752"/>
          </a:xfrm>
        </p:grpSpPr>
        <p:sp>
          <p:nvSpPr>
            <p:cNvPr id="17" name="Freeform 17"/>
            <p:cNvSpPr/>
            <p:nvPr/>
          </p:nvSpPr>
          <p:spPr>
            <a:xfrm>
              <a:off x="0" y="0"/>
              <a:ext cx="21524213" cy="2083765"/>
            </a:xfrm>
            <a:custGeom>
              <a:avLst/>
              <a:gdLst/>
              <a:ahLst/>
              <a:cxnLst/>
              <a:rect l="l" t="t" r="r" b="b"/>
              <a:pathLst>
                <a:path w="21524213" h="2083765">
                  <a:moveTo>
                    <a:pt x="0" y="347257"/>
                  </a:moveTo>
                  <a:cubicBezTo>
                    <a:pt x="0" y="155389"/>
                    <a:pt x="83312" y="0"/>
                    <a:pt x="186182" y="0"/>
                  </a:cubicBezTo>
                  <a:lnTo>
                    <a:pt x="21338032" y="0"/>
                  </a:lnTo>
                  <a:cubicBezTo>
                    <a:pt x="21440902" y="0"/>
                    <a:pt x="21524213" y="155389"/>
                    <a:pt x="21524213" y="347257"/>
                  </a:cubicBezTo>
                  <a:lnTo>
                    <a:pt x="21524213" y="1736520"/>
                  </a:lnTo>
                  <a:cubicBezTo>
                    <a:pt x="21524213" y="1928387"/>
                    <a:pt x="21440902" y="2083765"/>
                    <a:pt x="21338032" y="2083765"/>
                  </a:cubicBezTo>
                  <a:lnTo>
                    <a:pt x="186182" y="2083765"/>
                  </a:lnTo>
                  <a:cubicBezTo>
                    <a:pt x="83312" y="2083765"/>
                    <a:pt x="0" y="1928150"/>
                    <a:pt x="0" y="1736520"/>
                  </a:cubicBezTo>
                  <a:close/>
                </a:path>
              </a:pathLst>
            </a:custGeom>
            <a:solidFill>
              <a:srgbClr val="1E222D"/>
            </a:solidFill>
            <a:ln w="14299" cap="sq">
              <a:solidFill>
                <a:srgbClr val="272C3A"/>
              </a:solidFill>
              <a:prstDash val="solid"/>
              <a:miter/>
            </a:ln>
          </p:spPr>
          <p:txBody>
            <a:bodyPr/>
            <a:lstStyle/>
            <a:p>
              <a:endParaRPr lang="en-IN"/>
            </a:p>
          </p:txBody>
        </p:sp>
      </p:grpSp>
      <p:sp>
        <p:nvSpPr>
          <p:cNvPr id="18" name="TextBox 18"/>
          <p:cNvSpPr txBox="1"/>
          <p:nvPr/>
        </p:nvSpPr>
        <p:spPr>
          <a:xfrm>
            <a:off x="1422930" y="8419024"/>
            <a:ext cx="15342041" cy="354456"/>
          </a:xfrm>
          <a:prstGeom prst="rect">
            <a:avLst/>
          </a:prstGeom>
        </p:spPr>
        <p:txBody>
          <a:bodyPr lIns="0" tIns="0" rIns="0" bIns="0" rtlCol="0" anchor="t">
            <a:spAutoFit/>
          </a:bodyPr>
          <a:lstStyle/>
          <a:p>
            <a:pPr algn="l">
              <a:lnSpc>
                <a:spcPts val="2702"/>
              </a:lnSpc>
            </a:pPr>
            <a:r>
              <a:rPr sz="2800" b="1" dirty="0">
                <a:solidFill>
                  <a:schemeClr val="accent6"/>
                </a:solidFill>
              </a:rPr>
              <a:t>Engineering Decision</a:t>
            </a:r>
          </a:p>
        </p:txBody>
      </p:sp>
      <p:sp>
        <p:nvSpPr>
          <p:cNvPr id="19" name="TextBox 19"/>
          <p:cNvSpPr txBox="1"/>
          <p:nvPr/>
        </p:nvSpPr>
        <p:spPr>
          <a:xfrm>
            <a:off x="1422930" y="8820226"/>
            <a:ext cx="14343181" cy="685800"/>
          </a:xfrm>
          <a:prstGeom prst="rect">
            <a:avLst/>
          </a:prstGeom>
        </p:spPr>
        <p:txBody>
          <a:bodyPr lIns="0" tIns="0" rIns="0" bIns="0" rtlCol="0" anchor="t">
            <a:spAutoFit/>
          </a:bodyPr>
          <a:lstStyle/>
          <a:p>
            <a:pPr algn="l">
              <a:lnSpc>
                <a:spcPts val="2702"/>
              </a:lnSpc>
              <a:spcBef>
                <a:spcPct val="0"/>
              </a:spcBef>
            </a:pPr>
            <a:r>
              <a:rPr dirty="0">
                <a:solidFill>
                  <a:schemeClr val="bg1"/>
                </a:solidFill>
              </a:rPr>
              <a:t>The hint system intentionally avoids general-purpose search. Since the generator already records a legal path from the solved board to the generated level, reversing that path provides a guaranteed solution. Player deviations are handled separately with lightweight LIFO tracking.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sp>
        <p:nvSpPr>
          <p:cNvPr id="2" name="TextBox 2"/>
          <p:cNvSpPr txBox="1"/>
          <p:nvPr/>
        </p:nvSpPr>
        <p:spPr>
          <a:xfrm>
            <a:off x="983675" y="526151"/>
            <a:ext cx="16289188" cy="575670"/>
          </a:xfrm>
          <a:prstGeom prst="rect">
            <a:avLst/>
          </a:prstGeom>
        </p:spPr>
        <p:txBody>
          <a:bodyPr lIns="0" tIns="0" rIns="0" bIns="0" rtlCol="0" anchor="t">
            <a:spAutoFit/>
          </a:bodyPr>
          <a:lstStyle/>
          <a:p>
            <a:pPr algn="l">
              <a:lnSpc>
                <a:spcPts val="5043"/>
              </a:lnSpc>
            </a:pPr>
            <a:r>
              <a:rPr sz="2800" dirty="0">
                <a:solidFill>
                  <a:schemeClr val="bg1"/>
                </a:solidFill>
              </a:rPr>
              <a:t>22. Final Data Flow Summary</a:t>
            </a:r>
          </a:p>
        </p:txBody>
      </p:sp>
      <p:grpSp>
        <p:nvGrpSpPr>
          <p:cNvPr id="3" name="Group 3"/>
          <p:cNvGrpSpPr/>
          <p:nvPr/>
        </p:nvGrpSpPr>
        <p:grpSpPr>
          <a:xfrm>
            <a:off x="747817" y="3012729"/>
            <a:ext cx="2073307" cy="1112434"/>
            <a:chOff x="0" y="0"/>
            <a:chExt cx="2764409" cy="1483246"/>
          </a:xfrm>
        </p:grpSpPr>
        <p:sp>
          <p:nvSpPr>
            <p:cNvPr id="4" name="Freeform 4"/>
            <p:cNvSpPr/>
            <p:nvPr/>
          </p:nvSpPr>
          <p:spPr>
            <a:xfrm>
              <a:off x="0" y="0"/>
              <a:ext cx="2764409" cy="1483360"/>
            </a:xfrm>
            <a:custGeom>
              <a:avLst/>
              <a:gdLst/>
              <a:ahLst/>
              <a:cxnLst/>
              <a:rect l="l" t="t" r="r" b="b"/>
              <a:pathLst>
                <a:path w="2764409" h="1483360">
                  <a:moveTo>
                    <a:pt x="0" y="247269"/>
                  </a:moveTo>
                  <a:cubicBezTo>
                    <a:pt x="0" y="110744"/>
                    <a:pt x="110744" y="0"/>
                    <a:pt x="247269" y="0"/>
                  </a:cubicBezTo>
                  <a:lnTo>
                    <a:pt x="2517140" y="0"/>
                  </a:lnTo>
                  <a:cubicBezTo>
                    <a:pt x="2653665" y="0"/>
                    <a:pt x="2764409" y="110744"/>
                    <a:pt x="2764409" y="247269"/>
                  </a:cubicBezTo>
                  <a:lnTo>
                    <a:pt x="2764409" y="1236091"/>
                  </a:lnTo>
                  <a:cubicBezTo>
                    <a:pt x="2764409" y="1372616"/>
                    <a:pt x="2653665" y="1483360"/>
                    <a:pt x="2517140" y="1483360"/>
                  </a:cubicBezTo>
                  <a:lnTo>
                    <a:pt x="247269" y="1483360"/>
                  </a:lnTo>
                  <a:cubicBezTo>
                    <a:pt x="110744" y="1483233"/>
                    <a:pt x="0" y="1372616"/>
                    <a:pt x="0" y="1236091"/>
                  </a:cubicBezTo>
                  <a:close/>
                </a:path>
              </a:pathLst>
            </a:custGeom>
            <a:solidFill>
              <a:srgbClr val="1E222D"/>
            </a:solidFill>
            <a:ln w="14299" cap="sq">
              <a:solidFill>
                <a:srgbClr val="5CAEFF"/>
              </a:solidFill>
              <a:prstDash val="solid"/>
              <a:miter/>
            </a:ln>
          </p:spPr>
          <p:txBody>
            <a:bodyPr/>
            <a:lstStyle/>
            <a:p>
              <a:endParaRPr lang="en-IN"/>
            </a:p>
          </p:txBody>
        </p:sp>
      </p:grpSp>
      <p:grpSp>
        <p:nvGrpSpPr>
          <p:cNvPr id="5" name="Group 5"/>
          <p:cNvGrpSpPr/>
          <p:nvPr/>
        </p:nvGrpSpPr>
        <p:grpSpPr>
          <a:xfrm>
            <a:off x="864784" y="3088510"/>
            <a:ext cx="1839382" cy="960872"/>
            <a:chOff x="0" y="0"/>
            <a:chExt cx="2452510" cy="1281163"/>
          </a:xfrm>
        </p:grpSpPr>
        <p:sp>
          <p:nvSpPr>
            <p:cNvPr id="6" name="Freeform 6"/>
            <p:cNvSpPr/>
            <p:nvPr/>
          </p:nvSpPr>
          <p:spPr>
            <a:xfrm>
              <a:off x="0" y="0"/>
              <a:ext cx="2452508" cy="1281161"/>
            </a:xfrm>
            <a:custGeom>
              <a:avLst/>
              <a:gdLst/>
              <a:ahLst/>
              <a:cxnLst/>
              <a:rect l="l" t="t" r="r" b="b"/>
              <a:pathLst>
                <a:path w="2452508" h="1281161">
                  <a:moveTo>
                    <a:pt x="0" y="0"/>
                  </a:moveTo>
                  <a:lnTo>
                    <a:pt x="2452508" y="0"/>
                  </a:lnTo>
                  <a:lnTo>
                    <a:pt x="2452508" y="1281161"/>
                  </a:lnTo>
                  <a:lnTo>
                    <a:pt x="0" y="1281161"/>
                  </a:lnTo>
                  <a:close/>
                </a:path>
              </a:pathLst>
            </a:custGeom>
            <a:blipFill>
              <a:blip r:embed="rId2">
                <a:alphaModFix amt="0"/>
              </a:blip>
              <a:stretch>
                <a:fillRect l="-17024" r="-17024"/>
              </a:stretch>
            </a:blipFill>
          </p:spPr>
          <p:txBody>
            <a:bodyPr/>
            <a:lstStyle/>
            <a:p>
              <a:endParaRPr lang="en-IN"/>
            </a:p>
          </p:txBody>
        </p:sp>
        <p:sp>
          <p:nvSpPr>
            <p:cNvPr id="7" name="TextBox 7"/>
            <p:cNvSpPr txBox="1"/>
            <p:nvPr/>
          </p:nvSpPr>
          <p:spPr>
            <a:xfrm>
              <a:off x="0" y="0"/>
              <a:ext cx="2452510" cy="1281163"/>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Input</a:t>
              </a:r>
            </a:p>
          </p:txBody>
        </p:sp>
      </p:grpSp>
      <p:grpSp>
        <p:nvGrpSpPr>
          <p:cNvPr id="8" name="Group 8"/>
          <p:cNvGrpSpPr/>
          <p:nvPr/>
        </p:nvGrpSpPr>
        <p:grpSpPr>
          <a:xfrm>
            <a:off x="3218631" y="3012729"/>
            <a:ext cx="2347846" cy="1112434"/>
            <a:chOff x="0" y="0"/>
            <a:chExt cx="3130461" cy="1483246"/>
          </a:xfrm>
        </p:grpSpPr>
        <p:sp>
          <p:nvSpPr>
            <p:cNvPr id="9" name="Freeform 9"/>
            <p:cNvSpPr/>
            <p:nvPr/>
          </p:nvSpPr>
          <p:spPr>
            <a:xfrm>
              <a:off x="0" y="0"/>
              <a:ext cx="3130550" cy="1483360"/>
            </a:xfrm>
            <a:custGeom>
              <a:avLst/>
              <a:gdLst/>
              <a:ahLst/>
              <a:cxnLst/>
              <a:rect l="l" t="t" r="r" b="b"/>
              <a:pathLst>
                <a:path w="3130550" h="1483360">
                  <a:moveTo>
                    <a:pt x="0" y="247269"/>
                  </a:moveTo>
                  <a:cubicBezTo>
                    <a:pt x="0" y="110744"/>
                    <a:pt x="110744" y="0"/>
                    <a:pt x="247269" y="0"/>
                  </a:cubicBezTo>
                  <a:lnTo>
                    <a:pt x="2883281" y="0"/>
                  </a:lnTo>
                  <a:cubicBezTo>
                    <a:pt x="3019806" y="0"/>
                    <a:pt x="3130550" y="110744"/>
                    <a:pt x="3130550" y="247269"/>
                  </a:cubicBezTo>
                  <a:lnTo>
                    <a:pt x="3130550" y="1236091"/>
                  </a:lnTo>
                  <a:cubicBezTo>
                    <a:pt x="3130550" y="1372616"/>
                    <a:pt x="3019806" y="1483360"/>
                    <a:pt x="2883281" y="1483360"/>
                  </a:cubicBezTo>
                  <a:lnTo>
                    <a:pt x="247269" y="1483360"/>
                  </a:lnTo>
                  <a:cubicBezTo>
                    <a:pt x="110744" y="1483233"/>
                    <a:pt x="0" y="1372616"/>
                    <a:pt x="0" y="1236091"/>
                  </a:cubicBezTo>
                  <a:close/>
                </a:path>
              </a:pathLst>
            </a:custGeom>
            <a:solidFill>
              <a:srgbClr val="1E222D"/>
            </a:solidFill>
            <a:ln w="14299" cap="sq">
              <a:solidFill>
                <a:srgbClr val="B189FF"/>
              </a:solidFill>
              <a:prstDash val="solid"/>
              <a:miter/>
            </a:ln>
          </p:spPr>
          <p:txBody>
            <a:bodyPr/>
            <a:lstStyle/>
            <a:p>
              <a:endParaRPr lang="en-IN"/>
            </a:p>
          </p:txBody>
        </p:sp>
      </p:grpSp>
      <p:grpSp>
        <p:nvGrpSpPr>
          <p:cNvPr id="10" name="Group 10"/>
          <p:cNvGrpSpPr/>
          <p:nvPr/>
        </p:nvGrpSpPr>
        <p:grpSpPr>
          <a:xfrm>
            <a:off x="3335598" y="3088510"/>
            <a:ext cx="2113912" cy="960872"/>
            <a:chOff x="0" y="0"/>
            <a:chExt cx="2818549" cy="1281163"/>
          </a:xfrm>
        </p:grpSpPr>
        <p:sp>
          <p:nvSpPr>
            <p:cNvPr id="11" name="Freeform 11"/>
            <p:cNvSpPr/>
            <p:nvPr/>
          </p:nvSpPr>
          <p:spPr>
            <a:xfrm>
              <a:off x="0" y="0"/>
              <a:ext cx="2818554" cy="1281161"/>
            </a:xfrm>
            <a:custGeom>
              <a:avLst/>
              <a:gdLst/>
              <a:ahLst/>
              <a:cxnLst/>
              <a:rect l="l" t="t" r="r" b="b"/>
              <a:pathLst>
                <a:path w="2818554" h="1281161">
                  <a:moveTo>
                    <a:pt x="0" y="0"/>
                  </a:moveTo>
                  <a:lnTo>
                    <a:pt x="2818554" y="0"/>
                  </a:lnTo>
                  <a:lnTo>
                    <a:pt x="2818554" y="1281161"/>
                  </a:lnTo>
                  <a:lnTo>
                    <a:pt x="0" y="1281161"/>
                  </a:lnTo>
                  <a:close/>
                </a:path>
              </a:pathLst>
            </a:custGeom>
            <a:blipFill>
              <a:blip r:embed="rId2">
                <a:alphaModFix amt="0"/>
              </a:blip>
              <a:stretch>
                <a:fillRect l="-8320" r="-8319"/>
              </a:stretch>
            </a:blipFill>
          </p:spPr>
          <p:txBody>
            <a:bodyPr/>
            <a:lstStyle/>
            <a:p>
              <a:endParaRPr lang="en-IN"/>
            </a:p>
          </p:txBody>
        </p:sp>
        <p:sp>
          <p:nvSpPr>
            <p:cNvPr id="12" name="TextBox 12"/>
            <p:cNvSpPr txBox="1"/>
            <p:nvPr/>
          </p:nvSpPr>
          <p:spPr>
            <a:xfrm>
              <a:off x="0" y="0"/>
              <a:ext cx="2818549" cy="1281163"/>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GridModel</a:t>
              </a:r>
            </a:p>
          </p:txBody>
        </p:sp>
      </p:grpSp>
      <p:grpSp>
        <p:nvGrpSpPr>
          <p:cNvPr id="13" name="Group 13"/>
          <p:cNvGrpSpPr/>
          <p:nvPr/>
        </p:nvGrpSpPr>
        <p:grpSpPr>
          <a:xfrm>
            <a:off x="5963974" y="3012729"/>
            <a:ext cx="2073307" cy="1112434"/>
            <a:chOff x="0" y="0"/>
            <a:chExt cx="2764409" cy="1483246"/>
          </a:xfrm>
        </p:grpSpPr>
        <p:sp>
          <p:nvSpPr>
            <p:cNvPr id="14" name="Freeform 14"/>
            <p:cNvSpPr/>
            <p:nvPr/>
          </p:nvSpPr>
          <p:spPr>
            <a:xfrm>
              <a:off x="0" y="0"/>
              <a:ext cx="2764409" cy="1483360"/>
            </a:xfrm>
            <a:custGeom>
              <a:avLst/>
              <a:gdLst/>
              <a:ahLst/>
              <a:cxnLst/>
              <a:rect l="l" t="t" r="r" b="b"/>
              <a:pathLst>
                <a:path w="2764409" h="1483360">
                  <a:moveTo>
                    <a:pt x="0" y="247269"/>
                  </a:moveTo>
                  <a:cubicBezTo>
                    <a:pt x="0" y="110744"/>
                    <a:pt x="110744" y="0"/>
                    <a:pt x="247269" y="0"/>
                  </a:cubicBezTo>
                  <a:lnTo>
                    <a:pt x="2517140" y="0"/>
                  </a:lnTo>
                  <a:cubicBezTo>
                    <a:pt x="2653665" y="0"/>
                    <a:pt x="2764409" y="110744"/>
                    <a:pt x="2764409" y="247269"/>
                  </a:cubicBezTo>
                  <a:lnTo>
                    <a:pt x="2764409" y="1236091"/>
                  </a:lnTo>
                  <a:cubicBezTo>
                    <a:pt x="2764409" y="1372616"/>
                    <a:pt x="2653665" y="1483360"/>
                    <a:pt x="2517140" y="1483360"/>
                  </a:cubicBezTo>
                  <a:lnTo>
                    <a:pt x="247269" y="1483360"/>
                  </a:lnTo>
                  <a:cubicBezTo>
                    <a:pt x="110744" y="1483233"/>
                    <a:pt x="0" y="1372616"/>
                    <a:pt x="0" y="1236091"/>
                  </a:cubicBezTo>
                  <a:close/>
                </a:path>
              </a:pathLst>
            </a:custGeom>
            <a:solidFill>
              <a:srgbClr val="1E222D"/>
            </a:solidFill>
            <a:ln w="14299" cap="sq">
              <a:solidFill>
                <a:srgbClr val="66CD96"/>
              </a:solidFill>
              <a:prstDash val="solid"/>
              <a:miter/>
            </a:ln>
          </p:spPr>
          <p:txBody>
            <a:bodyPr/>
            <a:lstStyle/>
            <a:p>
              <a:endParaRPr lang="en-IN"/>
            </a:p>
          </p:txBody>
        </p:sp>
      </p:grpSp>
      <p:grpSp>
        <p:nvGrpSpPr>
          <p:cNvPr id="15" name="Group 15"/>
          <p:cNvGrpSpPr/>
          <p:nvPr/>
        </p:nvGrpSpPr>
        <p:grpSpPr>
          <a:xfrm>
            <a:off x="6080941" y="3088510"/>
            <a:ext cx="1839382" cy="960872"/>
            <a:chOff x="0" y="0"/>
            <a:chExt cx="2452510" cy="1281163"/>
          </a:xfrm>
        </p:grpSpPr>
        <p:sp>
          <p:nvSpPr>
            <p:cNvPr id="16" name="Freeform 16"/>
            <p:cNvSpPr/>
            <p:nvPr/>
          </p:nvSpPr>
          <p:spPr>
            <a:xfrm>
              <a:off x="0" y="0"/>
              <a:ext cx="2452508" cy="1281161"/>
            </a:xfrm>
            <a:custGeom>
              <a:avLst/>
              <a:gdLst/>
              <a:ahLst/>
              <a:cxnLst/>
              <a:rect l="l" t="t" r="r" b="b"/>
              <a:pathLst>
                <a:path w="2452508" h="1281161">
                  <a:moveTo>
                    <a:pt x="0" y="0"/>
                  </a:moveTo>
                  <a:lnTo>
                    <a:pt x="2452508" y="0"/>
                  </a:lnTo>
                  <a:lnTo>
                    <a:pt x="2452508" y="1281161"/>
                  </a:lnTo>
                  <a:lnTo>
                    <a:pt x="0" y="1281161"/>
                  </a:lnTo>
                  <a:close/>
                </a:path>
              </a:pathLst>
            </a:custGeom>
            <a:blipFill>
              <a:blip r:embed="rId2">
                <a:alphaModFix amt="0"/>
              </a:blip>
              <a:stretch>
                <a:fillRect l="-17024" r="-17024"/>
              </a:stretch>
            </a:blipFill>
          </p:spPr>
          <p:txBody>
            <a:bodyPr/>
            <a:lstStyle/>
            <a:p>
              <a:endParaRPr lang="en-IN"/>
            </a:p>
          </p:txBody>
        </p:sp>
        <p:sp>
          <p:nvSpPr>
            <p:cNvPr id="17" name="TextBox 17"/>
            <p:cNvSpPr txBox="1"/>
            <p:nvPr/>
          </p:nvSpPr>
          <p:spPr>
            <a:xfrm>
              <a:off x="0" y="0"/>
              <a:ext cx="2452510" cy="1281163"/>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History</a:t>
              </a:r>
            </a:p>
          </p:txBody>
        </p:sp>
      </p:grpSp>
      <p:grpSp>
        <p:nvGrpSpPr>
          <p:cNvPr id="18" name="Group 18"/>
          <p:cNvGrpSpPr/>
          <p:nvPr/>
        </p:nvGrpSpPr>
        <p:grpSpPr>
          <a:xfrm>
            <a:off x="8503415" y="3012729"/>
            <a:ext cx="2347846" cy="1112434"/>
            <a:chOff x="0" y="0"/>
            <a:chExt cx="3130461" cy="1483246"/>
          </a:xfrm>
        </p:grpSpPr>
        <p:sp>
          <p:nvSpPr>
            <p:cNvPr id="19" name="Freeform 19"/>
            <p:cNvSpPr/>
            <p:nvPr/>
          </p:nvSpPr>
          <p:spPr>
            <a:xfrm>
              <a:off x="0" y="0"/>
              <a:ext cx="3130550" cy="1483360"/>
            </a:xfrm>
            <a:custGeom>
              <a:avLst/>
              <a:gdLst/>
              <a:ahLst/>
              <a:cxnLst/>
              <a:rect l="l" t="t" r="r" b="b"/>
              <a:pathLst>
                <a:path w="3130550" h="1483360">
                  <a:moveTo>
                    <a:pt x="0" y="247269"/>
                  </a:moveTo>
                  <a:cubicBezTo>
                    <a:pt x="0" y="110744"/>
                    <a:pt x="110744" y="0"/>
                    <a:pt x="247269" y="0"/>
                  </a:cubicBezTo>
                  <a:lnTo>
                    <a:pt x="2883281" y="0"/>
                  </a:lnTo>
                  <a:cubicBezTo>
                    <a:pt x="3019806" y="0"/>
                    <a:pt x="3130550" y="110744"/>
                    <a:pt x="3130550" y="247269"/>
                  </a:cubicBezTo>
                  <a:lnTo>
                    <a:pt x="3130550" y="1236091"/>
                  </a:lnTo>
                  <a:cubicBezTo>
                    <a:pt x="3130550" y="1372616"/>
                    <a:pt x="3019806" y="1483360"/>
                    <a:pt x="2883281" y="1483360"/>
                  </a:cubicBezTo>
                  <a:lnTo>
                    <a:pt x="247269" y="1483360"/>
                  </a:lnTo>
                  <a:cubicBezTo>
                    <a:pt x="110744" y="1483233"/>
                    <a:pt x="0" y="1372616"/>
                    <a:pt x="0" y="1236091"/>
                  </a:cubicBezTo>
                  <a:close/>
                </a:path>
              </a:pathLst>
            </a:custGeom>
            <a:solidFill>
              <a:srgbClr val="1E222D"/>
            </a:solidFill>
            <a:ln w="14299" cap="sq">
              <a:solidFill>
                <a:srgbClr val="FFB15C"/>
              </a:solidFill>
              <a:prstDash val="solid"/>
              <a:miter/>
            </a:ln>
          </p:spPr>
          <p:txBody>
            <a:bodyPr/>
            <a:lstStyle/>
            <a:p>
              <a:endParaRPr lang="en-IN"/>
            </a:p>
          </p:txBody>
        </p:sp>
      </p:grpSp>
      <p:grpSp>
        <p:nvGrpSpPr>
          <p:cNvPr id="20" name="Group 20"/>
          <p:cNvGrpSpPr/>
          <p:nvPr/>
        </p:nvGrpSpPr>
        <p:grpSpPr>
          <a:xfrm>
            <a:off x="8620382" y="3088510"/>
            <a:ext cx="2113912" cy="960872"/>
            <a:chOff x="0" y="0"/>
            <a:chExt cx="2818549" cy="1281163"/>
          </a:xfrm>
        </p:grpSpPr>
        <p:sp>
          <p:nvSpPr>
            <p:cNvPr id="21" name="Freeform 21"/>
            <p:cNvSpPr/>
            <p:nvPr/>
          </p:nvSpPr>
          <p:spPr>
            <a:xfrm>
              <a:off x="0" y="0"/>
              <a:ext cx="2818554" cy="1281161"/>
            </a:xfrm>
            <a:custGeom>
              <a:avLst/>
              <a:gdLst/>
              <a:ahLst/>
              <a:cxnLst/>
              <a:rect l="l" t="t" r="r" b="b"/>
              <a:pathLst>
                <a:path w="2818554" h="1281161">
                  <a:moveTo>
                    <a:pt x="0" y="0"/>
                  </a:moveTo>
                  <a:lnTo>
                    <a:pt x="2818554" y="0"/>
                  </a:lnTo>
                  <a:lnTo>
                    <a:pt x="2818554" y="1281161"/>
                  </a:lnTo>
                  <a:lnTo>
                    <a:pt x="0" y="1281161"/>
                  </a:lnTo>
                  <a:close/>
                </a:path>
              </a:pathLst>
            </a:custGeom>
            <a:blipFill>
              <a:blip r:embed="rId2">
                <a:alphaModFix amt="0"/>
              </a:blip>
              <a:stretch>
                <a:fillRect l="-8320" r="-8319"/>
              </a:stretch>
            </a:blipFill>
          </p:spPr>
          <p:txBody>
            <a:bodyPr/>
            <a:lstStyle/>
            <a:p>
              <a:endParaRPr lang="en-IN"/>
            </a:p>
          </p:txBody>
        </p:sp>
        <p:sp>
          <p:nvSpPr>
            <p:cNvPr id="22" name="TextBox 22"/>
            <p:cNvSpPr txBox="1"/>
            <p:nvPr/>
          </p:nvSpPr>
          <p:spPr>
            <a:xfrm>
              <a:off x="0" y="0"/>
              <a:ext cx="2818549" cy="1281163"/>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Animation</a:t>
              </a:r>
            </a:p>
          </p:txBody>
        </p:sp>
      </p:grpSp>
      <p:grpSp>
        <p:nvGrpSpPr>
          <p:cNvPr id="23" name="Group 23"/>
          <p:cNvGrpSpPr/>
          <p:nvPr/>
        </p:nvGrpSpPr>
        <p:grpSpPr>
          <a:xfrm>
            <a:off x="11248758" y="3012729"/>
            <a:ext cx="2347846" cy="1112434"/>
            <a:chOff x="0" y="0"/>
            <a:chExt cx="3130461" cy="1483246"/>
          </a:xfrm>
        </p:grpSpPr>
        <p:sp>
          <p:nvSpPr>
            <p:cNvPr id="24" name="Freeform 24"/>
            <p:cNvSpPr/>
            <p:nvPr/>
          </p:nvSpPr>
          <p:spPr>
            <a:xfrm>
              <a:off x="0" y="0"/>
              <a:ext cx="3130550" cy="1483360"/>
            </a:xfrm>
            <a:custGeom>
              <a:avLst/>
              <a:gdLst/>
              <a:ahLst/>
              <a:cxnLst/>
              <a:rect l="l" t="t" r="r" b="b"/>
              <a:pathLst>
                <a:path w="3130550" h="1483360">
                  <a:moveTo>
                    <a:pt x="0" y="247269"/>
                  </a:moveTo>
                  <a:cubicBezTo>
                    <a:pt x="0" y="110744"/>
                    <a:pt x="110744" y="0"/>
                    <a:pt x="247269" y="0"/>
                  </a:cubicBezTo>
                  <a:lnTo>
                    <a:pt x="2883281" y="0"/>
                  </a:lnTo>
                  <a:cubicBezTo>
                    <a:pt x="3019806" y="0"/>
                    <a:pt x="3130550" y="110744"/>
                    <a:pt x="3130550" y="247269"/>
                  </a:cubicBezTo>
                  <a:lnTo>
                    <a:pt x="3130550" y="1236091"/>
                  </a:lnTo>
                  <a:cubicBezTo>
                    <a:pt x="3130550" y="1372616"/>
                    <a:pt x="3019806" y="1483360"/>
                    <a:pt x="2883281" y="1483360"/>
                  </a:cubicBezTo>
                  <a:lnTo>
                    <a:pt x="247269" y="1483360"/>
                  </a:lnTo>
                  <a:cubicBezTo>
                    <a:pt x="110744" y="1483233"/>
                    <a:pt x="0" y="1372616"/>
                    <a:pt x="0" y="1236091"/>
                  </a:cubicBezTo>
                  <a:close/>
                </a:path>
              </a:pathLst>
            </a:custGeom>
            <a:solidFill>
              <a:srgbClr val="1E222D"/>
            </a:solidFill>
            <a:ln w="14299" cap="sq">
              <a:solidFill>
                <a:srgbClr val="F47070"/>
              </a:solidFill>
              <a:prstDash val="solid"/>
              <a:miter/>
            </a:ln>
          </p:spPr>
          <p:txBody>
            <a:bodyPr/>
            <a:lstStyle/>
            <a:p>
              <a:endParaRPr lang="en-IN"/>
            </a:p>
          </p:txBody>
        </p:sp>
      </p:grpSp>
      <p:grpSp>
        <p:nvGrpSpPr>
          <p:cNvPr id="25" name="Group 25"/>
          <p:cNvGrpSpPr/>
          <p:nvPr/>
        </p:nvGrpSpPr>
        <p:grpSpPr>
          <a:xfrm>
            <a:off x="11365725" y="3088510"/>
            <a:ext cx="2113912" cy="960872"/>
            <a:chOff x="0" y="0"/>
            <a:chExt cx="2818549" cy="1281163"/>
          </a:xfrm>
        </p:grpSpPr>
        <p:sp>
          <p:nvSpPr>
            <p:cNvPr id="26" name="Freeform 26"/>
            <p:cNvSpPr/>
            <p:nvPr/>
          </p:nvSpPr>
          <p:spPr>
            <a:xfrm>
              <a:off x="0" y="0"/>
              <a:ext cx="2818554" cy="1281161"/>
            </a:xfrm>
            <a:custGeom>
              <a:avLst/>
              <a:gdLst/>
              <a:ahLst/>
              <a:cxnLst/>
              <a:rect l="l" t="t" r="r" b="b"/>
              <a:pathLst>
                <a:path w="2818554" h="1281161">
                  <a:moveTo>
                    <a:pt x="0" y="0"/>
                  </a:moveTo>
                  <a:lnTo>
                    <a:pt x="2818554" y="0"/>
                  </a:lnTo>
                  <a:lnTo>
                    <a:pt x="2818554" y="1281161"/>
                  </a:lnTo>
                  <a:lnTo>
                    <a:pt x="0" y="1281161"/>
                  </a:lnTo>
                  <a:close/>
                </a:path>
              </a:pathLst>
            </a:custGeom>
            <a:blipFill>
              <a:blip r:embed="rId2">
                <a:alphaModFix amt="0"/>
              </a:blip>
              <a:stretch>
                <a:fillRect l="-8320" r="-8319"/>
              </a:stretch>
            </a:blipFill>
          </p:spPr>
          <p:txBody>
            <a:bodyPr/>
            <a:lstStyle/>
            <a:p>
              <a:endParaRPr lang="en-IN"/>
            </a:p>
          </p:txBody>
        </p:sp>
        <p:sp>
          <p:nvSpPr>
            <p:cNvPr id="27" name="TextBox 27"/>
            <p:cNvSpPr txBox="1"/>
            <p:nvPr/>
          </p:nvSpPr>
          <p:spPr>
            <a:xfrm>
              <a:off x="0" y="0"/>
              <a:ext cx="2818549" cy="1281163"/>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Check State</a:t>
              </a:r>
            </a:p>
          </p:txBody>
        </p:sp>
      </p:grpSp>
      <p:grpSp>
        <p:nvGrpSpPr>
          <p:cNvPr id="28" name="Group 28"/>
          <p:cNvGrpSpPr/>
          <p:nvPr/>
        </p:nvGrpSpPr>
        <p:grpSpPr>
          <a:xfrm>
            <a:off x="13994111" y="3012729"/>
            <a:ext cx="1936042" cy="1112434"/>
            <a:chOff x="0" y="0"/>
            <a:chExt cx="2581389" cy="1483246"/>
          </a:xfrm>
        </p:grpSpPr>
        <p:sp>
          <p:nvSpPr>
            <p:cNvPr id="29" name="Freeform 29"/>
            <p:cNvSpPr/>
            <p:nvPr/>
          </p:nvSpPr>
          <p:spPr>
            <a:xfrm>
              <a:off x="0" y="0"/>
              <a:ext cx="2581402" cy="1483360"/>
            </a:xfrm>
            <a:custGeom>
              <a:avLst/>
              <a:gdLst/>
              <a:ahLst/>
              <a:cxnLst/>
              <a:rect l="l" t="t" r="r" b="b"/>
              <a:pathLst>
                <a:path w="2581402" h="1483360">
                  <a:moveTo>
                    <a:pt x="0" y="247269"/>
                  </a:moveTo>
                  <a:cubicBezTo>
                    <a:pt x="0" y="110744"/>
                    <a:pt x="110744" y="0"/>
                    <a:pt x="247269" y="0"/>
                  </a:cubicBezTo>
                  <a:lnTo>
                    <a:pt x="2334133" y="0"/>
                  </a:lnTo>
                  <a:cubicBezTo>
                    <a:pt x="2470658" y="0"/>
                    <a:pt x="2581402" y="110744"/>
                    <a:pt x="2581402" y="247269"/>
                  </a:cubicBezTo>
                  <a:lnTo>
                    <a:pt x="2581402" y="1236091"/>
                  </a:lnTo>
                  <a:cubicBezTo>
                    <a:pt x="2581402" y="1372616"/>
                    <a:pt x="2470658" y="1483360"/>
                    <a:pt x="2334133" y="1483360"/>
                  </a:cubicBezTo>
                  <a:lnTo>
                    <a:pt x="247269" y="1483360"/>
                  </a:lnTo>
                  <a:cubicBezTo>
                    <a:pt x="110744" y="1483233"/>
                    <a:pt x="0" y="1372616"/>
                    <a:pt x="0" y="1236091"/>
                  </a:cubicBezTo>
                  <a:close/>
                </a:path>
              </a:pathLst>
            </a:custGeom>
            <a:solidFill>
              <a:srgbClr val="1E222D"/>
            </a:solidFill>
            <a:ln w="14299" cap="sq">
              <a:solidFill>
                <a:srgbClr val="5CAEFF"/>
              </a:solidFill>
              <a:prstDash val="solid"/>
              <a:miter/>
            </a:ln>
          </p:spPr>
          <p:txBody>
            <a:bodyPr/>
            <a:lstStyle/>
            <a:p>
              <a:endParaRPr lang="en-IN"/>
            </a:p>
          </p:txBody>
        </p:sp>
      </p:grpSp>
      <p:grpSp>
        <p:nvGrpSpPr>
          <p:cNvPr id="30" name="Group 30"/>
          <p:cNvGrpSpPr/>
          <p:nvPr/>
        </p:nvGrpSpPr>
        <p:grpSpPr>
          <a:xfrm>
            <a:off x="14111068" y="3088510"/>
            <a:ext cx="1702117" cy="960872"/>
            <a:chOff x="0" y="0"/>
            <a:chExt cx="2269490" cy="1281163"/>
          </a:xfrm>
        </p:grpSpPr>
        <p:sp>
          <p:nvSpPr>
            <p:cNvPr id="31" name="Freeform 31"/>
            <p:cNvSpPr/>
            <p:nvPr/>
          </p:nvSpPr>
          <p:spPr>
            <a:xfrm>
              <a:off x="0" y="0"/>
              <a:ext cx="2269485" cy="1281161"/>
            </a:xfrm>
            <a:custGeom>
              <a:avLst/>
              <a:gdLst/>
              <a:ahLst/>
              <a:cxnLst/>
              <a:rect l="l" t="t" r="r" b="b"/>
              <a:pathLst>
                <a:path w="2269485" h="1281161">
                  <a:moveTo>
                    <a:pt x="0" y="0"/>
                  </a:moveTo>
                  <a:lnTo>
                    <a:pt x="2269485" y="0"/>
                  </a:lnTo>
                  <a:lnTo>
                    <a:pt x="2269485" y="1281161"/>
                  </a:lnTo>
                  <a:lnTo>
                    <a:pt x="0" y="1281161"/>
                  </a:lnTo>
                  <a:close/>
                </a:path>
              </a:pathLst>
            </a:custGeom>
            <a:blipFill>
              <a:blip r:embed="rId2">
                <a:alphaModFix amt="0"/>
              </a:blip>
              <a:stretch>
                <a:fillRect l="-22429" r="-22429"/>
              </a:stretch>
            </a:blipFill>
          </p:spPr>
          <p:txBody>
            <a:bodyPr/>
            <a:lstStyle/>
            <a:p>
              <a:endParaRPr lang="en-IN"/>
            </a:p>
          </p:txBody>
        </p:sp>
        <p:sp>
          <p:nvSpPr>
            <p:cNvPr id="32" name="TextBox 32"/>
            <p:cNvSpPr txBox="1"/>
            <p:nvPr/>
          </p:nvSpPr>
          <p:spPr>
            <a:xfrm>
              <a:off x="0" y="0"/>
              <a:ext cx="2269490" cy="1281163"/>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Flow</a:t>
              </a:r>
            </a:p>
          </p:txBody>
        </p:sp>
      </p:grpSp>
      <p:grpSp>
        <p:nvGrpSpPr>
          <p:cNvPr id="33" name="Group 33"/>
          <p:cNvGrpSpPr/>
          <p:nvPr/>
        </p:nvGrpSpPr>
        <p:grpSpPr>
          <a:xfrm>
            <a:off x="16396287" y="3012729"/>
            <a:ext cx="1386973" cy="1112434"/>
            <a:chOff x="0" y="0"/>
            <a:chExt cx="1849298" cy="1483246"/>
          </a:xfrm>
        </p:grpSpPr>
        <p:sp>
          <p:nvSpPr>
            <p:cNvPr id="34" name="Freeform 34"/>
            <p:cNvSpPr/>
            <p:nvPr/>
          </p:nvSpPr>
          <p:spPr>
            <a:xfrm>
              <a:off x="0" y="0"/>
              <a:ext cx="1849374" cy="1483360"/>
            </a:xfrm>
            <a:custGeom>
              <a:avLst/>
              <a:gdLst/>
              <a:ahLst/>
              <a:cxnLst/>
              <a:rect l="l" t="t" r="r" b="b"/>
              <a:pathLst>
                <a:path w="1849374" h="1483360">
                  <a:moveTo>
                    <a:pt x="0" y="247269"/>
                  </a:moveTo>
                  <a:cubicBezTo>
                    <a:pt x="0" y="110744"/>
                    <a:pt x="110744" y="0"/>
                    <a:pt x="247269" y="0"/>
                  </a:cubicBezTo>
                  <a:lnTo>
                    <a:pt x="1602105" y="0"/>
                  </a:lnTo>
                  <a:cubicBezTo>
                    <a:pt x="1738630" y="0"/>
                    <a:pt x="1849374" y="110744"/>
                    <a:pt x="1849374" y="247269"/>
                  </a:cubicBezTo>
                  <a:lnTo>
                    <a:pt x="1849374" y="1236091"/>
                  </a:lnTo>
                  <a:cubicBezTo>
                    <a:pt x="1849374" y="1372616"/>
                    <a:pt x="1738630" y="1483360"/>
                    <a:pt x="1602105" y="1483360"/>
                  </a:cubicBezTo>
                  <a:lnTo>
                    <a:pt x="247269" y="1483360"/>
                  </a:lnTo>
                  <a:cubicBezTo>
                    <a:pt x="110744" y="1483233"/>
                    <a:pt x="0" y="1372616"/>
                    <a:pt x="0" y="1236091"/>
                  </a:cubicBezTo>
                  <a:close/>
                </a:path>
              </a:pathLst>
            </a:custGeom>
            <a:solidFill>
              <a:srgbClr val="1E222D"/>
            </a:solidFill>
            <a:ln w="14299" cap="sq">
              <a:solidFill>
                <a:srgbClr val="66CD96"/>
              </a:solidFill>
              <a:prstDash val="solid"/>
              <a:miter/>
            </a:ln>
          </p:spPr>
          <p:txBody>
            <a:bodyPr/>
            <a:lstStyle/>
            <a:p>
              <a:endParaRPr lang="en-IN"/>
            </a:p>
          </p:txBody>
        </p:sp>
      </p:grpSp>
      <p:grpSp>
        <p:nvGrpSpPr>
          <p:cNvPr id="35" name="Group 35"/>
          <p:cNvGrpSpPr/>
          <p:nvPr/>
        </p:nvGrpSpPr>
        <p:grpSpPr>
          <a:xfrm>
            <a:off x="16513245" y="3088510"/>
            <a:ext cx="1153049" cy="960872"/>
            <a:chOff x="0" y="0"/>
            <a:chExt cx="1537398" cy="1281163"/>
          </a:xfrm>
        </p:grpSpPr>
        <p:sp>
          <p:nvSpPr>
            <p:cNvPr id="36" name="Freeform 36"/>
            <p:cNvSpPr/>
            <p:nvPr/>
          </p:nvSpPr>
          <p:spPr>
            <a:xfrm>
              <a:off x="0" y="0"/>
              <a:ext cx="1537393" cy="1281161"/>
            </a:xfrm>
            <a:custGeom>
              <a:avLst/>
              <a:gdLst/>
              <a:ahLst/>
              <a:cxnLst/>
              <a:rect l="l" t="t" r="r" b="b"/>
              <a:pathLst>
                <a:path w="1537393" h="1281161">
                  <a:moveTo>
                    <a:pt x="0" y="0"/>
                  </a:moveTo>
                  <a:lnTo>
                    <a:pt x="1537393" y="0"/>
                  </a:lnTo>
                  <a:lnTo>
                    <a:pt x="1537393" y="1281161"/>
                  </a:lnTo>
                  <a:lnTo>
                    <a:pt x="0" y="1281161"/>
                  </a:lnTo>
                  <a:close/>
                </a:path>
              </a:pathLst>
            </a:custGeom>
            <a:blipFill>
              <a:blip r:embed="rId2">
                <a:alphaModFix amt="0"/>
              </a:blip>
              <a:stretch>
                <a:fillRect l="-56919" r="-56920"/>
              </a:stretch>
            </a:blipFill>
          </p:spPr>
          <p:txBody>
            <a:bodyPr/>
            <a:lstStyle/>
            <a:p>
              <a:endParaRPr lang="en-IN"/>
            </a:p>
          </p:txBody>
        </p:sp>
        <p:sp>
          <p:nvSpPr>
            <p:cNvPr id="37" name="TextBox 37"/>
            <p:cNvSpPr txBox="1"/>
            <p:nvPr/>
          </p:nvSpPr>
          <p:spPr>
            <a:xfrm>
              <a:off x="0" y="0"/>
              <a:ext cx="1537398" cy="1281163"/>
            </a:xfrm>
            <a:prstGeom prst="rect">
              <a:avLst/>
            </a:prstGeom>
          </p:spPr>
          <p:txBody>
            <a:bodyPr lIns="0" tIns="0" rIns="0" bIns="0" rtlCol="0" anchor="ctr"/>
            <a:lstStyle/>
            <a:p>
              <a:pPr algn="ctr">
                <a:lnSpc>
                  <a:spcPts val="2341"/>
                </a:lnSpc>
              </a:pPr>
              <a:r>
                <a:rPr lang="en-US" sz="1951" b="1">
                  <a:solidFill>
                    <a:srgbClr val="EEF1F7"/>
                  </a:solidFill>
                  <a:latin typeface="Aptos Bold"/>
                  <a:ea typeface="Aptos Bold"/>
                  <a:cs typeface="Aptos Bold"/>
                  <a:sym typeface="Aptos Bold"/>
                </a:rPr>
                <a:t>Results</a:t>
              </a:r>
            </a:p>
          </p:txBody>
        </p:sp>
      </p:grpSp>
      <p:sp>
        <p:nvSpPr>
          <p:cNvPr id="38" name="AutoShape 38"/>
          <p:cNvSpPr/>
          <p:nvPr/>
        </p:nvSpPr>
        <p:spPr>
          <a:xfrm rot="290640">
            <a:off x="2794102" y="3559426"/>
            <a:ext cx="451542" cy="0"/>
          </a:xfrm>
          <a:prstGeom prst="line">
            <a:avLst/>
          </a:prstGeom>
          <a:ln w="19050" cap="rnd">
            <a:solidFill>
              <a:srgbClr val="5CAEFF"/>
            </a:solidFill>
            <a:prstDash val="solid"/>
            <a:headEnd type="none" w="sm" len="sm"/>
            <a:tailEnd type="none" w="sm" len="sm"/>
          </a:ln>
        </p:spPr>
        <p:txBody>
          <a:bodyPr/>
          <a:lstStyle/>
          <a:p>
            <a:endParaRPr/>
          </a:p>
        </p:txBody>
      </p:sp>
      <p:sp>
        <p:nvSpPr>
          <p:cNvPr id="39" name="AutoShape 39"/>
          <p:cNvSpPr/>
          <p:nvPr/>
        </p:nvSpPr>
        <p:spPr>
          <a:xfrm rot="290640">
            <a:off x="5539454" y="3559426"/>
            <a:ext cx="451542" cy="0"/>
          </a:xfrm>
          <a:prstGeom prst="line">
            <a:avLst/>
          </a:prstGeom>
          <a:ln w="19050" cap="rnd">
            <a:solidFill>
              <a:srgbClr val="B189FF"/>
            </a:solidFill>
            <a:prstDash val="solid"/>
            <a:headEnd type="none" w="sm" len="sm"/>
            <a:tailEnd type="none" w="sm" len="sm"/>
          </a:ln>
        </p:spPr>
        <p:txBody>
          <a:bodyPr/>
          <a:lstStyle/>
          <a:p>
            <a:endParaRPr/>
          </a:p>
        </p:txBody>
      </p:sp>
      <p:sp>
        <p:nvSpPr>
          <p:cNvPr id="40" name="AutoShape 40"/>
          <p:cNvSpPr/>
          <p:nvPr/>
        </p:nvSpPr>
        <p:spPr>
          <a:xfrm rot="252300">
            <a:off x="8010373" y="3559426"/>
            <a:ext cx="519970" cy="0"/>
          </a:xfrm>
          <a:prstGeom prst="line">
            <a:avLst/>
          </a:prstGeom>
          <a:ln w="19050" cap="rnd">
            <a:solidFill>
              <a:srgbClr val="66CD96"/>
            </a:solidFill>
            <a:prstDash val="solid"/>
            <a:headEnd type="none" w="sm" len="sm"/>
            <a:tailEnd type="none" w="sm" len="sm"/>
          </a:ln>
        </p:spPr>
        <p:txBody>
          <a:bodyPr/>
          <a:lstStyle/>
          <a:p>
            <a:endParaRPr/>
          </a:p>
        </p:txBody>
      </p:sp>
      <p:sp>
        <p:nvSpPr>
          <p:cNvPr id="41" name="AutoShape 41"/>
          <p:cNvSpPr/>
          <p:nvPr/>
        </p:nvSpPr>
        <p:spPr>
          <a:xfrm rot="290640">
            <a:off x="10824239" y="3559426"/>
            <a:ext cx="451542" cy="0"/>
          </a:xfrm>
          <a:prstGeom prst="line">
            <a:avLst/>
          </a:prstGeom>
          <a:ln w="19050" cap="rnd">
            <a:solidFill>
              <a:srgbClr val="FFB15C"/>
            </a:solidFill>
            <a:prstDash val="solid"/>
            <a:headEnd type="none" w="sm" len="sm"/>
            <a:tailEnd type="none" w="sm" len="sm"/>
          </a:ln>
        </p:spPr>
        <p:txBody>
          <a:bodyPr/>
          <a:lstStyle/>
          <a:p>
            <a:endParaRPr/>
          </a:p>
        </p:txBody>
      </p:sp>
      <p:sp>
        <p:nvSpPr>
          <p:cNvPr id="42" name="AutoShape 42"/>
          <p:cNvSpPr/>
          <p:nvPr/>
        </p:nvSpPr>
        <p:spPr>
          <a:xfrm rot="290640">
            <a:off x="13569582" y="3559426"/>
            <a:ext cx="451542" cy="0"/>
          </a:xfrm>
          <a:prstGeom prst="line">
            <a:avLst/>
          </a:prstGeom>
          <a:ln w="19050" cap="rnd">
            <a:solidFill>
              <a:srgbClr val="F47070"/>
            </a:solidFill>
            <a:prstDash val="solid"/>
            <a:headEnd type="none" w="sm" len="sm"/>
            <a:tailEnd type="none" w="sm" len="sm"/>
          </a:ln>
        </p:spPr>
        <p:txBody>
          <a:bodyPr/>
          <a:lstStyle/>
          <a:p>
            <a:endParaRPr/>
          </a:p>
        </p:txBody>
      </p:sp>
      <p:sp>
        <p:nvSpPr>
          <p:cNvPr id="43" name="AutoShape 43"/>
          <p:cNvSpPr/>
          <p:nvPr/>
        </p:nvSpPr>
        <p:spPr>
          <a:xfrm>
            <a:off x="15930153" y="3549886"/>
            <a:ext cx="492349" cy="38131"/>
          </a:xfrm>
          <a:prstGeom prst="line">
            <a:avLst/>
          </a:prstGeom>
          <a:ln w="19050" cap="rnd">
            <a:solidFill>
              <a:srgbClr val="5CAEFF"/>
            </a:solidFill>
            <a:prstDash val="solid"/>
            <a:headEnd type="none" w="sm" len="sm"/>
            <a:tailEnd type="none" w="sm" len="sm"/>
          </a:ln>
        </p:spPr>
        <p:txBody>
          <a:bodyPr/>
          <a:lstStyle/>
          <a:p>
            <a:endParaRPr/>
          </a:p>
        </p:txBody>
      </p:sp>
      <p:grpSp>
        <p:nvGrpSpPr>
          <p:cNvPr id="44" name="Group 44"/>
          <p:cNvGrpSpPr/>
          <p:nvPr/>
        </p:nvGrpSpPr>
        <p:grpSpPr>
          <a:xfrm>
            <a:off x="1365523" y="5003102"/>
            <a:ext cx="15525493" cy="2210572"/>
            <a:chOff x="0" y="0"/>
            <a:chExt cx="20700657" cy="2947429"/>
          </a:xfrm>
        </p:grpSpPr>
        <p:sp>
          <p:nvSpPr>
            <p:cNvPr id="45" name="Freeform 45"/>
            <p:cNvSpPr/>
            <p:nvPr/>
          </p:nvSpPr>
          <p:spPr>
            <a:xfrm>
              <a:off x="0" y="0"/>
              <a:ext cx="20700620" cy="2947416"/>
            </a:xfrm>
            <a:custGeom>
              <a:avLst/>
              <a:gdLst/>
              <a:ahLst/>
              <a:cxnLst/>
              <a:rect l="l" t="t" r="r" b="b"/>
              <a:pathLst>
                <a:path w="20700620" h="2947416">
                  <a:moveTo>
                    <a:pt x="0" y="491236"/>
                  </a:moveTo>
                  <a:cubicBezTo>
                    <a:pt x="0" y="219964"/>
                    <a:pt x="219964" y="0"/>
                    <a:pt x="491236" y="0"/>
                  </a:cubicBezTo>
                  <a:lnTo>
                    <a:pt x="20209383" y="0"/>
                  </a:lnTo>
                  <a:cubicBezTo>
                    <a:pt x="20480655" y="0"/>
                    <a:pt x="20700620" y="219964"/>
                    <a:pt x="20700620" y="491236"/>
                  </a:cubicBezTo>
                  <a:lnTo>
                    <a:pt x="20700620" y="2456180"/>
                  </a:lnTo>
                  <a:cubicBezTo>
                    <a:pt x="20700620" y="2727452"/>
                    <a:pt x="20480655" y="2947416"/>
                    <a:pt x="20209383" y="2947416"/>
                  </a:cubicBezTo>
                  <a:lnTo>
                    <a:pt x="491236" y="2947416"/>
                  </a:lnTo>
                  <a:cubicBezTo>
                    <a:pt x="219964" y="2947416"/>
                    <a:pt x="0" y="2727452"/>
                    <a:pt x="0" y="2456180"/>
                  </a:cubicBezTo>
                  <a:close/>
                </a:path>
              </a:pathLst>
            </a:custGeom>
            <a:solidFill>
              <a:srgbClr val="1E222D"/>
            </a:solidFill>
            <a:ln w="14299" cap="sq">
              <a:solidFill>
                <a:srgbClr val="272C3A"/>
              </a:solidFill>
              <a:prstDash val="solid"/>
              <a:miter/>
            </a:ln>
          </p:spPr>
          <p:txBody>
            <a:bodyPr/>
            <a:lstStyle/>
            <a:p>
              <a:endParaRPr lang="en-IN" dirty="0"/>
            </a:p>
          </p:txBody>
        </p:sp>
      </p:grpSp>
      <p:sp>
        <p:nvSpPr>
          <p:cNvPr id="46" name="TextBox 46"/>
          <p:cNvSpPr txBox="1"/>
          <p:nvPr/>
        </p:nvSpPr>
        <p:spPr>
          <a:xfrm>
            <a:off x="1766097" y="5261877"/>
            <a:ext cx="14724345" cy="457629"/>
          </a:xfrm>
          <a:prstGeom prst="rect">
            <a:avLst/>
          </a:prstGeom>
        </p:spPr>
        <p:txBody>
          <a:bodyPr lIns="0" tIns="0" rIns="0" bIns="0" rtlCol="0" anchor="t">
            <a:spAutoFit/>
          </a:bodyPr>
          <a:lstStyle/>
          <a:p>
            <a:pPr algn="l">
              <a:lnSpc>
                <a:spcPts val="2702"/>
              </a:lnSpc>
            </a:pPr>
            <a:r>
              <a:rPr lang="en-US" sz="2251" b="1">
                <a:solidFill>
                  <a:srgbClr val="5CAEFF"/>
                </a:solidFill>
                <a:latin typeface="Aptos Bold"/>
                <a:ea typeface="Aptos Bold"/>
                <a:cs typeface="Aptos Bold"/>
                <a:sym typeface="Aptos Bold"/>
              </a:rPr>
              <a:t>Core architectural idea</a:t>
            </a:r>
          </a:p>
        </p:txBody>
      </p:sp>
      <p:sp>
        <p:nvSpPr>
          <p:cNvPr id="47" name="TextBox 47"/>
          <p:cNvSpPr txBox="1"/>
          <p:nvPr/>
        </p:nvSpPr>
        <p:spPr>
          <a:xfrm>
            <a:off x="1766097" y="5948210"/>
            <a:ext cx="14724345" cy="571500"/>
          </a:xfrm>
          <a:prstGeom prst="rect">
            <a:avLst/>
          </a:prstGeom>
        </p:spPr>
        <p:txBody>
          <a:bodyPr lIns="0" tIns="0" rIns="0" bIns="0" rtlCol="0" anchor="t">
            <a:spAutoFit/>
          </a:bodyPr>
          <a:lstStyle/>
          <a:p>
            <a:pPr algn="l">
              <a:lnSpc>
                <a:spcPts val="2251"/>
              </a:lnSpc>
            </a:pPr>
            <a:r>
              <a:rPr dirty="0">
                <a:solidFill>
                  <a:schemeClr val="bg1"/>
                </a:solidFill>
              </a:rPr>
              <a:t>Input is translated into intent. The logical model decides whether the move is valid. History records the transition and the hint service tracks the move. The view animates the result. Flow controls the lifecycle and results.</a:t>
            </a:r>
          </a:p>
        </p:txBody>
      </p:sp>
      <p:grpSp>
        <p:nvGrpSpPr>
          <p:cNvPr id="48" name="Group 48"/>
          <p:cNvGrpSpPr/>
          <p:nvPr/>
        </p:nvGrpSpPr>
        <p:grpSpPr>
          <a:xfrm>
            <a:off x="1365523" y="7611180"/>
            <a:ext cx="15525493" cy="2103393"/>
            <a:chOff x="0" y="0"/>
            <a:chExt cx="20700657" cy="2804524"/>
          </a:xfrm>
        </p:grpSpPr>
        <p:sp>
          <p:nvSpPr>
            <p:cNvPr id="49" name="Freeform 49"/>
            <p:cNvSpPr/>
            <p:nvPr/>
          </p:nvSpPr>
          <p:spPr>
            <a:xfrm>
              <a:off x="0" y="0"/>
              <a:ext cx="20700746" cy="2804638"/>
            </a:xfrm>
            <a:custGeom>
              <a:avLst/>
              <a:gdLst/>
              <a:ahLst/>
              <a:cxnLst/>
              <a:rect l="l" t="t" r="r" b="b"/>
              <a:pathLst>
                <a:path w="20700746" h="2804638">
                  <a:moveTo>
                    <a:pt x="0" y="467537"/>
                  </a:moveTo>
                  <a:cubicBezTo>
                    <a:pt x="0" y="209395"/>
                    <a:pt x="110744" y="0"/>
                    <a:pt x="247269" y="0"/>
                  </a:cubicBezTo>
                  <a:lnTo>
                    <a:pt x="20453477" y="0"/>
                  </a:lnTo>
                  <a:cubicBezTo>
                    <a:pt x="20590002" y="0"/>
                    <a:pt x="20700746" y="209395"/>
                    <a:pt x="20700746" y="467537"/>
                  </a:cubicBezTo>
                  <a:lnTo>
                    <a:pt x="20700746" y="2337203"/>
                  </a:lnTo>
                  <a:cubicBezTo>
                    <a:pt x="20700746" y="2595345"/>
                    <a:pt x="20590002" y="2804638"/>
                    <a:pt x="20453477" y="2804638"/>
                  </a:cubicBezTo>
                  <a:lnTo>
                    <a:pt x="247269" y="2804638"/>
                  </a:lnTo>
                  <a:cubicBezTo>
                    <a:pt x="110744" y="2804500"/>
                    <a:pt x="0" y="2595345"/>
                    <a:pt x="0" y="2337203"/>
                  </a:cubicBezTo>
                  <a:close/>
                </a:path>
              </a:pathLst>
            </a:custGeom>
            <a:solidFill>
              <a:srgbClr val="1E222D"/>
            </a:solidFill>
            <a:ln w="14299" cap="sq">
              <a:solidFill>
                <a:srgbClr val="272C3A"/>
              </a:solidFill>
              <a:prstDash val="solid"/>
              <a:miter/>
            </a:ln>
          </p:spPr>
          <p:txBody>
            <a:bodyPr/>
            <a:lstStyle/>
            <a:p>
              <a:endParaRPr lang="en-IN"/>
            </a:p>
          </p:txBody>
        </p:sp>
      </p:grpSp>
      <p:sp>
        <p:nvSpPr>
          <p:cNvPr id="50" name="TextBox 50"/>
          <p:cNvSpPr txBox="1"/>
          <p:nvPr/>
        </p:nvSpPr>
        <p:spPr>
          <a:xfrm>
            <a:off x="1766097" y="7869955"/>
            <a:ext cx="14724345" cy="342900"/>
          </a:xfrm>
          <a:prstGeom prst="rect">
            <a:avLst/>
          </a:prstGeom>
        </p:spPr>
        <p:txBody>
          <a:bodyPr lIns="0" tIns="0" rIns="0" bIns="0" rtlCol="0" anchor="t">
            <a:spAutoFit/>
          </a:bodyPr>
          <a:lstStyle/>
          <a:p>
            <a:pPr algn="l">
              <a:lnSpc>
                <a:spcPts val="2702"/>
              </a:lnSpc>
            </a:pPr>
            <a:r>
              <a:rPr lang="en-US" sz="2251" b="1">
                <a:solidFill>
                  <a:srgbClr val="66CD96"/>
                </a:solidFill>
                <a:latin typeface="Aptos Bold"/>
                <a:ea typeface="Aptos Bold"/>
                <a:cs typeface="Aptos Bold"/>
                <a:sym typeface="Aptos Bold"/>
              </a:rPr>
              <a:t>Documentation checklist</a:t>
            </a:r>
          </a:p>
        </p:txBody>
      </p:sp>
      <p:sp>
        <p:nvSpPr>
          <p:cNvPr id="51" name="TextBox 51"/>
          <p:cNvSpPr txBox="1"/>
          <p:nvPr/>
        </p:nvSpPr>
        <p:spPr>
          <a:xfrm>
            <a:off x="1761481" y="8441455"/>
            <a:ext cx="14893593" cy="664990"/>
          </a:xfrm>
          <a:prstGeom prst="rect">
            <a:avLst/>
          </a:prstGeom>
        </p:spPr>
        <p:txBody>
          <a:bodyPr lIns="0" tIns="0" rIns="0" bIns="0" rtlCol="0" anchor="t">
            <a:spAutoFit/>
          </a:bodyPr>
          <a:lstStyle/>
          <a:p>
            <a:pPr algn="l">
              <a:lnSpc>
                <a:spcPts val="2702"/>
              </a:lnSpc>
              <a:spcBef>
                <a:spcPct val="0"/>
              </a:spcBef>
            </a:pPr>
            <a:r>
              <a:rPr dirty="0">
                <a:solidFill>
                  <a:schemeClr val="bg1"/>
                </a:solidFill>
              </a:rPr>
              <a:t>✓ Architecture ✓ Data Flow ✓ Grid Logic ✓ Swipe Input ✓ Undo ✓ Level Generation ✓ Generated Solution Hint System ✓ Player Deviation Handling ✓ Game Flow ✓ Screen &amp; Popup Management ✓ Services &amp; Dependency Inversion ✓ Performance &amp; Trade-offs ✓ Code Evidence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2141B"/>
        </a:solidFill>
        <a:effectLst/>
      </p:bgPr>
    </p:bg>
    <p:spTree>
      <p:nvGrpSpPr>
        <p:cNvPr id="1" name=""/>
        <p:cNvGrpSpPr/>
        <p:nvPr/>
      </p:nvGrpSpPr>
      <p:grpSpPr>
        <a:xfrm>
          <a:off x="0" y="0"/>
          <a:ext cx="0" cy="0"/>
          <a:chOff x="0" y="0"/>
          <a:chExt cx="0" cy="0"/>
        </a:xfrm>
      </p:grpSpPr>
      <p:grpSp>
        <p:nvGrpSpPr>
          <p:cNvPr id="2" name="Group 2"/>
          <p:cNvGrpSpPr/>
          <p:nvPr/>
        </p:nvGrpSpPr>
        <p:grpSpPr>
          <a:xfrm>
            <a:off x="1492720" y="7047728"/>
            <a:ext cx="15525493" cy="2210572"/>
            <a:chOff x="0" y="0"/>
            <a:chExt cx="20700657" cy="2947429"/>
          </a:xfrm>
        </p:grpSpPr>
        <p:sp>
          <p:nvSpPr>
            <p:cNvPr id="3" name="Freeform 3"/>
            <p:cNvSpPr/>
            <p:nvPr/>
          </p:nvSpPr>
          <p:spPr>
            <a:xfrm>
              <a:off x="0" y="0"/>
              <a:ext cx="20700620" cy="2947416"/>
            </a:xfrm>
            <a:custGeom>
              <a:avLst/>
              <a:gdLst/>
              <a:ahLst/>
              <a:cxnLst/>
              <a:rect l="l" t="t" r="r" b="b"/>
              <a:pathLst>
                <a:path w="20700620" h="2947416">
                  <a:moveTo>
                    <a:pt x="0" y="491236"/>
                  </a:moveTo>
                  <a:cubicBezTo>
                    <a:pt x="0" y="219964"/>
                    <a:pt x="219964" y="0"/>
                    <a:pt x="491236" y="0"/>
                  </a:cubicBezTo>
                  <a:lnTo>
                    <a:pt x="20209383" y="0"/>
                  </a:lnTo>
                  <a:cubicBezTo>
                    <a:pt x="20480655" y="0"/>
                    <a:pt x="20700620" y="219964"/>
                    <a:pt x="20700620" y="491236"/>
                  </a:cubicBezTo>
                  <a:lnTo>
                    <a:pt x="20700620" y="2456180"/>
                  </a:lnTo>
                  <a:cubicBezTo>
                    <a:pt x="20700620" y="2727452"/>
                    <a:pt x="20480655" y="2947416"/>
                    <a:pt x="20209383" y="2947416"/>
                  </a:cubicBezTo>
                  <a:lnTo>
                    <a:pt x="491236" y="2947416"/>
                  </a:lnTo>
                  <a:cubicBezTo>
                    <a:pt x="219964" y="2947416"/>
                    <a:pt x="0" y="2727452"/>
                    <a:pt x="0" y="2456180"/>
                  </a:cubicBezTo>
                  <a:close/>
                </a:path>
              </a:pathLst>
            </a:custGeom>
            <a:solidFill>
              <a:srgbClr val="1E222D"/>
            </a:solidFill>
            <a:ln w="14299" cap="sq">
              <a:solidFill>
                <a:srgbClr val="272C3A"/>
              </a:solidFill>
              <a:prstDash val="solid"/>
              <a:miter/>
            </a:ln>
          </p:spPr>
          <p:txBody>
            <a:bodyPr/>
            <a:lstStyle/>
            <a:p>
              <a:endParaRPr lang="en-IN"/>
            </a:p>
          </p:txBody>
        </p:sp>
      </p:grpSp>
      <p:sp>
        <p:nvSpPr>
          <p:cNvPr id="4" name="TextBox 4"/>
          <p:cNvSpPr txBox="1"/>
          <p:nvPr/>
        </p:nvSpPr>
        <p:spPr>
          <a:xfrm>
            <a:off x="1893294" y="7306504"/>
            <a:ext cx="14724345" cy="342900"/>
          </a:xfrm>
          <a:prstGeom prst="rect">
            <a:avLst/>
          </a:prstGeom>
        </p:spPr>
        <p:txBody>
          <a:bodyPr lIns="0" tIns="0" rIns="0" bIns="0" rtlCol="0" anchor="t">
            <a:spAutoFit/>
          </a:bodyPr>
          <a:lstStyle/>
          <a:p>
            <a:pPr algn="l">
              <a:lnSpc>
                <a:spcPts val="2702"/>
              </a:lnSpc>
            </a:pPr>
            <a:r>
              <a:rPr lang="en-US" sz="2251" b="1">
                <a:solidFill>
                  <a:srgbClr val="5CAEFF"/>
                </a:solidFill>
                <a:latin typeface="Aptos Bold"/>
                <a:ea typeface="Aptos Bold"/>
                <a:cs typeface="Aptos Bold"/>
                <a:sym typeface="Aptos Bold"/>
              </a:rPr>
              <a:t>Final Decision: Hire Me?</a:t>
            </a:r>
          </a:p>
        </p:txBody>
      </p:sp>
      <p:sp>
        <p:nvSpPr>
          <p:cNvPr id="5" name="TextBox 5"/>
          <p:cNvSpPr txBox="1"/>
          <p:nvPr/>
        </p:nvSpPr>
        <p:spPr>
          <a:xfrm>
            <a:off x="1893294" y="7814803"/>
            <a:ext cx="14972225" cy="1215479"/>
          </a:xfrm>
          <a:prstGeom prst="rect">
            <a:avLst/>
          </a:prstGeom>
        </p:spPr>
        <p:txBody>
          <a:bodyPr lIns="0" tIns="0" rIns="0" bIns="0" rtlCol="0" anchor="t">
            <a:spAutoFit/>
          </a:bodyPr>
          <a:lstStyle/>
          <a:p>
            <a:pPr algn="l">
              <a:lnSpc>
                <a:spcPts val="2394"/>
              </a:lnSpc>
            </a:pPr>
            <a:r>
              <a:rPr lang="en-US" sz="1995">
                <a:solidFill>
                  <a:srgbClr val="EEF1F7"/>
                </a:solidFill>
                <a:latin typeface="Aptos"/>
                <a:ea typeface="Aptos"/>
                <a:cs typeface="Aptos"/>
                <a:sym typeface="Aptos"/>
              </a:rPr>
              <a:t>Final Decision: Hire Me?</a:t>
            </a:r>
          </a:p>
          <a:p>
            <a:pPr algn="l">
              <a:lnSpc>
                <a:spcPts val="2394"/>
              </a:lnSpc>
            </a:pPr>
            <a:r>
              <a:rPr lang="en-US" sz="1995">
                <a:solidFill>
                  <a:srgbClr val="EEF1F7"/>
                </a:solidFill>
                <a:latin typeface="Aptos"/>
                <a:ea typeface="Aptos"/>
                <a:cs typeface="Aptos"/>
                <a:sym typeface="Aptos"/>
              </a:rPr>
              <a:t>Hire me? Absolutely. Second thoughts? Maybe. But if your second thought is “don’t hire me” — that’s the wrong second thought.</a:t>
            </a:r>
          </a:p>
          <a:p>
            <a:pPr algn="l">
              <a:lnSpc>
                <a:spcPts val="2394"/>
              </a:lnSpc>
            </a:pPr>
            <a:r>
              <a:rPr lang="en-US" sz="1995">
                <a:solidFill>
                  <a:srgbClr val="EEF1F7"/>
                </a:solidFill>
                <a:latin typeface="Aptos"/>
                <a:ea typeface="Aptos"/>
                <a:cs typeface="Aptos"/>
                <a:sym typeface="Aptos"/>
              </a:rPr>
              <a:t>-Just a joke 😄</a:t>
            </a:r>
          </a:p>
          <a:p>
            <a:pPr algn="l">
              <a:lnSpc>
                <a:spcPts val="2394"/>
              </a:lnSpc>
            </a:pPr>
            <a:endParaRPr lang="en-US" sz="1995">
              <a:solidFill>
                <a:srgbClr val="EEF1F7"/>
              </a:solidFill>
              <a:latin typeface="Aptos"/>
              <a:ea typeface="Aptos"/>
              <a:cs typeface="Aptos"/>
              <a:sym typeface="Aptos"/>
            </a:endParaRPr>
          </a:p>
        </p:txBody>
      </p:sp>
      <p:sp>
        <p:nvSpPr>
          <p:cNvPr id="6" name="TextBox 6"/>
          <p:cNvSpPr txBox="1"/>
          <p:nvPr/>
        </p:nvSpPr>
        <p:spPr>
          <a:xfrm>
            <a:off x="1492720" y="2831519"/>
            <a:ext cx="14893593" cy="2181225"/>
          </a:xfrm>
          <a:prstGeom prst="rect">
            <a:avLst/>
          </a:prstGeom>
        </p:spPr>
        <p:txBody>
          <a:bodyPr lIns="0" tIns="0" rIns="0" bIns="0" rtlCol="0" anchor="t">
            <a:spAutoFit/>
          </a:bodyPr>
          <a:lstStyle/>
          <a:p>
            <a:pPr algn="l">
              <a:lnSpc>
                <a:spcPts val="17280"/>
              </a:lnSpc>
              <a:spcBef>
                <a:spcPct val="0"/>
              </a:spcBef>
            </a:pPr>
            <a:r>
              <a:rPr lang="en-US" sz="14400" b="1">
                <a:solidFill>
                  <a:srgbClr val="FFFFFF"/>
                </a:solidFill>
                <a:latin typeface="Aptos Bold"/>
                <a:ea typeface="Aptos Bold"/>
                <a:cs typeface="Aptos Bold"/>
                <a:sym typeface="Apto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2270</Words>
  <Application>Microsoft Office PowerPoint</Application>
  <PresentationFormat>Custom</PresentationFormat>
  <Paragraphs>270</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Aptos Bold</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Puzzle_Game_Technical_Documentation_Canva_Ready.pptx</dc:title>
  <cp:lastModifiedBy>Aansh thakkar</cp:lastModifiedBy>
  <cp:revision>3</cp:revision>
  <dcterms:created xsi:type="dcterms:W3CDTF">2006-08-16T00:00:00Z</dcterms:created>
  <dcterms:modified xsi:type="dcterms:W3CDTF">2026-09-11T08:45:00Z</dcterms:modified>
  <dc:identifier>DAHUzjxMvHQ</dc:identifier>
</cp:coreProperties>
</file>